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2"/>
  </p:notesMasterIdLst>
  <p:sldIdLst>
    <p:sldId id="256" r:id="rId2"/>
    <p:sldId id="265" r:id="rId3"/>
    <p:sldId id="264" r:id="rId4"/>
    <p:sldId id="259" r:id="rId5"/>
    <p:sldId id="257" r:id="rId6"/>
    <p:sldId id="258" r:id="rId7"/>
    <p:sldId id="260" r:id="rId8"/>
    <p:sldId id="261" r:id="rId9"/>
    <p:sldId id="262" r:id="rId10"/>
    <p:sldId id="263"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3884"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156082"/>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0A952F2-E6A1-1D4B-88AB-DF96E31B608E}" v="60" dt="2025-09-01T17:04:41.626"/>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3009"/>
    <p:restoredTop sz="81518"/>
  </p:normalViewPr>
  <p:slideViewPr>
    <p:cSldViewPr snapToGrid="0" showGuides="1">
      <p:cViewPr>
        <p:scale>
          <a:sx n="120" d="100"/>
          <a:sy n="120" d="100"/>
        </p:scale>
        <p:origin x="1984" y="288"/>
      </p:cViewPr>
      <p:guideLst>
        <p:guide orient="horz" pos="3884"/>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17"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BDD39B0-D4FA-AA43-A5E8-0D95285D9F56}" type="datetimeFigureOut">
              <a:rPr lang="en-US" smtClean="0"/>
              <a:t>9/2/25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B9C24B2-007E-C147-8729-A85743A297E8}" type="slidenum">
              <a:rPr lang="en-US" smtClean="0"/>
              <a:t>‹#›</a:t>
            </a:fld>
            <a:endParaRPr lang="en-US"/>
          </a:p>
        </p:txBody>
      </p:sp>
    </p:spTree>
    <p:extLst>
      <p:ext uri="{BB962C8B-B14F-4D97-AF65-F5344CB8AC3E}">
        <p14:creationId xmlns:p14="http://schemas.microsoft.com/office/powerpoint/2010/main" val="364180447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435487-9F8E-CE81-D104-072BB325D7E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7CD28F4-2D46-9818-763B-98E84D632E8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6F5AB99-9C08-90BB-0705-AF3F03A888C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306CCBD-C2B8-D3D5-0EE8-E31B785D0D60}"/>
              </a:ext>
            </a:extLst>
          </p:cNvPr>
          <p:cNvSpPr>
            <a:spLocks noGrp="1"/>
          </p:cNvSpPr>
          <p:nvPr>
            <p:ph type="sldNum" sz="quarter" idx="5"/>
          </p:nvPr>
        </p:nvSpPr>
        <p:spPr/>
        <p:txBody>
          <a:bodyPr/>
          <a:lstStyle/>
          <a:p>
            <a:fld id="{BB9C24B2-007E-C147-8729-A85743A297E8}" type="slidenum">
              <a:rPr lang="en-US" smtClean="0"/>
              <a:t>4</a:t>
            </a:fld>
            <a:endParaRPr lang="en-US"/>
          </a:p>
        </p:txBody>
      </p:sp>
    </p:spTree>
    <p:extLst>
      <p:ext uri="{BB962C8B-B14F-4D97-AF65-F5344CB8AC3E}">
        <p14:creationId xmlns:p14="http://schemas.microsoft.com/office/powerpoint/2010/main" val="1611333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B9C24B2-007E-C147-8729-A85743A297E8}" type="slidenum">
              <a:rPr lang="en-US" smtClean="0"/>
              <a:t>5</a:t>
            </a:fld>
            <a:endParaRPr lang="en-US"/>
          </a:p>
        </p:txBody>
      </p:sp>
    </p:spTree>
    <p:extLst>
      <p:ext uri="{BB962C8B-B14F-4D97-AF65-F5344CB8AC3E}">
        <p14:creationId xmlns:p14="http://schemas.microsoft.com/office/powerpoint/2010/main" val="201805828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325A88-409E-7367-4826-25199FB958E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9D4EBA2-6BAD-5241-1883-2EFCED32D96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23EEFDD-3CDD-4370-01DB-F65B45E8AC5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C5F2D28-CD60-5D61-0D30-265C8A15E899}"/>
              </a:ext>
            </a:extLst>
          </p:cNvPr>
          <p:cNvSpPr>
            <a:spLocks noGrp="1"/>
          </p:cNvSpPr>
          <p:nvPr>
            <p:ph type="sldNum" sz="quarter" idx="5"/>
          </p:nvPr>
        </p:nvSpPr>
        <p:spPr/>
        <p:txBody>
          <a:bodyPr/>
          <a:lstStyle/>
          <a:p>
            <a:fld id="{BB9C24B2-007E-C147-8729-A85743A297E8}" type="slidenum">
              <a:rPr lang="en-US" smtClean="0"/>
              <a:t>6</a:t>
            </a:fld>
            <a:endParaRPr lang="en-US"/>
          </a:p>
        </p:txBody>
      </p:sp>
    </p:spTree>
    <p:extLst>
      <p:ext uri="{BB962C8B-B14F-4D97-AF65-F5344CB8AC3E}">
        <p14:creationId xmlns:p14="http://schemas.microsoft.com/office/powerpoint/2010/main" val="10171272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98328B-1F29-8D48-6B2E-517E1CF5D31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60BC2E3-C66C-7EE3-2234-2BE902F54DB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12CB1F2-3346-5B84-A667-5E136F25708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B3C078B-46FB-E233-34E4-3B15AB75C595}"/>
              </a:ext>
            </a:extLst>
          </p:cNvPr>
          <p:cNvSpPr>
            <a:spLocks noGrp="1"/>
          </p:cNvSpPr>
          <p:nvPr>
            <p:ph type="sldNum" sz="quarter" idx="5"/>
          </p:nvPr>
        </p:nvSpPr>
        <p:spPr/>
        <p:txBody>
          <a:bodyPr/>
          <a:lstStyle/>
          <a:p>
            <a:fld id="{BB9C24B2-007E-C147-8729-A85743A297E8}" type="slidenum">
              <a:rPr lang="en-US" smtClean="0"/>
              <a:t>7</a:t>
            </a:fld>
            <a:endParaRPr lang="en-US"/>
          </a:p>
        </p:txBody>
      </p:sp>
    </p:spTree>
    <p:extLst>
      <p:ext uri="{BB962C8B-B14F-4D97-AF65-F5344CB8AC3E}">
        <p14:creationId xmlns:p14="http://schemas.microsoft.com/office/powerpoint/2010/main" val="137398622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224D81-354D-99D4-EF88-7D168C746D6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1E80098-810E-6A7A-02BB-93156AB0A49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64371FC-0D0D-38B4-1786-E4F3138134D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018994B-6C33-D5CA-C9E3-9258CE6E8626}"/>
              </a:ext>
            </a:extLst>
          </p:cNvPr>
          <p:cNvSpPr>
            <a:spLocks noGrp="1"/>
          </p:cNvSpPr>
          <p:nvPr>
            <p:ph type="sldNum" sz="quarter" idx="5"/>
          </p:nvPr>
        </p:nvSpPr>
        <p:spPr/>
        <p:txBody>
          <a:bodyPr/>
          <a:lstStyle/>
          <a:p>
            <a:fld id="{BB9C24B2-007E-C147-8729-A85743A297E8}" type="slidenum">
              <a:rPr lang="en-US" smtClean="0"/>
              <a:t>8</a:t>
            </a:fld>
            <a:endParaRPr lang="en-US"/>
          </a:p>
        </p:txBody>
      </p:sp>
    </p:spTree>
    <p:extLst>
      <p:ext uri="{BB962C8B-B14F-4D97-AF65-F5344CB8AC3E}">
        <p14:creationId xmlns:p14="http://schemas.microsoft.com/office/powerpoint/2010/main" val="112664182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1A7401-6D1D-F0C1-77B9-8756BD11890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B871639-F6F7-A11D-7317-0031B5876C5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EB21E7F-3FD8-181D-8AB6-DD6D92681A8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0B4830F-7E99-4569-A743-544F1EE3AF21}"/>
              </a:ext>
            </a:extLst>
          </p:cNvPr>
          <p:cNvSpPr>
            <a:spLocks noGrp="1"/>
          </p:cNvSpPr>
          <p:nvPr>
            <p:ph type="sldNum" sz="quarter" idx="5"/>
          </p:nvPr>
        </p:nvSpPr>
        <p:spPr/>
        <p:txBody>
          <a:bodyPr/>
          <a:lstStyle/>
          <a:p>
            <a:fld id="{BB9C24B2-007E-C147-8729-A85743A297E8}" type="slidenum">
              <a:rPr lang="en-US" smtClean="0"/>
              <a:t>9</a:t>
            </a:fld>
            <a:endParaRPr lang="en-US"/>
          </a:p>
        </p:txBody>
      </p:sp>
    </p:spTree>
    <p:extLst>
      <p:ext uri="{BB962C8B-B14F-4D97-AF65-F5344CB8AC3E}">
        <p14:creationId xmlns:p14="http://schemas.microsoft.com/office/powerpoint/2010/main" val="351113422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3C9B47-B696-0713-B08E-2A5F510CBB5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8A1834F-B822-615A-D3A8-1D7D8090B1F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AD150F3-DE5C-AF5D-8802-062B91B03B6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25D3BF7-9379-0675-08B4-7B35BDDEEE5C}"/>
              </a:ext>
            </a:extLst>
          </p:cNvPr>
          <p:cNvSpPr>
            <a:spLocks noGrp="1"/>
          </p:cNvSpPr>
          <p:nvPr>
            <p:ph type="sldNum" sz="quarter" idx="5"/>
          </p:nvPr>
        </p:nvSpPr>
        <p:spPr/>
        <p:txBody>
          <a:bodyPr/>
          <a:lstStyle/>
          <a:p>
            <a:fld id="{BB9C24B2-007E-C147-8729-A85743A297E8}" type="slidenum">
              <a:rPr lang="en-US" smtClean="0"/>
              <a:t>10</a:t>
            </a:fld>
            <a:endParaRPr lang="en-US"/>
          </a:p>
        </p:txBody>
      </p:sp>
    </p:spTree>
    <p:extLst>
      <p:ext uri="{BB962C8B-B14F-4D97-AF65-F5344CB8AC3E}">
        <p14:creationId xmlns:p14="http://schemas.microsoft.com/office/powerpoint/2010/main" val="295029091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DAB8AE-234F-A8A7-37FA-C8C3EFC9FF12}"/>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a:extLst>
              <a:ext uri="{FF2B5EF4-FFF2-40B4-BE49-F238E27FC236}">
                <a16:creationId xmlns:a16="http://schemas.microsoft.com/office/drawing/2014/main" id="{DC723F5E-45DB-8971-42A9-65EC9D36670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id="{400610DF-F7B0-7EA4-48D3-E69E195C1DBF}"/>
              </a:ext>
            </a:extLst>
          </p:cNvPr>
          <p:cNvSpPr>
            <a:spLocks noGrp="1"/>
          </p:cNvSpPr>
          <p:nvPr>
            <p:ph type="dt" sz="half" idx="10"/>
          </p:nvPr>
        </p:nvSpPr>
        <p:spPr/>
        <p:txBody>
          <a:bodyPr/>
          <a:lstStyle/>
          <a:p>
            <a:fld id="{DBFD633D-F06C-544A-B147-E116D96C6134}" type="datetimeFigureOut">
              <a:rPr lang="en-US" smtClean="0"/>
              <a:t>9/2/25</a:t>
            </a:fld>
            <a:endParaRPr lang="en-US"/>
          </a:p>
        </p:txBody>
      </p:sp>
      <p:sp>
        <p:nvSpPr>
          <p:cNvPr id="5" name="Footer Placeholder 4">
            <a:extLst>
              <a:ext uri="{FF2B5EF4-FFF2-40B4-BE49-F238E27FC236}">
                <a16:creationId xmlns:a16="http://schemas.microsoft.com/office/drawing/2014/main" id="{FCE8E128-840A-71CB-CAB3-ED79C95E0DA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36B8A00-81E3-1F01-8D01-8FB31B324F52}"/>
              </a:ext>
            </a:extLst>
          </p:cNvPr>
          <p:cNvSpPr>
            <a:spLocks noGrp="1"/>
          </p:cNvSpPr>
          <p:nvPr>
            <p:ph type="sldNum" sz="quarter" idx="12"/>
          </p:nvPr>
        </p:nvSpPr>
        <p:spPr/>
        <p:txBody>
          <a:bodyPr/>
          <a:lstStyle/>
          <a:p>
            <a:fld id="{CFFFF9D9-C0BF-A443-8A2F-9854B0FDAFD7}" type="slidenum">
              <a:rPr lang="en-US" smtClean="0"/>
              <a:t>‹#›</a:t>
            </a:fld>
            <a:endParaRPr lang="en-US"/>
          </a:p>
        </p:txBody>
      </p:sp>
    </p:spTree>
    <p:extLst>
      <p:ext uri="{BB962C8B-B14F-4D97-AF65-F5344CB8AC3E}">
        <p14:creationId xmlns:p14="http://schemas.microsoft.com/office/powerpoint/2010/main" val="122755389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36989E-C6FF-31F9-2429-AA6EE37FCCCF}"/>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14898D3D-06A9-3100-0905-461F5B0D3D04}"/>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86737530-9F44-1075-D3D3-F744A858D432}"/>
              </a:ext>
            </a:extLst>
          </p:cNvPr>
          <p:cNvSpPr>
            <a:spLocks noGrp="1"/>
          </p:cNvSpPr>
          <p:nvPr>
            <p:ph type="dt" sz="half" idx="10"/>
          </p:nvPr>
        </p:nvSpPr>
        <p:spPr/>
        <p:txBody>
          <a:bodyPr/>
          <a:lstStyle/>
          <a:p>
            <a:fld id="{DBFD633D-F06C-544A-B147-E116D96C6134}" type="datetimeFigureOut">
              <a:rPr lang="en-US" smtClean="0"/>
              <a:t>9/2/25</a:t>
            </a:fld>
            <a:endParaRPr lang="en-US"/>
          </a:p>
        </p:txBody>
      </p:sp>
      <p:sp>
        <p:nvSpPr>
          <p:cNvPr id="5" name="Footer Placeholder 4">
            <a:extLst>
              <a:ext uri="{FF2B5EF4-FFF2-40B4-BE49-F238E27FC236}">
                <a16:creationId xmlns:a16="http://schemas.microsoft.com/office/drawing/2014/main" id="{46F5367B-E0CF-C3A3-08B8-880580C8427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B561E6A-E1AE-9C5F-A2EE-80A5450BB7DF}"/>
              </a:ext>
            </a:extLst>
          </p:cNvPr>
          <p:cNvSpPr>
            <a:spLocks noGrp="1"/>
          </p:cNvSpPr>
          <p:nvPr>
            <p:ph type="sldNum" sz="quarter" idx="12"/>
          </p:nvPr>
        </p:nvSpPr>
        <p:spPr/>
        <p:txBody>
          <a:bodyPr/>
          <a:lstStyle/>
          <a:p>
            <a:fld id="{CFFFF9D9-C0BF-A443-8A2F-9854B0FDAFD7}" type="slidenum">
              <a:rPr lang="en-US" smtClean="0"/>
              <a:t>‹#›</a:t>
            </a:fld>
            <a:endParaRPr lang="en-US"/>
          </a:p>
        </p:txBody>
      </p:sp>
    </p:spTree>
    <p:extLst>
      <p:ext uri="{BB962C8B-B14F-4D97-AF65-F5344CB8AC3E}">
        <p14:creationId xmlns:p14="http://schemas.microsoft.com/office/powerpoint/2010/main" val="232381445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F56AD8-C0D9-1F1E-88A1-01A05F98F561}"/>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a:extLst>
              <a:ext uri="{FF2B5EF4-FFF2-40B4-BE49-F238E27FC236}">
                <a16:creationId xmlns:a16="http://schemas.microsoft.com/office/drawing/2014/main" id="{401FB98E-3559-35BF-80E2-834E94A5D700}"/>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4B2F2489-2A16-70FD-6303-A0EB3C3E1F18}"/>
              </a:ext>
            </a:extLst>
          </p:cNvPr>
          <p:cNvSpPr>
            <a:spLocks noGrp="1"/>
          </p:cNvSpPr>
          <p:nvPr>
            <p:ph type="dt" sz="half" idx="10"/>
          </p:nvPr>
        </p:nvSpPr>
        <p:spPr/>
        <p:txBody>
          <a:bodyPr/>
          <a:lstStyle/>
          <a:p>
            <a:fld id="{DBFD633D-F06C-544A-B147-E116D96C6134}" type="datetimeFigureOut">
              <a:rPr lang="en-US" smtClean="0"/>
              <a:t>9/2/25</a:t>
            </a:fld>
            <a:endParaRPr lang="en-US"/>
          </a:p>
        </p:txBody>
      </p:sp>
      <p:sp>
        <p:nvSpPr>
          <p:cNvPr id="5" name="Footer Placeholder 4">
            <a:extLst>
              <a:ext uri="{FF2B5EF4-FFF2-40B4-BE49-F238E27FC236}">
                <a16:creationId xmlns:a16="http://schemas.microsoft.com/office/drawing/2014/main" id="{A1CBF8DB-9D7F-7E1C-488B-4F9D7C7DF71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2699601-DD19-CFEE-A44E-5BDB22AF18E2}"/>
              </a:ext>
            </a:extLst>
          </p:cNvPr>
          <p:cNvSpPr>
            <a:spLocks noGrp="1"/>
          </p:cNvSpPr>
          <p:nvPr>
            <p:ph type="sldNum" sz="quarter" idx="12"/>
          </p:nvPr>
        </p:nvSpPr>
        <p:spPr/>
        <p:txBody>
          <a:bodyPr/>
          <a:lstStyle/>
          <a:p>
            <a:fld id="{CFFFF9D9-C0BF-A443-8A2F-9854B0FDAFD7}" type="slidenum">
              <a:rPr lang="en-US" smtClean="0"/>
              <a:t>‹#›</a:t>
            </a:fld>
            <a:endParaRPr lang="en-US"/>
          </a:p>
        </p:txBody>
      </p:sp>
    </p:spTree>
    <p:extLst>
      <p:ext uri="{BB962C8B-B14F-4D97-AF65-F5344CB8AC3E}">
        <p14:creationId xmlns:p14="http://schemas.microsoft.com/office/powerpoint/2010/main" val="50330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E8DA41-5475-80C8-276A-DD3EBAD4BD2F}"/>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25526E73-363D-36A4-9072-CD03871C8E9E}"/>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a:extLst>
              <a:ext uri="{FF2B5EF4-FFF2-40B4-BE49-F238E27FC236}">
                <a16:creationId xmlns:a16="http://schemas.microsoft.com/office/drawing/2014/main" id="{3853DC42-D0D9-F669-35C6-7893FE4C64B5}"/>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a16="http://schemas.microsoft.com/office/drawing/2014/main" id="{0F012ED4-B306-22A1-8136-21E0E506913C}"/>
              </a:ext>
            </a:extLst>
          </p:cNvPr>
          <p:cNvSpPr>
            <a:spLocks noGrp="1"/>
          </p:cNvSpPr>
          <p:nvPr>
            <p:ph type="dt" sz="half" idx="10"/>
          </p:nvPr>
        </p:nvSpPr>
        <p:spPr/>
        <p:txBody>
          <a:bodyPr/>
          <a:lstStyle/>
          <a:p>
            <a:fld id="{DBFD633D-F06C-544A-B147-E116D96C6134}" type="datetimeFigureOut">
              <a:rPr lang="en-US" smtClean="0"/>
              <a:t>9/2/25</a:t>
            </a:fld>
            <a:endParaRPr lang="en-US"/>
          </a:p>
        </p:txBody>
      </p:sp>
      <p:sp>
        <p:nvSpPr>
          <p:cNvPr id="6" name="Footer Placeholder 5">
            <a:extLst>
              <a:ext uri="{FF2B5EF4-FFF2-40B4-BE49-F238E27FC236}">
                <a16:creationId xmlns:a16="http://schemas.microsoft.com/office/drawing/2014/main" id="{0FCAAE9D-506E-B1A8-95F5-DF6F5EB6880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BD3335D-DEBE-27D3-CE1B-341AD00FA673}"/>
              </a:ext>
            </a:extLst>
          </p:cNvPr>
          <p:cNvSpPr>
            <a:spLocks noGrp="1"/>
          </p:cNvSpPr>
          <p:nvPr>
            <p:ph type="sldNum" sz="quarter" idx="12"/>
          </p:nvPr>
        </p:nvSpPr>
        <p:spPr/>
        <p:txBody>
          <a:bodyPr/>
          <a:lstStyle/>
          <a:p>
            <a:fld id="{CFFFF9D9-C0BF-A443-8A2F-9854B0FDAFD7}" type="slidenum">
              <a:rPr lang="en-US" smtClean="0"/>
              <a:t>‹#›</a:t>
            </a:fld>
            <a:endParaRPr lang="en-US"/>
          </a:p>
        </p:txBody>
      </p:sp>
    </p:spTree>
    <p:extLst>
      <p:ext uri="{BB962C8B-B14F-4D97-AF65-F5344CB8AC3E}">
        <p14:creationId xmlns:p14="http://schemas.microsoft.com/office/powerpoint/2010/main" val="354321956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FC0CFE-5EE3-3C9B-FC8A-C0F144FFC78F}"/>
              </a:ext>
            </a:extLst>
          </p:cNvPr>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a:extLst>
              <a:ext uri="{FF2B5EF4-FFF2-40B4-BE49-F238E27FC236}">
                <a16:creationId xmlns:a16="http://schemas.microsoft.com/office/drawing/2014/main" id="{B39BCEE8-2099-2AB9-624E-0F7B9324724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5835C4AD-1633-9409-27B2-6F8098AFF895}"/>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a:extLst>
              <a:ext uri="{FF2B5EF4-FFF2-40B4-BE49-F238E27FC236}">
                <a16:creationId xmlns:a16="http://schemas.microsoft.com/office/drawing/2014/main" id="{2FCB9A42-22BB-59C7-A048-C6F1F89EF92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218A6262-3269-B2E8-55A8-BE1BDE1F7DF1}"/>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a:extLst>
              <a:ext uri="{FF2B5EF4-FFF2-40B4-BE49-F238E27FC236}">
                <a16:creationId xmlns:a16="http://schemas.microsoft.com/office/drawing/2014/main" id="{9659FE8A-6BDF-5499-E953-4BF43A11EBF8}"/>
              </a:ext>
            </a:extLst>
          </p:cNvPr>
          <p:cNvSpPr>
            <a:spLocks noGrp="1"/>
          </p:cNvSpPr>
          <p:nvPr>
            <p:ph type="dt" sz="half" idx="10"/>
          </p:nvPr>
        </p:nvSpPr>
        <p:spPr/>
        <p:txBody>
          <a:bodyPr/>
          <a:lstStyle/>
          <a:p>
            <a:fld id="{DBFD633D-F06C-544A-B147-E116D96C6134}" type="datetimeFigureOut">
              <a:rPr lang="en-US" smtClean="0"/>
              <a:t>9/2/25</a:t>
            </a:fld>
            <a:endParaRPr lang="en-US"/>
          </a:p>
        </p:txBody>
      </p:sp>
      <p:sp>
        <p:nvSpPr>
          <p:cNvPr id="8" name="Footer Placeholder 7">
            <a:extLst>
              <a:ext uri="{FF2B5EF4-FFF2-40B4-BE49-F238E27FC236}">
                <a16:creationId xmlns:a16="http://schemas.microsoft.com/office/drawing/2014/main" id="{B07A413E-27CE-4607-2A50-7D4AD6E8594B}"/>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C045AA4E-4989-C921-03C4-D6B9DA53DF28}"/>
              </a:ext>
            </a:extLst>
          </p:cNvPr>
          <p:cNvSpPr>
            <a:spLocks noGrp="1"/>
          </p:cNvSpPr>
          <p:nvPr>
            <p:ph type="sldNum" sz="quarter" idx="12"/>
          </p:nvPr>
        </p:nvSpPr>
        <p:spPr/>
        <p:txBody>
          <a:bodyPr/>
          <a:lstStyle/>
          <a:p>
            <a:fld id="{CFFFF9D9-C0BF-A443-8A2F-9854B0FDAFD7}" type="slidenum">
              <a:rPr lang="en-US" smtClean="0"/>
              <a:t>‹#›</a:t>
            </a:fld>
            <a:endParaRPr lang="en-US"/>
          </a:p>
        </p:txBody>
      </p:sp>
    </p:spTree>
    <p:extLst>
      <p:ext uri="{BB962C8B-B14F-4D97-AF65-F5344CB8AC3E}">
        <p14:creationId xmlns:p14="http://schemas.microsoft.com/office/powerpoint/2010/main" val="274637820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0FDCDD-EADD-038E-E12C-10422F4EB9EC}"/>
              </a:ext>
            </a:extLst>
          </p:cNvPr>
          <p:cNvSpPr>
            <a:spLocks noGrp="1"/>
          </p:cNvSpPr>
          <p:nvPr>
            <p:ph type="title"/>
          </p:nvPr>
        </p:nvSpPr>
        <p:spPr/>
        <p:txBody>
          <a:bodyPr/>
          <a:lstStyle/>
          <a:p>
            <a:r>
              <a:rPr lang="en-GB"/>
              <a:t>Click to edit Master title style</a:t>
            </a:r>
            <a:endParaRPr lang="en-US"/>
          </a:p>
        </p:txBody>
      </p:sp>
      <p:sp>
        <p:nvSpPr>
          <p:cNvPr id="3" name="Date Placeholder 2">
            <a:extLst>
              <a:ext uri="{FF2B5EF4-FFF2-40B4-BE49-F238E27FC236}">
                <a16:creationId xmlns:a16="http://schemas.microsoft.com/office/drawing/2014/main" id="{7A002545-E785-C2C3-E527-548CBCA8D821}"/>
              </a:ext>
            </a:extLst>
          </p:cNvPr>
          <p:cNvSpPr>
            <a:spLocks noGrp="1"/>
          </p:cNvSpPr>
          <p:nvPr>
            <p:ph type="dt" sz="half" idx="10"/>
          </p:nvPr>
        </p:nvSpPr>
        <p:spPr/>
        <p:txBody>
          <a:bodyPr/>
          <a:lstStyle/>
          <a:p>
            <a:fld id="{DBFD633D-F06C-544A-B147-E116D96C6134}" type="datetimeFigureOut">
              <a:rPr lang="en-US" smtClean="0"/>
              <a:t>9/2/25</a:t>
            </a:fld>
            <a:endParaRPr lang="en-US"/>
          </a:p>
        </p:txBody>
      </p:sp>
      <p:sp>
        <p:nvSpPr>
          <p:cNvPr id="4" name="Footer Placeholder 3">
            <a:extLst>
              <a:ext uri="{FF2B5EF4-FFF2-40B4-BE49-F238E27FC236}">
                <a16:creationId xmlns:a16="http://schemas.microsoft.com/office/drawing/2014/main" id="{51CBDB38-4B03-9D77-C226-EE5E318F5C25}"/>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D6698ED6-CD6E-525A-924A-3AE2B615F14B}"/>
              </a:ext>
            </a:extLst>
          </p:cNvPr>
          <p:cNvSpPr>
            <a:spLocks noGrp="1"/>
          </p:cNvSpPr>
          <p:nvPr>
            <p:ph type="sldNum" sz="quarter" idx="12"/>
          </p:nvPr>
        </p:nvSpPr>
        <p:spPr/>
        <p:txBody>
          <a:bodyPr/>
          <a:lstStyle/>
          <a:p>
            <a:fld id="{CFFFF9D9-C0BF-A443-8A2F-9854B0FDAFD7}" type="slidenum">
              <a:rPr lang="en-US" smtClean="0"/>
              <a:t>‹#›</a:t>
            </a:fld>
            <a:endParaRPr lang="en-US"/>
          </a:p>
        </p:txBody>
      </p:sp>
    </p:spTree>
    <p:extLst>
      <p:ext uri="{BB962C8B-B14F-4D97-AF65-F5344CB8AC3E}">
        <p14:creationId xmlns:p14="http://schemas.microsoft.com/office/powerpoint/2010/main" val="346198260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D317B30-5C09-3248-4F63-92C012EA452C}"/>
              </a:ext>
            </a:extLst>
          </p:cNvPr>
          <p:cNvSpPr>
            <a:spLocks noGrp="1"/>
          </p:cNvSpPr>
          <p:nvPr>
            <p:ph type="dt" sz="half" idx="10"/>
          </p:nvPr>
        </p:nvSpPr>
        <p:spPr/>
        <p:txBody>
          <a:bodyPr/>
          <a:lstStyle/>
          <a:p>
            <a:fld id="{DBFD633D-F06C-544A-B147-E116D96C6134}" type="datetimeFigureOut">
              <a:rPr lang="en-US" smtClean="0"/>
              <a:t>9/2/25</a:t>
            </a:fld>
            <a:endParaRPr lang="en-US"/>
          </a:p>
        </p:txBody>
      </p:sp>
      <p:sp>
        <p:nvSpPr>
          <p:cNvPr id="3" name="Footer Placeholder 2">
            <a:extLst>
              <a:ext uri="{FF2B5EF4-FFF2-40B4-BE49-F238E27FC236}">
                <a16:creationId xmlns:a16="http://schemas.microsoft.com/office/drawing/2014/main" id="{D28992AC-6F9D-4F07-AC88-75E946904DD1}"/>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1B8A5DEC-E14A-1846-EEA5-3BE03FA18F56}"/>
              </a:ext>
            </a:extLst>
          </p:cNvPr>
          <p:cNvSpPr>
            <a:spLocks noGrp="1"/>
          </p:cNvSpPr>
          <p:nvPr>
            <p:ph type="sldNum" sz="quarter" idx="12"/>
          </p:nvPr>
        </p:nvSpPr>
        <p:spPr/>
        <p:txBody>
          <a:bodyPr/>
          <a:lstStyle/>
          <a:p>
            <a:fld id="{CFFFF9D9-C0BF-A443-8A2F-9854B0FDAFD7}" type="slidenum">
              <a:rPr lang="en-US" smtClean="0"/>
              <a:t>‹#›</a:t>
            </a:fld>
            <a:endParaRPr lang="en-US"/>
          </a:p>
        </p:txBody>
      </p:sp>
    </p:spTree>
    <p:extLst>
      <p:ext uri="{BB962C8B-B14F-4D97-AF65-F5344CB8AC3E}">
        <p14:creationId xmlns:p14="http://schemas.microsoft.com/office/powerpoint/2010/main" val="46761043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C1C6A0-8BFA-878A-D80B-DB79453606BC}"/>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Content Placeholder 2">
            <a:extLst>
              <a:ext uri="{FF2B5EF4-FFF2-40B4-BE49-F238E27FC236}">
                <a16:creationId xmlns:a16="http://schemas.microsoft.com/office/drawing/2014/main" id="{98411B73-175C-4635-F949-2360F052EBD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a:extLst>
              <a:ext uri="{FF2B5EF4-FFF2-40B4-BE49-F238E27FC236}">
                <a16:creationId xmlns:a16="http://schemas.microsoft.com/office/drawing/2014/main" id="{DA0E4F20-332D-7136-4610-943361E6792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30B9EC0B-CA65-34A5-B456-2B4CCA4C03BE}"/>
              </a:ext>
            </a:extLst>
          </p:cNvPr>
          <p:cNvSpPr>
            <a:spLocks noGrp="1"/>
          </p:cNvSpPr>
          <p:nvPr>
            <p:ph type="dt" sz="half" idx="10"/>
          </p:nvPr>
        </p:nvSpPr>
        <p:spPr/>
        <p:txBody>
          <a:bodyPr/>
          <a:lstStyle/>
          <a:p>
            <a:fld id="{DBFD633D-F06C-544A-B147-E116D96C6134}" type="datetimeFigureOut">
              <a:rPr lang="en-US" smtClean="0"/>
              <a:t>9/2/25</a:t>
            </a:fld>
            <a:endParaRPr lang="en-US"/>
          </a:p>
        </p:txBody>
      </p:sp>
      <p:sp>
        <p:nvSpPr>
          <p:cNvPr id="6" name="Footer Placeholder 5">
            <a:extLst>
              <a:ext uri="{FF2B5EF4-FFF2-40B4-BE49-F238E27FC236}">
                <a16:creationId xmlns:a16="http://schemas.microsoft.com/office/drawing/2014/main" id="{1C7FFDDE-4FDC-5370-7C37-0BA35028A4F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8E60C62-0532-8396-460C-40D02145DA30}"/>
              </a:ext>
            </a:extLst>
          </p:cNvPr>
          <p:cNvSpPr>
            <a:spLocks noGrp="1"/>
          </p:cNvSpPr>
          <p:nvPr>
            <p:ph type="sldNum" sz="quarter" idx="12"/>
          </p:nvPr>
        </p:nvSpPr>
        <p:spPr/>
        <p:txBody>
          <a:bodyPr/>
          <a:lstStyle/>
          <a:p>
            <a:fld id="{CFFFF9D9-C0BF-A443-8A2F-9854B0FDAFD7}" type="slidenum">
              <a:rPr lang="en-US" smtClean="0"/>
              <a:t>‹#›</a:t>
            </a:fld>
            <a:endParaRPr lang="en-US"/>
          </a:p>
        </p:txBody>
      </p:sp>
    </p:spTree>
    <p:extLst>
      <p:ext uri="{BB962C8B-B14F-4D97-AF65-F5344CB8AC3E}">
        <p14:creationId xmlns:p14="http://schemas.microsoft.com/office/powerpoint/2010/main" val="58278783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2A36FA-52B9-7EB0-EC30-FECC30FAD007}"/>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Picture Placeholder 2">
            <a:extLst>
              <a:ext uri="{FF2B5EF4-FFF2-40B4-BE49-F238E27FC236}">
                <a16:creationId xmlns:a16="http://schemas.microsoft.com/office/drawing/2014/main" id="{9F02A1AB-5B64-53D7-B899-EBEC8EAD1AB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06A274EA-3F83-A79F-20B4-B0329C9BBFD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75A1059E-774E-5F65-D2F6-AB7D0872C727}"/>
              </a:ext>
            </a:extLst>
          </p:cNvPr>
          <p:cNvSpPr>
            <a:spLocks noGrp="1"/>
          </p:cNvSpPr>
          <p:nvPr>
            <p:ph type="dt" sz="half" idx="10"/>
          </p:nvPr>
        </p:nvSpPr>
        <p:spPr/>
        <p:txBody>
          <a:bodyPr/>
          <a:lstStyle/>
          <a:p>
            <a:fld id="{DBFD633D-F06C-544A-B147-E116D96C6134}" type="datetimeFigureOut">
              <a:rPr lang="en-US" smtClean="0"/>
              <a:t>9/2/25</a:t>
            </a:fld>
            <a:endParaRPr lang="en-US"/>
          </a:p>
        </p:txBody>
      </p:sp>
      <p:sp>
        <p:nvSpPr>
          <p:cNvPr id="6" name="Footer Placeholder 5">
            <a:extLst>
              <a:ext uri="{FF2B5EF4-FFF2-40B4-BE49-F238E27FC236}">
                <a16:creationId xmlns:a16="http://schemas.microsoft.com/office/drawing/2014/main" id="{115D5ECA-164B-99B7-9964-CC8DF484142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F214B17-AFFB-5C6E-5C1C-A474FCA847F3}"/>
              </a:ext>
            </a:extLst>
          </p:cNvPr>
          <p:cNvSpPr>
            <a:spLocks noGrp="1"/>
          </p:cNvSpPr>
          <p:nvPr>
            <p:ph type="sldNum" sz="quarter" idx="12"/>
          </p:nvPr>
        </p:nvSpPr>
        <p:spPr/>
        <p:txBody>
          <a:bodyPr/>
          <a:lstStyle/>
          <a:p>
            <a:fld id="{CFFFF9D9-C0BF-A443-8A2F-9854B0FDAFD7}" type="slidenum">
              <a:rPr lang="en-US" smtClean="0"/>
              <a:t>‹#›</a:t>
            </a:fld>
            <a:endParaRPr lang="en-US"/>
          </a:p>
        </p:txBody>
      </p:sp>
    </p:spTree>
    <p:extLst>
      <p:ext uri="{BB962C8B-B14F-4D97-AF65-F5344CB8AC3E}">
        <p14:creationId xmlns:p14="http://schemas.microsoft.com/office/powerpoint/2010/main" val="349859212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4EECC0-17C6-3497-A8AD-2DEFE757A691}"/>
              </a:ext>
            </a:extLst>
          </p:cNvPr>
          <p:cNvSpPr>
            <a:spLocks noGrp="1"/>
          </p:cNvSpPr>
          <p:nvPr>
            <p:ph type="title"/>
          </p:nvPr>
        </p:nvSpPr>
        <p:spPr/>
        <p:txBody>
          <a:bodyPr/>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01AF8F8B-33AE-6099-48C6-83239F62F3E9}"/>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F3E77219-8931-38D0-5B72-AB6E099E4984}"/>
              </a:ext>
            </a:extLst>
          </p:cNvPr>
          <p:cNvSpPr>
            <a:spLocks noGrp="1"/>
          </p:cNvSpPr>
          <p:nvPr>
            <p:ph type="dt" sz="half" idx="10"/>
          </p:nvPr>
        </p:nvSpPr>
        <p:spPr/>
        <p:txBody>
          <a:bodyPr/>
          <a:lstStyle/>
          <a:p>
            <a:fld id="{DBFD633D-F06C-544A-B147-E116D96C6134}" type="datetimeFigureOut">
              <a:rPr lang="en-US" smtClean="0"/>
              <a:t>9/2/25</a:t>
            </a:fld>
            <a:endParaRPr lang="en-US"/>
          </a:p>
        </p:txBody>
      </p:sp>
      <p:sp>
        <p:nvSpPr>
          <p:cNvPr id="5" name="Footer Placeholder 4">
            <a:extLst>
              <a:ext uri="{FF2B5EF4-FFF2-40B4-BE49-F238E27FC236}">
                <a16:creationId xmlns:a16="http://schemas.microsoft.com/office/drawing/2014/main" id="{E9D10517-D0F5-43D3-3905-F716C75DFEC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D79A2C6-D780-6021-C19D-E507B851909B}"/>
              </a:ext>
            </a:extLst>
          </p:cNvPr>
          <p:cNvSpPr>
            <a:spLocks noGrp="1"/>
          </p:cNvSpPr>
          <p:nvPr>
            <p:ph type="sldNum" sz="quarter" idx="12"/>
          </p:nvPr>
        </p:nvSpPr>
        <p:spPr/>
        <p:txBody>
          <a:bodyPr/>
          <a:lstStyle/>
          <a:p>
            <a:fld id="{CFFFF9D9-C0BF-A443-8A2F-9854B0FDAFD7}" type="slidenum">
              <a:rPr lang="en-US" smtClean="0"/>
              <a:t>‹#›</a:t>
            </a:fld>
            <a:endParaRPr lang="en-US"/>
          </a:p>
        </p:txBody>
      </p:sp>
    </p:spTree>
    <p:extLst>
      <p:ext uri="{BB962C8B-B14F-4D97-AF65-F5344CB8AC3E}">
        <p14:creationId xmlns:p14="http://schemas.microsoft.com/office/powerpoint/2010/main" val="223875881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BB0AD8E-84E4-63FD-56E9-0FB84E86AD65}"/>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FD9F203A-5A2E-E3A6-AC60-8E59DE8AAA95}"/>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AB43D8FC-AC89-2410-0D57-D0213048A978}"/>
              </a:ext>
            </a:extLst>
          </p:cNvPr>
          <p:cNvSpPr>
            <a:spLocks noGrp="1"/>
          </p:cNvSpPr>
          <p:nvPr>
            <p:ph type="dt" sz="half" idx="10"/>
          </p:nvPr>
        </p:nvSpPr>
        <p:spPr/>
        <p:txBody>
          <a:bodyPr/>
          <a:lstStyle/>
          <a:p>
            <a:fld id="{DBFD633D-F06C-544A-B147-E116D96C6134}" type="datetimeFigureOut">
              <a:rPr lang="en-US" smtClean="0"/>
              <a:t>9/2/25</a:t>
            </a:fld>
            <a:endParaRPr lang="en-US"/>
          </a:p>
        </p:txBody>
      </p:sp>
      <p:sp>
        <p:nvSpPr>
          <p:cNvPr id="5" name="Footer Placeholder 4">
            <a:extLst>
              <a:ext uri="{FF2B5EF4-FFF2-40B4-BE49-F238E27FC236}">
                <a16:creationId xmlns:a16="http://schemas.microsoft.com/office/drawing/2014/main" id="{F69E6C36-C062-FC40-56B3-732D690CB55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C1B2557-BB28-DE2B-4C03-DC33E59226E7}"/>
              </a:ext>
            </a:extLst>
          </p:cNvPr>
          <p:cNvSpPr>
            <a:spLocks noGrp="1"/>
          </p:cNvSpPr>
          <p:nvPr>
            <p:ph type="sldNum" sz="quarter" idx="12"/>
          </p:nvPr>
        </p:nvSpPr>
        <p:spPr/>
        <p:txBody>
          <a:bodyPr/>
          <a:lstStyle/>
          <a:p>
            <a:fld id="{CFFFF9D9-C0BF-A443-8A2F-9854B0FDAFD7}" type="slidenum">
              <a:rPr lang="en-US" smtClean="0"/>
              <a:t>‹#›</a:t>
            </a:fld>
            <a:endParaRPr lang="en-US"/>
          </a:p>
        </p:txBody>
      </p:sp>
    </p:spTree>
    <p:extLst>
      <p:ext uri="{BB962C8B-B14F-4D97-AF65-F5344CB8AC3E}">
        <p14:creationId xmlns:p14="http://schemas.microsoft.com/office/powerpoint/2010/main" val="422549355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B12BE36-E25E-6E2E-B49D-A327E038E5D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A081A840-ADAC-F685-C35D-35F3EFBF2BA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D7C6AF72-4709-76C8-A7A3-B6A4DED7582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DBFD633D-F06C-544A-B147-E116D96C6134}" type="datetimeFigureOut">
              <a:rPr lang="en-US" smtClean="0"/>
              <a:t>9/2/25</a:t>
            </a:fld>
            <a:endParaRPr lang="en-US"/>
          </a:p>
        </p:txBody>
      </p:sp>
      <p:sp>
        <p:nvSpPr>
          <p:cNvPr id="5" name="Footer Placeholder 4">
            <a:extLst>
              <a:ext uri="{FF2B5EF4-FFF2-40B4-BE49-F238E27FC236}">
                <a16:creationId xmlns:a16="http://schemas.microsoft.com/office/drawing/2014/main" id="{30065C1F-25A3-7D23-3A62-F640120CF8A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23BDC87E-CE9F-1FB4-93C2-479DA91695A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CFFFF9D9-C0BF-A443-8A2F-9854B0FDAFD7}" type="slidenum">
              <a:rPr lang="en-US" smtClean="0"/>
              <a:t>‹#›</a:t>
            </a:fld>
            <a:endParaRPr lang="en-US"/>
          </a:p>
        </p:txBody>
      </p:sp>
    </p:spTree>
    <p:extLst>
      <p:ext uri="{BB962C8B-B14F-4D97-AF65-F5344CB8AC3E}">
        <p14:creationId xmlns:p14="http://schemas.microsoft.com/office/powerpoint/2010/main" val="288614091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7.emf"/><Relationship Id="rId3" Type="http://schemas.openxmlformats.org/officeDocument/2006/relationships/image" Target="../media/image2.emf"/><Relationship Id="rId7" Type="http://schemas.openxmlformats.org/officeDocument/2006/relationships/image" Target="../media/image6.emf"/><Relationship Id="rId2" Type="http://schemas.openxmlformats.org/officeDocument/2006/relationships/image" Target="../media/image1.emf"/><Relationship Id="rId1" Type="http://schemas.openxmlformats.org/officeDocument/2006/relationships/slideLayout" Target="../slideLayouts/slideLayout1.xml"/><Relationship Id="rId6" Type="http://schemas.openxmlformats.org/officeDocument/2006/relationships/image" Target="../media/image5.emf"/><Relationship Id="rId11" Type="http://schemas.openxmlformats.org/officeDocument/2006/relationships/image" Target="../media/image10.emf"/><Relationship Id="rId5" Type="http://schemas.openxmlformats.org/officeDocument/2006/relationships/image" Target="../media/image4.emf"/><Relationship Id="rId10" Type="http://schemas.openxmlformats.org/officeDocument/2006/relationships/image" Target="../media/image9.emf"/><Relationship Id="rId4" Type="http://schemas.openxmlformats.org/officeDocument/2006/relationships/image" Target="../media/image3.emf"/><Relationship Id="rId9" Type="http://schemas.openxmlformats.org/officeDocument/2006/relationships/image" Target="../media/image8.emf"/></Relationships>
</file>

<file path=ppt/slides/_rels/slide2.xml.rels><?xml version="1.0" encoding="UTF-8" standalone="yes"?>
<Relationships xmlns="http://schemas.openxmlformats.org/package/2006/relationships"><Relationship Id="rId8" Type="http://schemas.openxmlformats.org/officeDocument/2006/relationships/image" Target="../media/image17.emf"/><Relationship Id="rId13" Type="http://schemas.openxmlformats.org/officeDocument/2006/relationships/image" Target="../media/image22.emf"/><Relationship Id="rId3" Type="http://schemas.openxmlformats.org/officeDocument/2006/relationships/image" Target="../media/image12.emf"/><Relationship Id="rId7" Type="http://schemas.openxmlformats.org/officeDocument/2006/relationships/image" Target="../media/image16.emf"/><Relationship Id="rId12" Type="http://schemas.openxmlformats.org/officeDocument/2006/relationships/image" Target="../media/image21.emf"/><Relationship Id="rId2" Type="http://schemas.openxmlformats.org/officeDocument/2006/relationships/image" Target="../media/image11.emf"/><Relationship Id="rId1" Type="http://schemas.openxmlformats.org/officeDocument/2006/relationships/slideLayout" Target="../slideLayouts/slideLayout1.xml"/><Relationship Id="rId6" Type="http://schemas.openxmlformats.org/officeDocument/2006/relationships/image" Target="../media/image15.emf"/><Relationship Id="rId11" Type="http://schemas.openxmlformats.org/officeDocument/2006/relationships/image" Target="../media/image20.emf"/><Relationship Id="rId5" Type="http://schemas.openxmlformats.org/officeDocument/2006/relationships/image" Target="../media/image14.emf"/><Relationship Id="rId10" Type="http://schemas.openxmlformats.org/officeDocument/2006/relationships/image" Target="../media/image19.emf"/><Relationship Id="rId4" Type="http://schemas.openxmlformats.org/officeDocument/2006/relationships/image" Target="../media/image13.emf"/><Relationship Id="rId9" Type="http://schemas.openxmlformats.org/officeDocument/2006/relationships/image" Target="../media/image18.emf"/></Relationships>
</file>

<file path=ppt/slides/_rels/slide3.xml.rels><?xml version="1.0" encoding="UTF-8" standalone="yes"?>
<Relationships xmlns="http://schemas.openxmlformats.org/package/2006/relationships"><Relationship Id="rId2" Type="http://schemas.openxmlformats.org/officeDocument/2006/relationships/image" Target="../media/image23.emf"/><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8" Type="http://schemas.openxmlformats.org/officeDocument/2006/relationships/image" Target="../media/image6.emf"/><Relationship Id="rId3" Type="http://schemas.openxmlformats.org/officeDocument/2006/relationships/image" Target="../media/image24.emf"/><Relationship Id="rId7" Type="http://schemas.openxmlformats.org/officeDocument/2006/relationships/image" Target="../media/image5.emf"/><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4.emf"/><Relationship Id="rId5" Type="http://schemas.openxmlformats.org/officeDocument/2006/relationships/image" Target="../media/image3.emf"/><Relationship Id="rId4" Type="http://schemas.openxmlformats.org/officeDocument/2006/relationships/image" Target="../media/image2.emf"/><Relationship Id="rId9" Type="http://schemas.openxmlformats.org/officeDocument/2006/relationships/image" Target="../media/image7.emf"/></Relationships>
</file>

<file path=ppt/slides/_rels/slide5.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27.emf"/><Relationship Id="rId5" Type="http://schemas.openxmlformats.org/officeDocument/2006/relationships/image" Target="../media/image4.emf"/><Relationship Id="rId4" Type="http://schemas.openxmlformats.org/officeDocument/2006/relationships/image" Target="../media/image26.emf"/></Relationships>
</file>

<file path=ppt/slides/_rels/slide6.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image" Target="../media/image30.emf"/><Relationship Id="rId4" Type="http://schemas.openxmlformats.org/officeDocument/2006/relationships/image" Target="../media/image29.emf"/></Relationships>
</file>

<file path=ppt/slides/_rels/slide7.xml.rels><?xml version="1.0" encoding="UTF-8" standalone="yes"?>
<Relationships xmlns="http://schemas.openxmlformats.org/package/2006/relationships"><Relationship Id="rId8" Type="http://schemas.openxmlformats.org/officeDocument/2006/relationships/image" Target="../media/image33.emf"/><Relationship Id="rId3" Type="http://schemas.openxmlformats.org/officeDocument/2006/relationships/image" Target="../media/image8.emf"/><Relationship Id="rId7" Type="http://schemas.openxmlformats.org/officeDocument/2006/relationships/image" Target="../media/image32.emf"/><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31.emf"/><Relationship Id="rId5" Type="http://schemas.openxmlformats.org/officeDocument/2006/relationships/image" Target="../media/image1.emf"/><Relationship Id="rId4" Type="http://schemas.openxmlformats.org/officeDocument/2006/relationships/image" Target="../media/image3.emf"/></Relationships>
</file>

<file path=ppt/slides/_rels/slide8.xml.rels><?xml version="1.0" encoding="UTF-8" standalone="yes"?>
<Relationships xmlns="http://schemas.openxmlformats.org/package/2006/relationships"><Relationship Id="rId8" Type="http://schemas.openxmlformats.org/officeDocument/2006/relationships/image" Target="../media/image13.emf"/><Relationship Id="rId3" Type="http://schemas.openxmlformats.org/officeDocument/2006/relationships/image" Target="../media/image11.emf"/><Relationship Id="rId7" Type="http://schemas.openxmlformats.org/officeDocument/2006/relationships/image" Target="../media/image15.emf"/><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34.emf"/><Relationship Id="rId5" Type="http://schemas.openxmlformats.org/officeDocument/2006/relationships/image" Target="../media/image18.emf"/><Relationship Id="rId4" Type="http://schemas.openxmlformats.org/officeDocument/2006/relationships/image" Target="../media/image12.emf"/><Relationship Id="rId9" Type="http://schemas.openxmlformats.org/officeDocument/2006/relationships/image" Target="../media/image14.emf"/></Relationships>
</file>

<file path=ppt/slides/_rels/slide9.xml.rels><?xml version="1.0" encoding="UTF-8" standalone="yes"?>
<Relationships xmlns="http://schemas.openxmlformats.org/package/2006/relationships"><Relationship Id="rId8" Type="http://schemas.openxmlformats.org/officeDocument/2006/relationships/image" Target="../media/image36.emf"/><Relationship Id="rId3" Type="http://schemas.openxmlformats.org/officeDocument/2006/relationships/image" Target="../media/image35.emf"/><Relationship Id="rId7" Type="http://schemas.openxmlformats.org/officeDocument/2006/relationships/image" Target="../media/image16.emf"/><Relationship Id="rId12" Type="http://schemas.openxmlformats.org/officeDocument/2006/relationships/image" Target="../media/image38.emf"/><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20.emf"/><Relationship Id="rId11" Type="http://schemas.openxmlformats.org/officeDocument/2006/relationships/image" Target="../media/image17.emf"/><Relationship Id="rId5" Type="http://schemas.openxmlformats.org/officeDocument/2006/relationships/image" Target="../media/image19.emf"/><Relationship Id="rId10" Type="http://schemas.openxmlformats.org/officeDocument/2006/relationships/image" Target="../media/image37.emf"/><Relationship Id="rId4" Type="http://schemas.openxmlformats.org/officeDocument/2006/relationships/image" Target="../media/image18.emf"/><Relationship Id="rId9" Type="http://schemas.openxmlformats.org/officeDocument/2006/relationships/image" Target="../media/image21.emf"/></Relationships>
</file>

<file path=ppt/slides/_rels/slide10.xml.rels><?xml version="1.0" encoding="UTF-8" standalone="yes"?>
<Relationships xmlns="http://schemas.openxmlformats.org/package/2006/relationships"><Relationship Id="rId8" Type="http://schemas.openxmlformats.org/officeDocument/2006/relationships/image" Target="../media/image17.emf"/><Relationship Id="rId3" Type="http://schemas.openxmlformats.org/officeDocument/2006/relationships/image" Target="../media/image22.emf"/><Relationship Id="rId7" Type="http://schemas.openxmlformats.org/officeDocument/2006/relationships/image" Target="../media/image16.emf"/><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image" Target="../media/image20.emf"/><Relationship Id="rId5" Type="http://schemas.openxmlformats.org/officeDocument/2006/relationships/image" Target="../media/image19.emf"/><Relationship Id="rId4" Type="http://schemas.openxmlformats.org/officeDocument/2006/relationships/image" Target="../media/image18.emf"/></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 name="Picture 19">
            <a:extLst>
              <a:ext uri="{FF2B5EF4-FFF2-40B4-BE49-F238E27FC236}">
                <a16:creationId xmlns:a16="http://schemas.microsoft.com/office/drawing/2014/main" id="{53F00CC8-C717-F8A7-1C8F-AEAFAF70903C}"/>
              </a:ext>
            </a:extLst>
          </p:cNvPr>
          <p:cNvPicPr>
            <a:picLocks noChangeAspect="1"/>
          </p:cNvPicPr>
          <p:nvPr/>
        </p:nvPicPr>
        <p:blipFill>
          <a:blip r:embed="rId2"/>
          <a:srcRect t="10415"/>
          <a:stretch>
            <a:fillRect/>
          </a:stretch>
        </p:blipFill>
        <p:spPr>
          <a:xfrm>
            <a:off x="7426404" y="4101862"/>
            <a:ext cx="2043342" cy="1717629"/>
          </a:xfrm>
          <a:prstGeom prst="rect">
            <a:avLst/>
          </a:prstGeom>
        </p:spPr>
      </p:pic>
      <p:sp>
        <p:nvSpPr>
          <p:cNvPr id="12" name="TextBox 11">
            <a:extLst>
              <a:ext uri="{FF2B5EF4-FFF2-40B4-BE49-F238E27FC236}">
                <a16:creationId xmlns:a16="http://schemas.microsoft.com/office/drawing/2014/main" id="{D9606656-893D-D7E8-6E93-F52B1D193E3B}"/>
              </a:ext>
            </a:extLst>
          </p:cNvPr>
          <p:cNvSpPr txBox="1"/>
          <p:nvPr/>
        </p:nvSpPr>
        <p:spPr>
          <a:xfrm>
            <a:off x="531627" y="389633"/>
            <a:ext cx="8528290" cy="369332"/>
          </a:xfrm>
          <a:prstGeom prst="rect">
            <a:avLst/>
          </a:prstGeom>
          <a:noFill/>
        </p:spPr>
        <p:txBody>
          <a:bodyPr wrap="square" rtlCol="0">
            <a:spAutoFit/>
          </a:bodyPr>
          <a:lstStyle/>
          <a:p>
            <a:r>
              <a:rPr lang="en-GB" b="1" dirty="0">
                <a:latin typeface="Arial" panose="020B0604020202020204" pitchFamily="34" charset="0"/>
                <a:cs typeface="Arial" panose="020B0604020202020204" pitchFamily="34" charset="0"/>
              </a:rPr>
              <a:t>Exec. Summary of Enfys </a:t>
            </a:r>
            <a:r>
              <a:rPr lang="en-GB" b="1" dirty="0" err="1">
                <a:latin typeface="Arial" panose="020B0604020202020204" pitchFamily="34" charset="0"/>
                <a:cs typeface="Arial" panose="020B0604020202020204" pitchFamily="34" charset="0"/>
              </a:rPr>
              <a:t>InAs</a:t>
            </a:r>
            <a:r>
              <a:rPr lang="en-GB" b="1" dirty="0">
                <a:latin typeface="Arial" panose="020B0604020202020204" pitchFamily="34" charset="0"/>
                <a:cs typeface="Arial" panose="020B0604020202020204" pitchFamily="34" charset="0"/>
              </a:rPr>
              <a:t> vs </a:t>
            </a:r>
            <a:r>
              <a:rPr lang="en-GB" b="1" dirty="0" err="1">
                <a:latin typeface="Arial" panose="020B0604020202020204" pitchFamily="34" charset="0"/>
                <a:cs typeface="Arial" panose="020B0604020202020204" pitchFamily="34" charset="0"/>
              </a:rPr>
              <a:t>InGaAs</a:t>
            </a:r>
            <a:r>
              <a:rPr lang="en-GB" b="1" dirty="0">
                <a:latin typeface="Arial" panose="020B0604020202020204" pitchFamily="34" charset="0"/>
                <a:cs typeface="Arial" panose="020B0604020202020204" pitchFamily="34" charset="0"/>
              </a:rPr>
              <a:t> Sensor Simulations &amp; Evaluation</a:t>
            </a:r>
          </a:p>
        </p:txBody>
      </p:sp>
      <p:sp>
        <p:nvSpPr>
          <p:cNvPr id="3" name="TextBox 2">
            <a:extLst>
              <a:ext uri="{FF2B5EF4-FFF2-40B4-BE49-F238E27FC236}">
                <a16:creationId xmlns:a16="http://schemas.microsoft.com/office/drawing/2014/main" id="{829B26A6-2F2F-E912-1BC8-37ED44F54858}"/>
              </a:ext>
            </a:extLst>
          </p:cNvPr>
          <p:cNvSpPr txBox="1"/>
          <p:nvPr/>
        </p:nvSpPr>
        <p:spPr>
          <a:xfrm>
            <a:off x="531628" y="763917"/>
            <a:ext cx="11197918" cy="2492990"/>
          </a:xfrm>
          <a:prstGeom prst="rect">
            <a:avLst/>
          </a:prstGeom>
          <a:noFill/>
        </p:spPr>
        <p:txBody>
          <a:bodyPr wrap="square">
            <a:spAutoFit/>
          </a:bodyPr>
          <a:lstStyle/>
          <a:p>
            <a:r>
              <a:rPr lang="en-US" sz="1400" dirty="0">
                <a:latin typeface="Arial" panose="020B0604020202020204" pitchFamily="34" charset="0"/>
                <a:cs typeface="Arial" panose="020B0604020202020204" pitchFamily="34" charset="0"/>
              </a:rPr>
              <a:t>Enfys reflectance sampling has been simulated to understand the </a:t>
            </a:r>
            <a:r>
              <a:rPr lang="en-US" sz="1400" b="1" dirty="0">
                <a:latin typeface="Arial" panose="020B0604020202020204" pitchFamily="34" charset="0"/>
                <a:cs typeface="Arial" panose="020B0604020202020204" pitchFamily="34" charset="0"/>
              </a:rPr>
              <a:t>difference</a:t>
            </a:r>
            <a:r>
              <a:rPr lang="en-US" sz="1400" dirty="0">
                <a:latin typeface="Arial" panose="020B0604020202020204" pitchFamily="34" charset="0"/>
                <a:cs typeface="Arial" panose="020B0604020202020204" pitchFamily="34" charset="0"/>
              </a:rPr>
              <a:t> in </a:t>
            </a:r>
            <a:r>
              <a:rPr lang="en-US" sz="1400" b="1" dirty="0">
                <a:latin typeface="Arial" panose="020B0604020202020204" pitchFamily="34" charset="0"/>
                <a:cs typeface="Arial" panose="020B0604020202020204" pitchFamily="34" charset="0"/>
              </a:rPr>
              <a:t>mineral discriminatory ability</a:t>
            </a:r>
            <a:r>
              <a:rPr lang="en-US" sz="1400" dirty="0">
                <a:latin typeface="Arial" panose="020B0604020202020204" pitchFamily="34" charset="0"/>
                <a:cs typeface="Arial" panose="020B0604020202020204" pitchFamily="34" charset="0"/>
              </a:rPr>
              <a:t> between an </a:t>
            </a:r>
            <a:r>
              <a:rPr lang="en-US" sz="1400" dirty="0" err="1">
                <a:latin typeface="Arial" panose="020B0604020202020204" pitchFamily="34" charset="0"/>
                <a:cs typeface="Arial" panose="020B0604020202020204" pitchFamily="34" charset="0"/>
              </a:rPr>
              <a:t>InAs</a:t>
            </a:r>
            <a:r>
              <a:rPr lang="en-US" sz="1400" dirty="0">
                <a:latin typeface="Arial" panose="020B0604020202020204" pitchFamily="34" charset="0"/>
                <a:cs typeface="Arial" panose="020B0604020202020204" pitchFamily="34" charset="0"/>
              </a:rPr>
              <a:t> (</a:t>
            </a:r>
            <a:r>
              <a:rPr lang="en-US" sz="1400" b="1" dirty="0">
                <a:latin typeface="Arial" panose="020B0604020202020204" pitchFamily="34" charset="0"/>
                <a:cs typeface="Arial" panose="020B0604020202020204" pitchFamily="34" charset="0"/>
              </a:rPr>
              <a:t>long-range, high-noise</a:t>
            </a:r>
            <a:r>
              <a:rPr lang="en-US" sz="1400" dirty="0">
                <a:latin typeface="Arial" panose="020B0604020202020204" pitchFamily="34" charset="0"/>
                <a:cs typeface="Arial" panose="020B0604020202020204" pitchFamily="34" charset="0"/>
              </a:rPr>
              <a:t>) and modified </a:t>
            </a:r>
            <a:r>
              <a:rPr lang="en-US" sz="1400" dirty="0" err="1">
                <a:latin typeface="Arial" panose="020B0604020202020204" pitchFamily="34" charset="0"/>
                <a:cs typeface="Arial" panose="020B0604020202020204" pitchFamily="34" charset="0"/>
              </a:rPr>
              <a:t>InGaAs</a:t>
            </a:r>
            <a:r>
              <a:rPr lang="en-US" sz="1400" dirty="0">
                <a:latin typeface="Arial" panose="020B0604020202020204" pitchFamily="34" charset="0"/>
                <a:cs typeface="Arial" panose="020B0604020202020204" pitchFamily="34" charset="0"/>
              </a:rPr>
              <a:t> (</a:t>
            </a:r>
            <a:r>
              <a:rPr lang="en-US" sz="1400" b="1" dirty="0">
                <a:latin typeface="Arial" panose="020B0604020202020204" pitchFamily="34" charset="0"/>
                <a:cs typeface="Arial" panose="020B0604020202020204" pitchFamily="34" charset="0"/>
              </a:rPr>
              <a:t>short-range, low-noise</a:t>
            </a:r>
            <a:r>
              <a:rPr lang="en-US" sz="1400" dirty="0">
                <a:latin typeface="Arial" panose="020B0604020202020204" pitchFamily="34" charset="0"/>
                <a:cs typeface="Arial" panose="020B0604020202020204" pitchFamily="34" charset="0"/>
              </a:rPr>
              <a:t>) Mid-Wave Infrared (MWIR) sensor.</a:t>
            </a:r>
          </a:p>
          <a:p>
            <a:endParaRPr lang="en-US" sz="1400" dirty="0">
              <a:latin typeface="Arial" panose="020B0604020202020204" pitchFamily="34" charset="0"/>
              <a:cs typeface="Arial" panose="020B0604020202020204" pitchFamily="34" charset="0"/>
            </a:endParaRPr>
          </a:p>
          <a:p>
            <a:r>
              <a:rPr lang="en-US" sz="1600" b="1" dirty="0">
                <a:latin typeface="Arial" panose="020B0604020202020204" pitchFamily="34" charset="0"/>
                <a:cs typeface="Arial" panose="020B0604020202020204" pitchFamily="34" charset="0"/>
              </a:rPr>
              <a:t>Simulations</a:t>
            </a:r>
          </a:p>
          <a:p>
            <a:r>
              <a:rPr lang="en-US" sz="1400" dirty="0">
                <a:latin typeface="Arial" panose="020B0604020202020204" pitchFamily="34" charset="0"/>
                <a:cs typeface="Arial" panose="020B0604020202020204" pitchFamily="34" charset="0"/>
              </a:rPr>
              <a:t>Reflectance sampling has been performed following these common steps:</a:t>
            </a:r>
          </a:p>
          <a:p>
            <a:pPr marL="342900" indent="-342900">
              <a:buFont typeface="+mj-lt"/>
              <a:buAutoNum type="arabicPeriod"/>
            </a:pPr>
            <a:r>
              <a:rPr lang="en-US" sz="1400" dirty="0">
                <a:latin typeface="Arial" panose="020B0604020202020204" pitchFamily="34" charset="0"/>
                <a:cs typeface="Arial" panose="020B0604020202020204" pitchFamily="34" charset="0"/>
              </a:rPr>
              <a:t>Sampling high resolution lab. mineral reflectance spectra with instrument response (taking </a:t>
            </a:r>
            <a:r>
              <a:rPr lang="en-US" sz="1400" dirty="0" err="1">
                <a:latin typeface="Arial" panose="020B0604020202020204" pitchFamily="34" charset="0"/>
                <a:cs typeface="Arial" panose="020B0604020202020204" pitchFamily="34" charset="0"/>
              </a:rPr>
              <a:t>norm’d</a:t>
            </a:r>
            <a:r>
              <a:rPr lang="en-US" sz="1400" dirty="0">
                <a:latin typeface="Arial" panose="020B0604020202020204" pitchFamily="34" charset="0"/>
                <a:cs typeface="Arial" panose="020B0604020202020204" pitchFamily="34" charset="0"/>
              </a:rPr>
              <a:t> integral product).</a:t>
            </a:r>
          </a:p>
          <a:p>
            <a:pPr marL="342900" indent="-342900">
              <a:buFont typeface="+mj-lt"/>
              <a:buAutoNum type="arabicPeriod"/>
            </a:pPr>
            <a:r>
              <a:rPr lang="en-US" sz="1400" dirty="0">
                <a:latin typeface="Arial" panose="020B0604020202020204" pitchFamily="34" charset="0"/>
                <a:cs typeface="Arial" panose="020B0604020202020204" pitchFamily="34" charset="0"/>
              </a:rPr>
              <a:t>Adding Gaussian noise according to the spectral Signal-to-Noise Ratio (SNR).</a:t>
            </a:r>
          </a:p>
          <a:p>
            <a:pPr marL="342900" indent="-342900">
              <a:buFont typeface="+mj-lt"/>
              <a:buAutoNum type="arabicPeriod"/>
            </a:pPr>
            <a:endParaRPr lang="en-US" sz="1400" dirty="0">
              <a:latin typeface="Arial" panose="020B0604020202020204" pitchFamily="34" charset="0"/>
              <a:cs typeface="Arial" panose="020B0604020202020204" pitchFamily="34" charset="0"/>
            </a:endParaRPr>
          </a:p>
          <a:p>
            <a:r>
              <a:rPr lang="en-US" sz="1400" dirty="0">
                <a:latin typeface="Arial" panose="020B0604020202020204" pitchFamily="34" charset="0"/>
                <a:cs typeface="Arial" panose="020B0604020202020204" pitchFamily="34" charset="0"/>
              </a:rPr>
              <a:t>Instrument response is simulated with a Cauchy distribution, with latest FWHM measurements of Enfys optics (Aber. Uni.).</a:t>
            </a:r>
          </a:p>
          <a:p>
            <a:endParaRPr lang="en-US" sz="1400" b="1" dirty="0">
              <a:latin typeface="Arial" panose="020B0604020202020204" pitchFamily="34" charset="0"/>
              <a:cs typeface="Arial" panose="020B0604020202020204" pitchFamily="34" charset="0"/>
            </a:endParaRPr>
          </a:p>
          <a:p>
            <a:r>
              <a:rPr lang="en-US" sz="1400" dirty="0">
                <a:latin typeface="Arial" panose="020B0604020202020204" pitchFamily="34" charset="0"/>
                <a:cs typeface="Arial" panose="020B0604020202020204" pitchFamily="34" charset="0"/>
              </a:rPr>
              <a:t>Spectral Signal-to-Noise Ratio data is taken from latest modelling results (Aber. Uni.).</a:t>
            </a:r>
          </a:p>
        </p:txBody>
      </p:sp>
      <p:grpSp>
        <p:nvGrpSpPr>
          <p:cNvPr id="18" name="Group 17">
            <a:extLst>
              <a:ext uri="{FF2B5EF4-FFF2-40B4-BE49-F238E27FC236}">
                <a16:creationId xmlns:a16="http://schemas.microsoft.com/office/drawing/2014/main" id="{7F9CDFCE-AC46-8623-A60A-395663B9C14E}"/>
              </a:ext>
            </a:extLst>
          </p:cNvPr>
          <p:cNvGrpSpPr/>
          <p:nvPr/>
        </p:nvGrpSpPr>
        <p:grpSpPr>
          <a:xfrm>
            <a:off x="618931" y="3744378"/>
            <a:ext cx="8978349" cy="2472429"/>
            <a:chOff x="576889" y="2666919"/>
            <a:chExt cx="15247597" cy="4198834"/>
          </a:xfrm>
        </p:grpSpPr>
        <p:pic>
          <p:nvPicPr>
            <p:cNvPr id="4" name="Picture 3">
              <a:extLst>
                <a:ext uri="{FF2B5EF4-FFF2-40B4-BE49-F238E27FC236}">
                  <a16:creationId xmlns:a16="http://schemas.microsoft.com/office/drawing/2014/main" id="{A0B69AEE-BD74-C05F-2DC1-8E0DAE569AB1}"/>
                </a:ext>
              </a:extLst>
            </p:cNvPr>
            <p:cNvPicPr>
              <a:picLocks noChangeAspect="1"/>
            </p:cNvPicPr>
            <p:nvPr/>
          </p:nvPicPr>
          <p:blipFill>
            <a:blip r:embed="rId3"/>
            <a:srcRect t="5703"/>
            <a:stretch>
              <a:fillRect/>
            </a:stretch>
          </p:blipFill>
          <p:spPr>
            <a:xfrm>
              <a:off x="576889" y="3274020"/>
              <a:ext cx="3298337" cy="3236869"/>
            </a:xfrm>
            <a:prstGeom prst="rect">
              <a:avLst/>
            </a:prstGeom>
          </p:spPr>
        </p:pic>
        <p:pic>
          <p:nvPicPr>
            <p:cNvPr id="5" name="Picture 4">
              <a:extLst>
                <a:ext uri="{FF2B5EF4-FFF2-40B4-BE49-F238E27FC236}">
                  <a16:creationId xmlns:a16="http://schemas.microsoft.com/office/drawing/2014/main" id="{92A1EAC7-71C7-777F-8844-479DDA89F33A}"/>
                </a:ext>
              </a:extLst>
            </p:cNvPr>
            <p:cNvPicPr>
              <a:picLocks noChangeAspect="1"/>
            </p:cNvPicPr>
            <p:nvPr/>
          </p:nvPicPr>
          <p:blipFill>
            <a:blip r:embed="rId4"/>
            <a:srcRect t="5703" r="7631"/>
            <a:stretch>
              <a:fillRect/>
            </a:stretch>
          </p:blipFill>
          <p:spPr>
            <a:xfrm>
              <a:off x="7759482" y="3274020"/>
              <a:ext cx="4309001" cy="3306372"/>
            </a:xfrm>
            <a:prstGeom prst="rect">
              <a:avLst/>
            </a:prstGeom>
          </p:spPr>
        </p:pic>
        <p:pic>
          <p:nvPicPr>
            <p:cNvPr id="6" name="Picture 5">
              <a:extLst>
                <a:ext uri="{FF2B5EF4-FFF2-40B4-BE49-F238E27FC236}">
                  <a16:creationId xmlns:a16="http://schemas.microsoft.com/office/drawing/2014/main" id="{48831D72-AE1E-3FF7-2DF7-A5F2959D9E7A}"/>
                </a:ext>
              </a:extLst>
            </p:cNvPr>
            <p:cNvPicPr>
              <a:picLocks noChangeAspect="1"/>
            </p:cNvPicPr>
            <p:nvPr/>
          </p:nvPicPr>
          <p:blipFill>
            <a:blip r:embed="rId5"/>
            <a:srcRect t="8975" b="10165"/>
            <a:stretch>
              <a:fillRect/>
            </a:stretch>
          </p:blipFill>
          <p:spPr>
            <a:xfrm>
              <a:off x="4003727" y="3274021"/>
              <a:ext cx="4309001" cy="3591732"/>
            </a:xfrm>
            <a:prstGeom prst="rect">
              <a:avLst/>
            </a:prstGeom>
          </p:spPr>
        </p:pic>
        <p:sp>
          <p:nvSpPr>
            <p:cNvPr id="7" name="Right Arrow 6">
              <a:extLst>
                <a:ext uri="{FF2B5EF4-FFF2-40B4-BE49-F238E27FC236}">
                  <a16:creationId xmlns:a16="http://schemas.microsoft.com/office/drawing/2014/main" id="{20FDAB12-6635-28FD-821A-3E5C872793D5}"/>
                </a:ext>
              </a:extLst>
            </p:cNvPr>
            <p:cNvSpPr/>
            <p:nvPr/>
          </p:nvSpPr>
          <p:spPr>
            <a:xfrm>
              <a:off x="7946066" y="4482246"/>
              <a:ext cx="433172" cy="152223"/>
            </a:xfrm>
            <a:prstGeom prst="rightArrow">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Oval 7">
              <a:extLst>
                <a:ext uri="{FF2B5EF4-FFF2-40B4-BE49-F238E27FC236}">
                  <a16:creationId xmlns:a16="http://schemas.microsoft.com/office/drawing/2014/main" id="{11BE2175-D3EC-AB58-42D7-4ED248252288}"/>
                </a:ext>
              </a:extLst>
            </p:cNvPr>
            <p:cNvSpPr>
              <a:spLocks/>
            </p:cNvSpPr>
            <p:nvPr/>
          </p:nvSpPr>
          <p:spPr>
            <a:xfrm>
              <a:off x="3972840" y="4377749"/>
              <a:ext cx="177940" cy="177940"/>
            </a:xfrm>
            <a:prstGeom prst="ellipse">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5" name="Picture 14">
              <a:extLst>
                <a:ext uri="{FF2B5EF4-FFF2-40B4-BE49-F238E27FC236}">
                  <a16:creationId xmlns:a16="http://schemas.microsoft.com/office/drawing/2014/main" id="{789C9145-EE7F-8541-E0CF-DCD97B713EEE}"/>
                </a:ext>
              </a:extLst>
            </p:cNvPr>
            <p:cNvPicPr>
              <a:picLocks noChangeAspect="1"/>
            </p:cNvPicPr>
            <p:nvPr/>
          </p:nvPicPr>
          <p:blipFill>
            <a:blip r:embed="rId6"/>
            <a:stretch>
              <a:fillRect/>
            </a:stretch>
          </p:blipFill>
          <p:spPr>
            <a:xfrm>
              <a:off x="9913982" y="2671011"/>
              <a:ext cx="688400" cy="233677"/>
            </a:xfrm>
            <a:prstGeom prst="rect">
              <a:avLst/>
            </a:prstGeom>
          </p:spPr>
        </p:pic>
        <p:pic>
          <p:nvPicPr>
            <p:cNvPr id="16" name="Picture 15">
              <a:extLst>
                <a:ext uri="{FF2B5EF4-FFF2-40B4-BE49-F238E27FC236}">
                  <a16:creationId xmlns:a16="http://schemas.microsoft.com/office/drawing/2014/main" id="{7CC31CAC-A073-40D7-8742-2342E52DC80F}"/>
                </a:ext>
              </a:extLst>
            </p:cNvPr>
            <p:cNvPicPr>
              <a:picLocks noChangeAspect="1"/>
            </p:cNvPicPr>
            <p:nvPr/>
          </p:nvPicPr>
          <p:blipFill>
            <a:blip r:embed="rId7"/>
            <a:stretch>
              <a:fillRect/>
            </a:stretch>
          </p:blipFill>
          <p:spPr>
            <a:xfrm>
              <a:off x="2063948" y="2666919"/>
              <a:ext cx="462683" cy="237768"/>
            </a:xfrm>
            <a:prstGeom prst="rect">
              <a:avLst/>
            </a:prstGeom>
          </p:spPr>
        </p:pic>
        <p:pic>
          <p:nvPicPr>
            <p:cNvPr id="17" name="Picture 16">
              <a:extLst>
                <a:ext uri="{FF2B5EF4-FFF2-40B4-BE49-F238E27FC236}">
                  <a16:creationId xmlns:a16="http://schemas.microsoft.com/office/drawing/2014/main" id="{6F013D6D-EFF0-B56E-DF61-D08262B1B1B2}"/>
                </a:ext>
              </a:extLst>
            </p:cNvPr>
            <p:cNvPicPr>
              <a:picLocks noChangeAspect="1"/>
            </p:cNvPicPr>
            <p:nvPr/>
          </p:nvPicPr>
          <p:blipFill>
            <a:blip r:embed="rId8"/>
            <a:stretch>
              <a:fillRect/>
            </a:stretch>
          </p:blipFill>
          <p:spPr>
            <a:xfrm>
              <a:off x="5726551" y="2671011"/>
              <a:ext cx="933542" cy="234973"/>
            </a:xfrm>
            <a:prstGeom prst="rect">
              <a:avLst/>
            </a:prstGeom>
          </p:spPr>
        </p:pic>
        <p:sp>
          <p:nvSpPr>
            <p:cNvPr id="21" name="Cross 20">
              <a:extLst>
                <a:ext uri="{FF2B5EF4-FFF2-40B4-BE49-F238E27FC236}">
                  <a16:creationId xmlns:a16="http://schemas.microsoft.com/office/drawing/2014/main" id="{93015048-E94E-7DAD-6D4C-88BC17984AD1}"/>
                </a:ext>
              </a:extLst>
            </p:cNvPr>
            <p:cNvSpPr>
              <a:spLocks/>
            </p:cNvSpPr>
            <p:nvPr/>
          </p:nvSpPr>
          <p:spPr>
            <a:xfrm>
              <a:off x="11708564" y="4269298"/>
              <a:ext cx="572783" cy="572783"/>
            </a:xfrm>
            <a:prstGeom prst="plus">
              <a:avLst>
                <a:gd name="adj" fmla="val 42961"/>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ight Arrow 21">
              <a:extLst>
                <a:ext uri="{FF2B5EF4-FFF2-40B4-BE49-F238E27FC236}">
                  <a16:creationId xmlns:a16="http://schemas.microsoft.com/office/drawing/2014/main" id="{E192A7B9-7588-F7FC-342B-B8D7F3A04AC7}"/>
                </a:ext>
              </a:extLst>
            </p:cNvPr>
            <p:cNvSpPr/>
            <p:nvPr/>
          </p:nvSpPr>
          <p:spPr>
            <a:xfrm>
              <a:off x="15391313" y="4418280"/>
              <a:ext cx="433173" cy="152224"/>
            </a:xfrm>
            <a:prstGeom prst="rightArrow">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19" name="Picture 18">
            <a:extLst>
              <a:ext uri="{FF2B5EF4-FFF2-40B4-BE49-F238E27FC236}">
                <a16:creationId xmlns:a16="http://schemas.microsoft.com/office/drawing/2014/main" id="{70B81AD3-48E8-31DD-642A-40B7D8761336}"/>
              </a:ext>
            </a:extLst>
          </p:cNvPr>
          <p:cNvPicPr>
            <a:picLocks noChangeAspect="1"/>
          </p:cNvPicPr>
          <p:nvPr/>
        </p:nvPicPr>
        <p:blipFill>
          <a:blip r:embed="rId9"/>
          <a:srcRect l="17274" t="5515" r="16304"/>
          <a:stretch>
            <a:fillRect/>
          </a:stretch>
        </p:blipFill>
        <p:spPr>
          <a:xfrm>
            <a:off x="9601732" y="4040883"/>
            <a:ext cx="2219002" cy="2027946"/>
          </a:xfrm>
          <a:prstGeom prst="rect">
            <a:avLst/>
          </a:prstGeom>
        </p:spPr>
      </p:pic>
      <p:pic>
        <p:nvPicPr>
          <p:cNvPr id="24" name="Picture 23">
            <a:extLst>
              <a:ext uri="{FF2B5EF4-FFF2-40B4-BE49-F238E27FC236}">
                <a16:creationId xmlns:a16="http://schemas.microsoft.com/office/drawing/2014/main" id="{12272ADC-A8FF-E106-A7AB-742BADD51043}"/>
              </a:ext>
            </a:extLst>
          </p:cNvPr>
          <p:cNvPicPr>
            <a:picLocks noChangeAspect="1"/>
          </p:cNvPicPr>
          <p:nvPr/>
        </p:nvPicPr>
        <p:blipFill>
          <a:blip r:embed="rId10"/>
          <a:stretch>
            <a:fillRect/>
          </a:stretch>
        </p:blipFill>
        <p:spPr>
          <a:xfrm>
            <a:off x="10550711" y="3734826"/>
            <a:ext cx="549704" cy="216856"/>
          </a:xfrm>
          <a:prstGeom prst="rect">
            <a:avLst/>
          </a:prstGeom>
        </p:spPr>
      </p:pic>
      <p:pic>
        <p:nvPicPr>
          <p:cNvPr id="25" name="Picture 24">
            <a:extLst>
              <a:ext uri="{FF2B5EF4-FFF2-40B4-BE49-F238E27FC236}">
                <a16:creationId xmlns:a16="http://schemas.microsoft.com/office/drawing/2014/main" id="{623D3649-487A-86D7-A257-20A19BE5DCE2}"/>
              </a:ext>
            </a:extLst>
          </p:cNvPr>
          <p:cNvPicPr>
            <a:picLocks noChangeAspect="1"/>
          </p:cNvPicPr>
          <p:nvPr/>
        </p:nvPicPr>
        <p:blipFill>
          <a:blip r:embed="rId11"/>
          <a:stretch>
            <a:fillRect/>
          </a:stretch>
        </p:blipFill>
        <p:spPr>
          <a:xfrm>
            <a:off x="8214153" y="3744378"/>
            <a:ext cx="653214" cy="156941"/>
          </a:xfrm>
          <a:prstGeom prst="rect">
            <a:avLst/>
          </a:prstGeom>
        </p:spPr>
      </p:pic>
    </p:spTree>
    <p:extLst>
      <p:ext uri="{BB962C8B-B14F-4D97-AF65-F5344CB8AC3E}">
        <p14:creationId xmlns:p14="http://schemas.microsoft.com/office/powerpoint/2010/main" val="120048782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601C2C-F95A-4F70-9FBF-F804A4537D4A}"/>
            </a:ext>
          </a:extLst>
        </p:cNvPr>
        <p:cNvGrpSpPr/>
        <p:nvPr/>
      </p:nvGrpSpPr>
      <p:grpSpPr>
        <a:xfrm>
          <a:off x="0" y="0"/>
          <a:ext cx="0" cy="0"/>
          <a:chOff x="0" y="0"/>
          <a:chExt cx="0" cy="0"/>
        </a:xfrm>
      </p:grpSpPr>
      <p:sp>
        <p:nvSpPr>
          <p:cNvPr id="12" name="TextBox 11">
            <a:extLst>
              <a:ext uri="{FF2B5EF4-FFF2-40B4-BE49-F238E27FC236}">
                <a16:creationId xmlns:a16="http://schemas.microsoft.com/office/drawing/2014/main" id="{038CA00A-16C4-5A0B-EF5A-279A0914D455}"/>
              </a:ext>
            </a:extLst>
          </p:cNvPr>
          <p:cNvSpPr txBox="1"/>
          <p:nvPr/>
        </p:nvSpPr>
        <p:spPr>
          <a:xfrm>
            <a:off x="531627" y="389633"/>
            <a:ext cx="8528290" cy="369332"/>
          </a:xfrm>
          <a:prstGeom prst="rect">
            <a:avLst/>
          </a:prstGeom>
          <a:noFill/>
        </p:spPr>
        <p:txBody>
          <a:bodyPr wrap="square" rtlCol="0">
            <a:spAutoFit/>
          </a:bodyPr>
          <a:lstStyle/>
          <a:p>
            <a:r>
              <a:rPr lang="en-GB" b="1" dirty="0">
                <a:latin typeface="Arial" panose="020B0604020202020204" pitchFamily="34" charset="0"/>
                <a:cs typeface="Arial" panose="020B0604020202020204" pitchFamily="34" charset="0"/>
              </a:rPr>
              <a:t>Exec. Summary of Enfys </a:t>
            </a:r>
            <a:r>
              <a:rPr lang="en-GB" b="1" dirty="0" err="1">
                <a:latin typeface="Arial" panose="020B0604020202020204" pitchFamily="34" charset="0"/>
                <a:cs typeface="Arial" panose="020B0604020202020204" pitchFamily="34" charset="0"/>
              </a:rPr>
              <a:t>InAs</a:t>
            </a:r>
            <a:r>
              <a:rPr lang="en-GB" b="1" dirty="0">
                <a:latin typeface="Arial" panose="020B0604020202020204" pitchFamily="34" charset="0"/>
                <a:cs typeface="Arial" panose="020B0604020202020204" pitchFamily="34" charset="0"/>
              </a:rPr>
              <a:t> vs </a:t>
            </a:r>
            <a:r>
              <a:rPr lang="en-GB" b="1" dirty="0" err="1">
                <a:latin typeface="Arial" panose="020B0604020202020204" pitchFamily="34" charset="0"/>
                <a:cs typeface="Arial" panose="020B0604020202020204" pitchFamily="34" charset="0"/>
              </a:rPr>
              <a:t>InGaAs</a:t>
            </a:r>
            <a:r>
              <a:rPr lang="en-GB" b="1" dirty="0">
                <a:latin typeface="Arial" panose="020B0604020202020204" pitchFamily="34" charset="0"/>
                <a:cs typeface="Arial" panose="020B0604020202020204" pitchFamily="34" charset="0"/>
              </a:rPr>
              <a:t> Sensor Simulations &amp; Evaluation</a:t>
            </a:r>
          </a:p>
        </p:txBody>
      </p:sp>
      <p:sp>
        <p:nvSpPr>
          <p:cNvPr id="3" name="TextBox 2">
            <a:extLst>
              <a:ext uri="{FF2B5EF4-FFF2-40B4-BE49-F238E27FC236}">
                <a16:creationId xmlns:a16="http://schemas.microsoft.com/office/drawing/2014/main" id="{E1F57747-A8D4-05D0-3885-E336405F2A87}"/>
              </a:ext>
            </a:extLst>
          </p:cNvPr>
          <p:cNvSpPr txBox="1"/>
          <p:nvPr/>
        </p:nvSpPr>
        <p:spPr>
          <a:xfrm>
            <a:off x="531627" y="738974"/>
            <a:ext cx="11197918" cy="2031325"/>
          </a:xfrm>
          <a:prstGeom prst="rect">
            <a:avLst/>
          </a:prstGeom>
          <a:noFill/>
        </p:spPr>
        <p:txBody>
          <a:bodyPr wrap="square">
            <a:spAutoFit/>
          </a:bodyPr>
          <a:lstStyle/>
          <a:p>
            <a:r>
              <a:rPr lang="en-US" sz="1400" b="1" dirty="0">
                <a:latin typeface="Arial" panose="020B0604020202020204" pitchFamily="34" charset="0"/>
                <a:cs typeface="Arial" panose="020B0604020202020204" pitchFamily="34" charset="0"/>
              </a:rPr>
              <a:t>Evaluation</a:t>
            </a:r>
          </a:p>
          <a:p>
            <a:r>
              <a:rPr lang="en-US" sz="1400" dirty="0">
                <a:latin typeface="Arial" panose="020B0604020202020204" pitchFamily="34" charset="0"/>
                <a:cs typeface="Arial" panose="020B0604020202020204" pitchFamily="34" charset="0"/>
              </a:rPr>
              <a:t>The discriminatory ability for a given mineral is evaluated using the Spectral Angle, between a noisy spectrum of the mineral and the clean spectrum of each mineral of the MICA files set.</a:t>
            </a:r>
          </a:p>
          <a:p>
            <a:endParaRPr lang="en-US" sz="1400" dirty="0">
              <a:latin typeface="Arial" panose="020B0604020202020204" pitchFamily="34" charset="0"/>
              <a:cs typeface="Arial" panose="020B0604020202020204" pitchFamily="34" charset="0"/>
            </a:endParaRPr>
          </a:p>
          <a:p>
            <a:r>
              <a:rPr lang="en-US" sz="1400" dirty="0">
                <a:latin typeface="Arial" panose="020B0604020202020204" pitchFamily="34" charset="0"/>
                <a:cs typeface="Arial" panose="020B0604020202020204" pitchFamily="34" charset="0"/>
              </a:rPr>
              <a:t>The uncertainty on the Spectral Angle is computed by repeatedly drawing 128 independent noisy samples of the mineral spectrum, to give the standard deviation on the mean Spectral Angle (of the given mineral against each mineral of the MICA files).</a:t>
            </a:r>
          </a:p>
          <a:p>
            <a:endParaRPr lang="en-US" sz="1400" dirty="0">
              <a:latin typeface="Arial" panose="020B0604020202020204" pitchFamily="34" charset="0"/>
              <a:cs typeface="Arial" panose="020B0604020202020204" pitchFamily="34" charset="0"/>
            </a:endParaRPr>
          </a:p>
          <a:p>
            <a:r>
              <a:rPr lang="en-US" sz="1400" dirty="0">
                <a:latin typeface="Arial" panose="020B0604020202020204" pitchFamily="34" charset="0"/>
                <a:cs typeface="Arial" panose="020B0604020202020204" pitchFamily="34" charset="0"/>
              </a:rPr>
              <a:t>The ability of the instrument spectral range and noise conditions to discriminate the given mineral is evaluated as the Fisher Ratio – the ratio of the difference between the 2 lowest spectral angles and the total variance of these spectral angles.</a:t>
            </a:r>
          </a:p>
        </p:txBody>
      </p:sp>
      <p:grpSp>
        <p:nvGrpSpPr>
          <p:cNvPr id="34" name="Group 33">
            <a:extLst>
              <a:ext uri="{FF2B5EF4-FFF2-40B4-BE49-F238E27FC236}">
                <a16:creationId xmlns:a16="http://schemas.microsoft.com/office/drawing/2014/main" id="{53BBCFCF-9365-45AD-67A2-E40F4CCEEABD}"/>
              </a:ext>
            </a:extLst>
          </p:cNvPr>
          <p:cNvGrpSpPr/>
          <p:nvPr/>
        </p:nvGrpSpPr>
        <p:grpSpPr>
          <a:xfrm>
            <a:off x="-237851" y="2786364"/>
            <a:ext cx="3774481" cy="4647921"/>
            <a:chOff x="0" y="2719989"/>
            <a:chExt cx="3774481" cy="4647921"/>
          </a:xfrm>
        </p:grpSpPr>
        <p:grpSp>
          <p:nvGrpSpPr>
            <p:cNvPr id="24" name="Group 23">
              <a:extLst>
                <a:ext uri="{FF2B5EF4-FFF2-40B4-BE49-F238E27FC236}">
                  <a16:creationId xmlns:a16="http://schemas.microsoft.com/office/drawing/2014/main" id="{9D0995B9-B515-178D-145F-6979CEAE47F1}"/>
                </a:ext>
              </a:extLst>
            </p:cNvPr>
            <p:cNvGrpSpPr/>
            <p:nvPr/>
          </p:nvGrpSpPr>
          <p:grpSpPr>
            <a:xfrm>
              <a:off x="0" y="2719989"/>
              <a:ext cx="3774481" cy="3379046"/>
              <a:chOff x="7561585" y="1521302"/>
              <a:chExt cx="3774481" cy="3379046"/>
            </a:xfrm>
          </p:grpSpPr>
          <p:cxnSp>
            <p:nvCxnSpPr>
              <p:cNvPr id="25" name="Straight Arrow Connector 24">
                <a:extLst>
                  <a:ext uri="{FF2B5EF4-FFF2-40B4-BE49-F238E27FC236}">
                    <a16:creationId xmlns:a16="http://schemas.microsoft.com/office/drawing/2014/main" id="{FEA02FB6-19CB-7257-CC4B-6B848DAB50C6}"/>
                  </a:ext>
                </a:extLst>
              </p:cNvPr>
              <p:cNvCxnSpPr>
                <a:cxnSpLocks/>
              </p:cNvCxnSpPr>
              <p:nvPr/>
            </p:nvCxnSpPr>
            <p:spPr>
              <a:xfrm flipV="1">
                <a:off x="8414064" y="1915872"/>
                <a:ext cx="1252603" cy="2041742"/>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6" name="Straight Arrow Connector 25">
                <a:extLst>
                  <a:ext uri="{FF2B5EF4-FFF2-40B4-BE49-F238E27FC236}">
                    <a16:creationId xmlns:a16="http://schemas.microsoft.com/office/drawing/2014/main" id="{3AC47592-3F96-D7A6-1AB2-BBD9923E1523}"/>
                  </a:ext>
                </a:extLst>
              </p:cNvPr>
              <p:cNvCxnSpPr>
                <a:cxnSpLocks/>
              </p:cNvCxnSpPr>
              <p:nvPr/>
            </p:nvCxnSpPr>
            <p:spPr>
              <a:xfrm flipV="1">
                <a:off x="8414064" y="2664302"/>
                <a:ext cx="2467628" cy="1293312"/>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pic>
            <p:nvPicPr>
              <p:cNvPr id="27" name="Picture 26">
                <a:extLst>
                  <a:ext uri="{FF2B5EF4-FFF2-40B4-BE49-F238E27FC236}">
                    <a16:creationId xmlns:a16="http://schemas.microsoft.com/office/drawing/2014/main" id="{6B48AD19-C5F9-1658-138A-4D47157BC1E1}"/>
                  </a:ext>
                </a:extLst>
              </p:cNvPr>
              <p:cNvPicPr>
                <a:picLocks noChangeAspect="1"/>
              </p:cNvPicPr>
              <p:nvPr/>
            </p:nvPicPr>
            <p:blipFill>
              <a:blip r:embed="rId2"/>
              <a:stretch>
                <a:fillRect/>
              </a:stretch>
            </p:blipFill>
            <p:spPr>
              <a:xfrm>
                <a:off x="9673103" y="1521302"/>
                <a:ext cx="378912" cy="378912"/>
              </a:xfrm>
              <a:prstGeom prst="rect">
                <a:avLst/>
              </a:prstGeom>
            </p:spPr>
          </p:pic>
          <p:pic>
            <p:nvPicPr>
              <p:cNvPr id="28" name="Picture 27">
                <a:extLst>
                  <a:ext uri="{FF2B5EF4-FFF2-40B4-BE49-F238E27FC236}">
                    <a16:creationId xmlns:a16="http://schemas.microsoft.com/office/drawing/2014/main" id="{E4CEA317-CBC1-0361-97EE-7154E2EFFFF7}"/>
                  </a:ext>
                </a:extLst>
              </p:cNvPr>
              <p:cNvPicPr>
                <a:picLocks noChangeAspect="1"/>
              </p:cNvPicPr>
              <p:nvPr/>
            </p:nvPicPr>
            <p:blipFill>
              <a:blip r:embed="rId3"/>
              <a:stretch>
                <a:fillRect/>
              </a:stretch>
            </p:blipFill>
            <p:spPr>
              <a:xfrm>
                <a:off x="10963921" y="2426620"/>
                <a:ext cx="372145" cy="326761"/>
              </a:xfrm>
              <a:prstGeom prst="rect">
                <a:avLst/>
              </a:prstGeom>
            </p:spPr>
          </p:pic>
          <p:sp>
            <p:nvSpPr>
              <p:cNvPr id="29" name="Arc 28">
                <a:extLst>
                  <a:ext uri="{FF2B5EF4-FFF2-40B4-BE49-F238E27FC236}">
                    <a16:creationId xmlns:a16="http://schemas.microsoft.com/office/drawing/2014/main" id="{A9AADF0B-A604-F118-0926-12EC21508617}"/>
                  </a:ext>
                </a:extLst>
              </p:cNvPr>
              <p:cNvSpPr/>
              <p:nvPr/>
            </p:nvSpPr>
            <p:spPr>
              <a:xfrm>
                <a:off x="7561585" y="3152035"/>
                <a:ext cx="1748313" cy="1748313"/>
              </a:xfrm>
              <a:prstGeom prst="arc">
                <a:avLst>
                  <a:gd name="adj1" fmla="val 17885930"/>
                  <a:gd name="adj2" fmla="val 19655183"/>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n-GB"/>
              </a:p>
            </p:txBody>
          </p:sp>
          <p:sp>
            <p:nvSpPr>
              <p:cNvPr id="30" name="Arc 29">
                <a:extLst>
                  <a:ext uri="{FF2B5EF4-FFF2-40B4-BE49-F238E27FC236}">
                    <a16:creationId xmlns:a16="http://schemas.microsoft.com/office/drawing/2014/main" id="{B03611BD-98A3-A896-451C-31F84F54DC97}"/>
                  </a:ext>
                </a:extLst>
              </p:cNvPr>
              <p:cNvSpPr/>
              <p:nvPr/>
            </p:nvSpPr>
            <p:spPr>
              <a:xfrm>
                <a:off x="8799015" y="1940925"/>
                <a:ext cx="1098937" cy="1293312"/>
              </a:xfrm>
              <a:prstGeom prst="arc">
                <a:avLst>
                  <a:gd name="adj1" fmla="val 16331757"/>
                  <a:gd name="adj2" fmla="val 18943298"/>
                </a:avLst>
              </a:prstGeom>
              <a:ln>
                <a:headEnd type="triangle" w="med" len="med"/>
                <a:tailEnd type="triangle" w="med" len="med"/>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GB"/>
              </a:p>
            </p:txBody>
          </p:sp>
          <p:pic>
            <p:nvPicPr>
              <p:cNvPr id="31" name="Picture 30">
                <a:extLst>
                  <a:ext uri="{FF2B5EF4-FFF2-40B4-BE49-F238E27FC236}">
                    <a16:creationId xmlns:a16="http://schemas.microsoft.com/office/drawing/2014/main" id="{117E3FB1-506D-C545-E239-E760D8A5597A}"/>
                  </a:ext>
                </a:extLst>
              </p:cNvPr>
              <p:cNvPicPr>
                <a:picLocks noChangeAspect="1"/>
              </p:cNvPicPr>
              <p:nvPr/>
            </p:nvPicPr>
            <p:blipFill>
              <a:blip r:embed="rId4"/>
              <a:stretch>
                <a:fillRect/>
              </a:stretch>
            </p:blipFill>
            <p:spPr>
              <a:xfrm>
                <a:off x="9819860" y="2121277"/>
                <a:ext cx="137518" cy="110014"/>
              </a:xfrm>
              <a:prstGeom prst="rect">
                <a:avLst/>
              </a:prstGeom>
            </p:spPr>
          </p:pic>
          <p:pic>
            <p:nvPicPr>
              <p:cNvPr id="32" name="Picture 31">
                <a:extLst>
                  <a:ext uri="{FF2B5EF4-FFF2-40B4-BE49-F238E27FC236}">
                    <a16:creationId xmlns:a16="http://schemas.microsoft.com/office/drawing/2014/main" id="{924FD721-3C64-A351-03C5-E5D1FD6605DE}"/>
                  </a:ext>
                </a:extLst>
              </p:cNvPr>
              <p:cNvPicPr>
                <a:picLocks noChangeAspect="1"/>
              </p:cNvPicPr>
              <p:nvPr/>
            </p:nvPicPr>
            <p:blipFill>
              <a:blip r:embed="rId5"/>
              <a:stretch>
                <a:fillRect/>
              </a:stretch>
            </p:blipFill>
            <p:spPr>
              <a:xfrm rot="19800000">
                <a:off x="9040879" y="2949117"/>
                <a:ext cx="1029812" cy="297680"/>
              </a:xfrm>
              <a:prstGeom prst="rect">
                <a:avLst/>
              </a:prstGeom>
            </p:spPr>
          </p:pic>
        </p:grpSp>
        <p:sp>
          <p:nvSpPr>
            <p:cNvPr id="33" name="Pie 32">
              <a:extLst>
                <a:ext uri="{FF2B5EF4-FFF2-40B4-BE49-F238E27FC236}">
                  <a16:creationId xmlns:a16="http://schemas.microsoft.com/office/drawing/2014/main" id="{DEBBEA9B-1F6B-FF4F-18C9-01C2F9B44618}"/>
                </a:ext>
              </a:extLst>
            </p:cNvPr>
            <p:cNvSpPr/>
            <p:nvPr/>
          </p:nvSpPr>
          <p:spPr>
            <a:xfrm rot="1934214">
              <a:off x="58916" y="2944692"/>
              <a:ext cx="1587949" cy="4423218"/>
            </a:xfrm>
            <a:prstGeom prst="pie">
              <a:avLst>
                <a:gd name="adj1" fmla="val 15856823"/>
                <a:gd name="adj2" fmla="val 16463190"/>
              </a:avLst>
            </a:prstGeom>
            <a:solidFill>
              <a:srgbClr val="156082">
                <a:alpha val="50980"/>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grpSp>
      <p:pic>
        <p:nvPicPr>
          <p:cNvPr id="35" name="Picture 34">
            <a:extLst>
              <a:ext uri="{FF2B5EF4-FFF2-40B4-BE49-F238E27FC236}">
                <a16:creationId xmlns:a16="http://schemas.microsoft.com/office/drawing/2014/main" id="{AB121336-E2F0-1BAF-8327-35ECEEBC8213}"/>
              </a:ext>
            </a:extLst>
          </p:cNvPr>
          <p:cNvPicPr>
            <a:picLocks noChangeAspect="1"/>
          </p:cNvPicPr>
          <p:nvPr/>
        </p:nvPicPr>
        <p:blipFill>
          <a:blip r:embed="rId6"/>
          <a:stretch>
            <a:fillRect/>
          </a:stretch>
        </p:blipFill>
        <p:spPr>
          <a:xfrm>
            <a:off x="686163" y="5172536"/>
            <a:ext cx="2467628" cy="848517"/>
          </a:xfrm>
          <a:prstGeom prst="rect">
            <a:avLst/>
          </a:prstGeom>
        </p:spPr>
      </p:pic>
      <p:pic>
        <p:nvPicPr>
          <p:cNvPr id="50" name="Picture 49">
            <a:extLst>
              <a:ext uri="{FF2B5EF4-FFF2-40B4-BE49-F238E27FC236}">
                <a16:creationId xmlns:a16="http://schemas.microsoft.com/office/drawing/2014/main" id="{30B83948-977F-70BE-50B8-DFFDD7D39E9D}"/>
              </a:ext>
            </a:extLst>
          </p:cNvPr>
          <p:cNvPicPr>
            <a:picLocks noChangeAspect="1"/>
          </p:cNvPicPr>
          <p:nvPr/>
        </p:nvPicPr>
        <p:blipFill>
          <a:blip r:embed="rId7"/>
          <a:stretch>
            <a:fillRect/>
          </a:stretch>
        </p:blipFill>
        <p:spPr>
          <a:xfrm>
            <a:off x="4100210" y="4906619"/>
            <a:ext cx="2085450" cy="326349"/>
          </a:xfrm>
          <a:prstGeom prst="rect">
            <a:avLst/>
          </a:prstGeom>
        </p:spPr>
      </p:pic>
      <p:pic>
        <p:nvPicPr>
          <p:cNvPr id="51" name="Picture 50">
            <a:extLst>
              <a:ext uri="{FF2B5EF4-FFF2-40B4-BE49-F238E27FC236}">
                <a16:creationId xmlns:a16="http://schemas.microsoft.com/office/drawing/2014/main" id="{C76AD1BB-E63C-63FC-BEB4-2785A3E3D7DB}"/>
              </a:ext>
            </a:extLst>
          </p:cNvPr>
          <p:cNvPicPr>
            <a:picLocks noChangeAspect="1"/>
          </p:cNvPicPr>
          <p:nvPr/>
        </p:nvPicPr>
        <p:blipFill>
          <a:blip r:embed="rId8"/>
          <a:stretch>
            <a:fillRect/>
          </a:stretch>
        </p:blipFill>
        <p:spPr>
          <a:xfrm>
            <a:off x="5941681" y="5943686"/>
            <a:ext cx="963613" cy="214136"/>
          </a:xfrm>
          <a:prstGeom prst="rect">
            <a:avLst/>
          </a:prstGeom>
        </p:spPr>
      </p:pic>
      <p:grpSp>
        <p:nvGrpSpPr>
          <p:cNvPr id="56" name="Group 55">
            <a:extLst>
              <a:ext uri="{FF2B5EF4-FFF2-40B4-BE49-F238E27FC236}">
                <a16:creationId xmlns:a16="http://schemas.microsoft.com/office/drawing/2014/main" id="{5A0E5014-270F-6E98-DAE2-9CEC228E53BB}"/>
              </a:ext>
            </a:extLst>
          </p:cNvPr>
          <p:cNvGrpSpPr/>
          <p:nvPr/>
        </p:nvGrpSpPr>
        <p:grpSpPr>
          <a:xfrm>
            <a:off x="3857429" y="3205557"/>
            <a:ext cx="4228436" cy="2577820"/>
            <a:chOff x="4511745" y="2968568"/>
            <a:chExt cx="4228436" cy="2577820"/>
          </a:xfrm>
        </p:grpSpPr>
        <p:grpSp>
          <p:nvGrpSpPr>
            <p:cNvPr id="36" name="Group 35">
              <a:extLst>
                <a:ext uri="{FF2B5EF4-FFF2-40B4-BE49-F238E27FC236}">
                  <a16:creationId xmlns:a16="http://schemas.microsoft.com/office/drawing/2014/main" id="{660DC732-A34F-AA14-27F6-8B23FA874E14}"/>
                </a:ext>
              </a:extLst>
            </p:cNvPr>
            <p:cNvGrpSpPr/>
            <p:nvPr/>
          </p:nvGrpSpPr>
          <p:grpSpPr>
            <a:xfrm>
              <a:off x="4622610" y="2968568"/>
              <a:ext cx="2380945" cy="1472041"/>
              <a:chOff x="4346453" y="2660572"/>
              <a:chExt cx="2380945" cy="1472041"/>
            </a:xfrm>
          </p:grpSpPr>
          <p:cxnSp>
            <p:nvCxnSpPr>
              <p:cNvPr id="37" name="Straight Arrow Connector 36">
                <a:extLst>
                  <a:ext uri="{FF2B5EF4-FFF2-40B4-BE49-F238E27FC236}">
                    <a16:creationId xmlns:a16="http://schemas.microsoft.com/office/drawing/2014/main" id="{664E3848-551A-01CA-F075-D36DAE08B9A7}"/>
                  </a:ext>
                </a:extLst>
              </p:cNvPr>
              <p:cNvCxnSpPr>
                <a:cxnSpLocks/>
              </p:cNvCxnSpPr>
              <p:nvPr/>
            </p:nvCxnSpPr>
            <p:spPr>
              <a:xfrm>
                <a:off x="5464914" y="3095873"/>
                <a:ext cx="0" cy="612624"/>
              </a:xfrm>
              <a:prstGeom prst="straightConnector1">
                <a:avLst/>
              </a:prstGeom>
              <a:ln>
                <a:headEnd type="triangle" w="med" len="med"/>
                <a:tailEnd type="triangle" w="med" len="med"/>
              </a:ln>
            </p:spPr>
            <p:style>
              <a:lnRef idx="2">
                <a:schemeClr val="accent1"/>
              </a:lnRef>
              <a:fillRef idx="0">
                <a:schemeClr val="accent1"/>
              </a:fillRef>
              <a:effectRef idx="1">
                <a:schemeClr val="accent1"/>
              </a:effectRef>
              <a:fontRef idx="minor">
                <a:schemeClr val="tx1"/>
              </a:fontRef>
            </p:style>
          </p:cxnSp>
          <p:cxnSp>
            <p:nvCxnSpPr>
              <p:cNvPr id="38" name="Straight Arrow Connector 37">
                <a:extLst>
                  <a:ext uri="{FF2B5EF4-FFF2-40B4-BE49-F238E27FC236}">
                    <a16:creationId xmlns:a16="http://schemas.microsoft.com/office/drawing/2014/main" id="{6F825151-FE12-F90E-E91D-77F49A7C12BE}"/>
                  </a:ext>
                </a:extLst>
              </p:cNvPr>
              <p:cNvCxnSpPr>
                <a:cxnSpLocks/>
              </p:cNvCxnSpPr>
              <p:nvPr/>
            </p:nvCxnSpPr>
            <p:spPr>
              <a:xfrm flipV="1">
                <a:off x="4838838" y="2660572"/>
                <a:ext cx="0" cy="1472041"/>
              </a:xfrm>
              <a:prstGeom prst="straightConnector1">
                <a:avLst/>
              </a:prstGeom>
              <a:ln>
                <a:solidFill>
                  <a:schemeClr val="tx1"/>
                </a:solidFill>
                <a:headEnd type="none" w="med" len="med"/>
                <a:tailEnd type="triangle" w="med" len="med"/>
              </a:ln>
            </p:spPr>
            <p:style>
              <a:lnRef idx="2">
                <a:schemeClr val="accent1"/>
              </a:lnRef>
              <a:fillRef idx="0">
                <a:schemeClr val="accent1"/>
              </a:fillRef>
              <a:effectRef idx="1">
                <a:schemeClr val="accent1"/>
              </a:effectRef>
              <a:fontRef idx="minor">
                <a:schemeClr val="tx1"/>
              </a:fontRef>
            </p:style>
          </p:cxnSp>
          <p:pic>
            <p:nvPicPr>
              <p:cNvPr id="39" name="Picture 38">
                <a:extLst>
                  <a:ext uri="{FF2B5EF4-FFF2-40B4-BE49-F238E27FC236}">
                    <a16:creationId xmlns:a16="http://schemas.microsoft.com/office/drawing/2014/main" id="{055CEDBA-8D2E-17BE-70FC-EBBEF95AAC52}"/>
                  </a:ext>
                </a:extLst>
              </p:cNvPr>
              <p:cNvPicPr>
                <a:picLocks noChangeAspect="1"/>
              </p:cNvPicPr>
              <p:nvPr/>
            </p:nvPicPr>
            <p:blipFill>
              <a:blip r:embed="rId9"/>
              <a:stretch>
                <a:fillRect/>
              </a:stretch>
            </p:blipFill>
            <p:spPr>
              <a:xfrm>
                <a:off x="4346453" y="3279082"/>
                <a:ext cx="358696" cy="288516"/>
              </a:xfrm>
              <a:prstGeom prst="rect">
                <a:avLst/>
              </a:prstGeom>
            </p:spPr>
          </p:pic>
          <p:grpSp>
            <p:nvGrpSpPr>
              <p:cNvPr id="40" name="Group 39">
                <a:extLst>
                  <a:ext uri="{FF2B5EF4-FFF2-40B4-BE49-F238E27FC236}">
                    <a16:creationId xmlns:a16="http://schemas.microsoft.com/office/drawing/2014/main" id="{6B641674-7522-5AC1-45F9-1B974948208B}"/>
                  </a:ext>
                </a:extLst>
              </p:cNvPr>
              <p:cNvGrpSpPr/>
              <p:nvPr/>
            </p:nvGrpSpPr>
            <p:grpSpPr>
              <a:xfrm>
                <a:off x="5536148" y="2955369"/>
                <a:ext cx="259711" cy="265022"/>
                <a:chOff x="6095999" y="2077376"/>
                <a:chExt cx="374090" cy="381740"/>
              </a:xfrm>
            </p:grpSpPr>
            <p:sp>
              <p:nvSpPr>
                <p:cNvPr id="47" name="Right Bracket 46">
                  <a:extLst>
                    <a:ext uri="{FF2B5EF4-FFF2-40B4-BE49-F238E27FC236}">
                      <a16:creationId xmlns:a16="http://schemas.microsoft.com/office/drawing/2014/main" id="{891CFBF3-35BA-8A14-962F-84507786316A}"/>
                    </a:ext>
                  </a:extLst>
                </p:cNvPr>
                <p:cNvSpPr/>
                <p:nvPr/>
              </p:nvSpPr>
              <p:spPr>
                <a:xfrm>
                  <a:off x="6095999" y="2077376"/>
                  <a:ext cx="185351" cy="381740"/>
                </a:xfrm>
                <a:prstGeom prst="rightBracket">
                  <a:avLst>
                    <a:gd name="adj" fmla="val 0"/>
                  </a:avLst>
                </a:prstGeom>
                <a:ln w="19050">
                  <a:solidFill>
                    <a:schemeClr val="tx1"/>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GB"/>
                </a:p>
              </p:txBody>
            </p:sp>
            <p:sp>
              <p:nvSpPr>
                <p:cNvPr id="48" name="Right Bracket 47">
                  <a:extLst>
                    <a:ext uri="{FF2B5EF4-FFF2-40B4-BE49-F238E27FC236}">
                      <a16:creationId xmlns:a16="http://schemas.microsoft.com/office/drawing/2014/main" id="{4E815F62-C06E-AB24-BC17-3B56F2BAE869}"/>
                    </a:ext>
                  </a:extLst>
                </p:cNvPr>
                <p:cNvSpPr/>
                <p:nvPr/>
              </p:nvSpPr>
              <p:spPr>
                <a:xfrm rot="10800000">
                  <a:off x="6284738" y="2080073"/>
                  <a:ext cx="185351" cy="379043"/>
                </a:xfrm>
                <a:prstGeom prst="rightBracket">
                  <a:avLst>
                    <a:gd name="adj" fmla="val 0"/>
                  </a:avLst>
                </a:prstGeom>
                <a:ln w="19050">
                  <a:solidFill>
                    <a:schemeClr val="tx1"/>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GB"/>
                </a:p>
              </p:txBody>
            </p:sp>
            <p:sp>
              <p:nvSpPr>
                <p:cNvPr id="49" name="Oval 48">
                  <a:extLst>
                    <a:ext uri="{FF2B5EF4-FFF2-40B4-BE49-F238E27FC236}">
                      <a16:creationId xmlns:a16="http://schemas.microsoft.com/office/drawing/2014/main" id="{843C6993-8E7F-5D06-1950-94BF115B66DB}"/>
                    </a:ext>
                  </a:extLst>
                </p:cNvPr>
                <p:cNvSpPr/>
                <p:nvPr/>
              </p:nvSpPr>
              <p:spPr>
                <a:xfrm>
                  <a:off x="6190735" y="2187146"/>
                  <a:ext cx="185351" cy="185351"/>
                </a:xfrm>
                <a:prstGeom prst="ellipse">
                  <a:avLst/>
                </a:prstGeom>
                <a:solidFill>
                  <a:schemeClr val="accent6"/>
                </a:solidFill>
                <a:ln w="190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41" name="Group 40">
                <a:extLst>
                  <a:ext uri="{FF2B5EF4-FFF2-40B4-BE49-F238E27FC236}">
                    <a16:creationId xmlns:a16="http://schemas.microsoft.com/office/drawing/2014/main" id="{78546300-D16D-BC8B-44DA-4725BA78F488}"/>
                  </a:ext>
                </a:extLst>
              </p:cNvPr>
              <p:cNvGrpSpPr/>
              <p:nvPr/>
            </p:nvGrpSpPr>
            <p:grpSpPr>
              <a:xfrm>
                <a:off x="5133970" y="3575986"/>
                <a:ext cx="259711" cy="265022"/>
                <a:chOff x="6095999" y="2077376"/>
                <a:chExt cx="374090" cy="381740"/>
              </a:xfrm>
            </p:grpSpPr>
            <p:sp>
              <p:nvSpPr>
                <p:cNvPr id="44" name="Right Bracket 43">
                  <a:extLst>
                    <a:ext uri="{FF2B5EF4-FFF2-40B4-BE49-F238E27FC236}">
                      <a16:creationId xmlns:a16="http://schemas.microsoft.com/office/drawing/2014/main" id="{B9B1D78D-2454-024C-75E3-2E50C409AD27}"/>
                    </a:ext>
                  </a:extLst>
                </p:cNvPr>
                <p:cNvSpPr/>
                <p:nvPr/>
              </p:nvSpPr>
              <p:spPr>
                <a:xfrm>
                  <a:off x="6095999" y="2077376"/>
                  <a:ext cx="185351" cy="381740"/>
                </a:xfrm>
                <a:prstGeom prst="rightBracket">
                  <a:avLst>
                    <a:gd name="adj" fmla="val 0"/>
                  </a:avLst>
                </a:prstGeom>
                <a:ln w="19050">
                  <a:solidFill>
                    <a:schemeClr val="tx1"/>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GB"/>
                </a:p>
              </p:txBody>
            </p:sp>
            <p:sp>
              <p:nvSpPr>
                <p:cNvPr id="45" name="Right Bracket 44">
                  <a:extLst>
                    <a:ext uri="{FF2B5EF4-FFF2-40B4-BE49-F238E27FC236}">
                      <a16:creationId xmlns:a16="http://schemas.microsoft.com/office/drawing/2014/main" id="{9A87FC3F-E491-4311-2A1C-9D1A23B75AC2}"/>
                    </a:ext>
                  </a:extLst>
                </p:cNvPr>
                <p:cNvSpPr/>
                <p:nvPr/>
              </p:nvSpPr>
              <p:spPr>
                <a:xfrm rot="10800000">
                  <a:off x="6284738" y="2080073"/>
                  <a:ext cx="185351" cy="379043"/>
                </a:xfrm>
                <a:prstGeom prst="rightBracket">
                  <a:avLst>
                    <a:gd name="adj" fmla="val 0"/>
                  </a:avLst>
                </a:prstGeom>
                <a:ln w="19050">
                  <a:solidFill>
                    <a:schemeClr val="tx1"/>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GB"/>
                </a:p>
              </p:txBody>
            </p:sp>
            <p:sp>
              <p:nvSpPr>
                <p:cNvPr id="46" name="Oval 45">
                  <a:extLst>
                    <a:ext uri="{FF2B5EF4-FFF2-40B4-BE49-F238E27FC236}">
                      <a16:creationId xmlns:a16="http://schemas.microsoft.com/office/drawing/2014/main" id="{0D245F46-3B9D-2D55-9102-AD6E489C65B7}"/>
                    </a:ext>
                  </a:extLst>
                </p:cNvPr>
                <p:cNvSpPr/>
                <p:nvPr/>
              </p:nvSpPr>
              <p:spPr>
                <a:xfrm>
                  <a:off x="6190735" y="2187146"/>
                  <a:ext cx="185351" cy="185351"/>
                </a:xfrm>
                <a:prstGeom prst="ellipse">
                  <a:avLst/>
                </a:prstGeom>
                <a:solidFill>
                  <a:schemeClr val="accent6"/>
                </a:solidFill>
                <a:ln w="190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pic>
            <p:nvPicPr>
              <p:cNvPr id="42" name="Picture 41">
                <a:extLst>
                  <a:ext uri="{FF2B5EF4-FFF2-40B4-BE49-F238E27FC236}">
                    <a16:creationId xmlns:a16="http://schemas.microsoft.com/office/drawing/2014/main" id="{2E7030A7-C0C4-4405-7947-8E7EB3E97ED6}"/>
                  </a:ext>
                </a:extLst>
              </p:cNvPr>
              <p:cNvPicPr>
                <a:picLocks noChangeAspect="1"/>
              </p:cNvPicPr>
              <p:nvPr/>
            </p:nvPicPr>
            <p:blipFill>
              <a:blip r:embed="rId10"/>
              <a:stretch>
                <a:fillRect/>
              </a:stretch>
            </p:blipFill>
            <p:spPr>
              <a:xfrm>
                <a:off x="5601359" y="3606706"/>
                <a:ext cx="800975" cy="208384"/>
              </a:xfrm>
              <a:prstGeom prst="rect">
                <a:avLst/>
              </a:prstGeom>
            </p:spPr>
          </p:pic>
          <p:pic>
            <p:nvPicPr>
              <p:cNvPr id="43" name="Picture 42">
                <a:extLst>
                  <a:ext uri="{FF2B5EF4-FFF2-40B4-BE49-F238E27FC236}">
                    <a16:creationId xmlns:a16="http://schemas.microsoft.com/office/drawing/2014/main" id="{3A0D87EC-F689-BEF8-4ED0-1A5580A9F1C5}"/>
                  </a:ext>
                </a:extLst>
              </p:cNvPr>
              <p:cNvPicPr>
                <a:picLocks noChangeAspect="1"/>
              </p:cNvPicPr>
              <p:nvPr/>
            </p:nvPicPr>
            <p:blipFill>
              <a:blip r:embed="rId11"/>
              <a:stretch>
                <a:fillRect/>
              </a:stretch>
            </p:blipFill>
            <p:spPr>
              <a:xfrm>
                <a:off x="5912282" y="2935785"/>
                <a:ext cx="815116" cy="212062"/>
              </a:xfrm>
              <a:prstGeom prst="rect">
                <a:avLst/>
              </a:prstGeom>
            </p:spPr>
          </p:pic>
        </p:grpSp>
        <p:sp>
          <p:nvSpPr>
            <p:cNvPr id="53" name="TextBox 52">
              <a:extLst>
                <a:ext uri="{FF2B5EF4-FFF2-40B4-BE49-F238E27FC236}">
                  <a16:creationId xmlns:a16="http://schemas.microsoft.com/office/drawing/2014/main" id="{0AD377A8-4B5F-4F57-09AA-10EE59A4BD29}"/>
                </a:ext>
              </a:extLst>
            </p:cNvPr>
            <p:cNvSpPr txBox="1"/>
            <p:nvPr/>
          </p:nvSpPr>
          <p:spPr>
            <a:xfrm>
              <a:off x="5741072" y="4148635"/>
              <a:ext cx="2644180" cy="369332"/>
            </a:xfrm>
            <a:prstGeom prst="rect">
              <a:avLst/>
            </a:prstGeom>
            <a:noFill/>
          </p:spPr>
          <p:txBody>
            <a:bodyPr wrap="square">
              <a:spAutoFit/>
            </a:bodyPr>
            <a:lstStyle/>
            <a:p>
              <a:r>
                <a:rPr lang="en-GB" sz="900" b="1" dirty="0">
                  <a:solidFill>
                    <a:srgbClr val="000000"/>
                  </a:solidFill>
                  <a:latin typeface="Arial" panose="020B0604020202020204" pitchFamily="34" charset="0"/>
                  <a:cs typeface="Arial" panose="020B0604020202020204" pitchFamily="34" charset="0"/>
                </a:rPr>
                <a:t>Smallest Spectral Angle, </a:t>
              </a:r>
            </a:p>
            <a:p>
              <a:r>
                <a:rPr lang="en-GB" sz="900" b="1" dirty="0">
                  <a:solidFill>
                    <a:srgbClr val="000000"/>
                  </a:solidFill>
                  <a:latin typeface="Arial" panose="020B0604020202020204" pitchFamily="34" charset="0"/>
                  <a:cs typeface="Arial" panose="020B0604020202020204" pitchFamily="34" charset="0"/>
                </a:rPr>
                <a:t>best match</a:t>
              </a:r>
              <a:endParaRPr lang="en-GB" sz="900" b="1" dirty="0"/>
            </a:p>
          </p:txBody>
        </p:sp>
        <p:sp>
          <p:nvSpPr>
            <p:cNvPr id="54" name="TextBox 53">
              <a:extLst>
                <a:ext uri="{FF2B5EF4-FFF2-40B4-BE49-F238E27FC236}">
                  <a16:creationId xmlns:a16="http://schemas.microsoft.com/office/drawing/2014/main" id="{F0008E69-5B46-3C3D-E17E-E73CD7EE9EDD}"/>
                </a:ext>
              </a:extLst>
            </p:cNvPr>
            <p:cNvSpPr txBox="1"/>
            <p:nvPr/>
          </p:nvSpPr>
          <p:spPr>
            <a:xfrm>
              <a:off x="6096001" y="3437917"/>
              <a:ext cx="2644180" cy="369332"/>
            </a:xfrm>
            <a:prstGeom prst="rect">
              <a:avLst/>
            </a:prstGeom>
            <a:noFill/>
          </p:spPr>
          <p:txBody>
            <a:bodyPr wrap="square">
              <a:spAutoFit/>
            </a:bodyPr>
            <a:lstStyle/>
            <a:p>
              <a:r>
                <a:rPr lang="en-GB" sz="900" b="1" dirty="0">
                  <a:solidFill>
                    <a:srgbClr val="000000"/>
                  </a:solidFill>
                  <a:latin typeface="Arial" panose="020B0604020202020204" pitchFamily="34" charset="0"/>
                  <a:cs typeface="Arial" panose="020B0604020202020204" pitchFamily="34" charset="0"/>
                </a:rPr>
                <a:t>Second smallest Spectral Angle, </a:t>
              </a:r>
            </a:p>
            <a:p>
              <a:r>
                <a:rPr lang="en-GB" sz="900" b="1" dirty="0">
                  <a:solidFill>
                    <a:srgbClr val="000000"/>
                  </a:solidFill>
                  <a:latin typeface="Arial" panose="020B0604020202020204" pitchFamily="34" charset="0"/>
                  <a:cs typeface="Arial" panose="020B0604020202020204" pitchFamily="34" charset="0"/>
                </a:rPr>
                <a:t>next best match</a:t>
              </a:r>
              <a:endParaRPr lang="en-GB" sz="900" b="1" dirty="0"/>
            </a:p>
          </p:txBody>
        </p:sp>
        <p:sp>
          <p:nvSpPr>
            <p:cNvPr id="57" name="TextBox 56">
              <a:extLst>
                <a:ext uri="{FF2B5EF4-FFF2-40B4-BE49-F238E27FC236}">
                  <a16:creationId xmlns:a16="http://schemas.microsoft.com/office/drawing/2014/main" id="{41F28804-ACF5-73E7-CB98-A162443D3634}"/>
                </a:ext>
              </a:extLst>
            </p:cNvPr>
            <p:cNvSpPr txBox="1"/>
            <p:nvPr/>
          </p:nvSpPr>
          <p:spPr>
            <a:xfrm>
              <a:off x="4511745" y="4995979"/>
              <a:ext cx="3459859" cy="276999"/>
            </a:xfrm>
            <a:prstGeom prst="rect">
              <a:avLst/>
            </a:prstGeom>
            <a:noFill/>
          </p:spPr>
          <p:txBody>
            <a:bodyPr wrap="square">
              <a:spAutoFit/>
            </a:bodyPr>
            <a:lstStyle/>
            <a:p>
              <a:r>
                <a:rPr lang="en-GB" sz="1200" b="1" dirty="0">
                  <a:solidFill>
                    <a:srgbClr val="000000"/>
                  </a:solidFill>
                  <a:latin typeface="Arial" panose="020B0604020202020204" pitchFamily="34" charset="0"/>
                  <a:cs typeface="Arial" panose="020B0604020202020204" pitchFamily="34" charset="0"/>
                </a:rPr>
                <a:t>Difference &gt;&gt; Variance, high confidence id</a:t>
              </a:r>
              <a:endParaRPr lang="en-GB" sz="1200" b="1" dirty="0"/>
            </a:p>
          </p:txBody>
        </p:sp>
        <p:sp>
          <p:nvSpPr>
            <p:cNvPr id="58" name="TextBox 57">
              <a:extLst>
                <a:ext uri="{FF2B5EF4-FFF2-40B4-BE49-F238E27FC236}">
                  <a16:creationId xmlns:a16="http://schemas.microsoft.com/office/drawing/2014/main" id="{08CFD828-58D4-8516-AB04-9A2875FEB4D3}"/>
                </a:ext>
              </a:extLst>
            </p:cNvPr>
            <p:cNvSpPr txBox="1"/>
            <p:nvPr/>
          </p:nvSpPr>
          <p:spPr>
            <a:xfrm>
              <a:off x="4516812" y="5269389"/>
              <a:ext cx="2644180" cy="276999"/>
            </a:xfrm>
            <a:prstGeom prst="rect">
              <a:avLst/>
            </a:prstGeom>
            <a:noFill/>
          </p:spPr>
          <p:txBody>
            <a:bodyPr wrap="square">
              <a:spAutoFit/>
            </a:bodyPr>
            <a:lstStyle/>
            <a:p>
              <a:r>
                <a:rPr lang="en-GB" sz="1200" b="1" dirty="0">
                  <a:solidFill>
                    <a:srgbClr val="000000"/>
                  </a:solidFill>
                  <a:latin typeface="Arial" panose="020B0604020202020204" pitchFamily="34" charset="0"/>
                  <a:cs typeface="Arial" panose="020B0604020202020204" pitchFamily="34" charset="0"/>
                </a:rPr>
                <a:t>Summarised by high Fisher Ratio</a:t>
              </a:r>
              <a:endParaRPr lang="en-GB" sz="1200" b="1" dirty="0"/>
            </a:p>
          </p:txBody>
        </p:sp>
      </p:grpSp>
      <p:pic>
        <p:nvPicPr>
          <p:cNvPr id="55" name="Picture 54">
            <a:extLst>
              <a:ext uri="{FF2B5EF4-FFF2-40B4-BE49-F238E27FC236}">
                <a16:creationId xmlns:a16="http://schemas.microsoft.com/office/drawing/2014/main" id="{818B13D0-E5B5-A24C-FAAD-F242214A340B}"/>
              </a:ext>
            </a:extLst>
          </p:cNvPr>
          <p:cNvPicPr>
            <a:picLocks noChangeAspect="1"/>
          </p:cNvPicPr>
          <p:nvPr/>
        </p:nvPicPr>
        <p:blipFill>
          <a:blip r:embed="rId12"/>
          <a:stretch>
            <a:fillRect/>
          </a:stretch>
        </p:blipFill>
        <p:spPr>
          <a:xfrm>
            <a:off x="4003698" y="5785114"/>
            <a:ext cx="1540936" cy="534495"/>
          </a:xfrm>
          <a:prstGeom prst="rect">
            <a:avLst/>
          </a:prstGeom>
        </p:spPr>
      </p:pic>
      <p:sp>
        <p:nvSpPr>
          <p:cNvPr id="60" name="TextBox 59">
            <a:extLst>
              <a:ext uri="{FF2B5EF4-FFF2-40B4-BE49-F238E27FC236}">
                <a16:creationId xmlns:a16="http://schemas.microsoft.com/office/drawing/2014/main" id="{5B246234-8589-55C4-CBD7-52EA38E60D6C}"/>
              </a:ext>
            </a:extLst>
          </p:cNvPr>
          <p:cNvSpPr txBox="1"/>
          <p:nvPr/>
        </p:nvSpPr>
        <p:spPr>
          <a:xfrm>
            <a:off x="323299" y="6027718"/>
            <a:ext cx="3353854" cy="646331"/>
          </a:xfrm>
          <a:prstGeom prst="rect">
            <a:avLst/>
          </a:prstGeom>
          <a:noFill/>
        </p:spPr>
        <p:txBody>
          <a:bodyPr wrap="square">
            <a:spAutoFit/>
          </a:bodyPr>
          <a:lstStyle/>
          <a:p>
            <a:r>
              <a:rPr lang="en-GB" sz="1200" b="1" dirty="0">
                <a:solidFill>
                  <a:srgbClr val="000000"/>
                </a:solidFill>
                <a:latin typeface="Arial" panose="020B0604020202020204" pitchFamily="34" charset="0"/>
                <a:cs typeface="Arial" panose="020B0604020202020204" pitchFamily="34" charset="0"/>
              </a:rPr>
              <a:t>Spectral Angle</a:t>
            </a:r>
          </a:p>
          <a:p>
            <a:r>
              <a:rPr lang="en-GB" sz="1200" dirty="0">
                <a:solidFill>
                  <a:srgbClr val="000000"/>
                </a:solidFill>
                <a:latin typeface="Arial" panose="020B0604020202020204" pitchFamily="34" charset="0"/>
                <a:cs typeface="Arial" panose="020B0604020202020204" pitchFamily="34" charset="0"/>
              </a:rPr>
              <a:t>Vector Angle between 2 </a:t>
            </a:r>
            <a:r>
              <a:rPr lang="en-GB" sz="1200" i="1" dirty="0">
                <a:solidFill>
                  <a:srgbClr val="000000"/>
                </a:solidFill>
                <a:latin typeface="Arial" panose="020B0604020202020204" pitchFamily="34" charset="0"/>
                <a:cs typeface="Arial" panose="020B0604020202020204" pitchFamily="34" charset="0"/>
              </a:rPr>
              <a:t>n</a:t>
            </a:r>
            <a:r>
              <a:rPr lang="en-GB" sz="1200" dirty="0">
                <a:solidFill>
                  <a:srgbClr val="000000"/>
                </a:solidFill>
                <a:latin typeface="Arial" panose="020B0604020202020204" pitchFamily="34" charset="0"/>
                <a:cs typeface="Arial" panose="020B0604020202020204" pitchFamily="34" charset="0"/>
              </a:rPr>
              <a:t>-dim. spectra, for </a:t>
            </a:r>
            <a:r>
              <a:rPr lang="en-GB" sz="1200" i="1" dirty="0">
                <a:solidFill>
                  <a:srgbClr val="000000"/>
                </a:solidFill>
                <a:latin typeface="Arial" panose="020B0604020202020204" pitchFamily="34" charset="0"/>
                <a:cs typeface="Arial" panose="020B0604020202020204" pitchFamily="34" charset="0"/>
              </a:rPr>
              <a:t>n</a:t>
            </a:r>
            <a:r>
              <a:rPr lang="en-GB" sz="1200" dirty="0">
                <a:solidFill>
                  <a:srgbClr val="000000"/>
                </a:solidFill>
                <a:latin typeface="Arial" panose="020B0604020202020204" pitchFamily="34" charset="0"/>
                <a:cs typeface="Arial" panose="020B0604020202020204" pitchFamily="34" charset="0"/>
              </a:rPr>
              <a:t> spectral channels</a:t>
            </a:r>
            <a:endParaRPr lang="en-GB" sz="1200" dirty="0"/>
          </a:p>
        </p:txBody>
      </p:sp>
      <p:sp>
        <p:nvSpPr>
          <p:cNvPr id="61" name="TextBox 60">
            <a:extLst>
              <a:ext uri="{FF2B5EF4-FFF2-40B4-BE49-F238E27FC236}">
                <a16:creationId xmlns:a16="http://schemas.microsoft.com/office/drawing/2014/main" id="{AF5DEF91-482C-6E94-D743-6918C838B5A0}"/>
              </a:ext>
            </a:extLst>
          </p:cNvPr>
          <p:cNvSpPr txBox="1"/>
          <p:nvPr/>
        </p:nvSpPr>
        <p:spPr>
          <a:xfrm>
            <a:off x="3778574" y="2876096"/>
            <a:ext cx="3353854" cy="276999"/>
          </a:xfrm>
          <a:prstGeom prst="rect">
            <a:avLst/>
          </a:prstGeom>
          <a:noFill/>
        </p:spPr>
        <p:txBody>
          <a:bodyPr wrap="square">
            <a:spAutoFit/>
          </a:bodyPr>
          <a:lstStyle/>
          <a:p>
            <a:r>
              <a:rPr lang="en-GB" sz="1200" b="1" dirty="0">
                <a:solidFill>
                  <a:srgbClr val="000000"/>
                </a:solidFill>
                <a:latin typeface="Arial" panose="020B0604020202020204" pitchFamily="34" charset="0"/>
                <a:cs typeface="Arial" panose="020B0604020202020204" pitchFamily="34" charset="0"/>
              </a:rPr>
              <a:t>Fisher Ratio: Spectral Angle Separation</a:t>
            </a:r>
            <a:endParaRPr lang="en-GB" sz="1200" dirty="0"/>
          </a:p>
        </p:txBody>
      </p:sp>
      <p:pic>
        <p:nvPicPr>
          <p:cNvPr id="62" name="Picture 61">
            <a:extLst>
              <a:ext uri="{FF2B5EF4-FFF2-40B4-BE49-F238E27FC236}">
                <a16:creationId xmlns:a16="http://schemas.microsoft.com/office/drawing/2014/main" id="{78DCC5E5-BCAF-5D83-82BD-83E9C0AFAF0D}"/>
              </a:ext>
            </a:extLst>
          </p:cNvPr>
          <p:cNvPicPr>
            <a:picLocks noChangeAspect="1"/>
          </p:cNvPicPr>
          <p:nvPr/>
        </p:nvPicPr>
        <p:blipFill>
          <a:blip r:embed="rId13"/>
          <a:srcRect t="1" b="41658"/>
          <a:stretch>
            <a:fillRect/>
          </a:stretch>
        </p:blipFill>
        <p:spPr>
          <a:xfrm>
            <a:off x="7710448" y="3875210"/>
            <a:ext cx="3838051" cy="2897730"/>
          </a:xfrm>
          <a:prstGeom prst="rect">
            <a:avLst/>
          </a:prstGeom>
        </p:spPr>
      </p:pic>
      <p:sp>
        <p:nvSpPr>
          <p:cNvPr id="64" name="TextBox 63">
            <a:extLst>
              <a:ext uri="{FF2B5EF4-FFF2-40B4-BE49-F238E27FC236}">
                <a16:creationId xmlns:a16="http://schemas.microsoft.com/office/drawing/2014/main" id="{983903BA-EADF-9788-1904-2213A7164909}"/>
              </a:ext>
            </a:extLst>
          </p:cNvPr>
          <p:cNvSpPr txBox="1"/>
          <p:nvPr/>
        </p:nvSpPr>
        <p:spPr>
          <a:xfrm>
            <a:off x="7607499" y="2829225"/>
            <a:ext cx="4118735" cy="1169551"/>
          </a:xfrm>
          <a:prstGeom prst="rect">
            <a:avLst/>
          </a:prstGeom>
          <a:noFill/>
        </p:spPr>
        <p:txBody>
          <a:bodyPr wrap="square">
            <a:spAutoFit/>
          </a:bodyPr>
          <a:lstStyle/>
          <a:p>
            <a:r>
              <a:rPr lang="en-US" sz="1400" b="1" dirty="0">
                <a:latin typeface="Arial" panose="020B0604020202020204" pitchFamily="34" charset="0"/>
                <a:cs typeface="Arial" panose="020B0604020202020204" pitchFamily="34" charset="0"/>
              </a:rPr>
              <a:t>Evaluation</a:t>
            </a:r>
          </a:p>
          <a:p>
            <a:r>
              <a:rPr lang="en-US" sz="1400" dirty="0">
                <a:latin typeface="Arial" panose="020B0604020202020204" pitchFamily="34" charset="0"/>
                <a:cs typeface="Arial" panose="020B0604020202020204" pitchFamily="34" charset="0"/>
              </a:rPr>
              <a:t>We obtain a Fisher Ratio score for each mineral, and each instrument simulation. This provides evaluation of each sensor mineral discriminatory ability.</a:t>
            </a:r>
            <a:endParaRPr lang="en-GB" sz="1200" dirty="0"/>
          </a:p>
        </p:txBody>
      </p:sp>
    </p:spTree>
    <p:extLst>
      <p:ext uri="{BB962C8B-B14F-4D97-AF65-F5344CB8AC3E}">
        <p14:creationId xmlns:p14="http://schemas.microsoft.com/office/powerpoint/2010/main" val="361717921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F645A7-2FF9-FE30-E31B-D8C027B51F3D}"/>
            </a:ext>
          </a:extLst>
        </p:cNvPr>
        <p:cNvGrpSpPr/>
        <p:nvPr/>
      </p:nvGrpSpPr>
      <p:grpSpPr>
        <a:xfrm>
          <a:off x="0" y="0"/>
          <a:ext cx="0" cy="0"/>
          <a:chOff x="0" y="0"/>
          <a:chExt cx="0" cy="0"/>
        </a:xfrm>
      </p:grpSpPr>
      <p:pic>
        <p:nvPicPr>
          <p:cNvPr id="9" name="Picture 8">
            <a:extLst>
              <a:ext uri="{FF2B5EF4-FFF2-40B4-BE49-F238E27FC236}">
                <a16:creationId xmlns:a16="http://schemas.microsoft.com/office/drawing/2014/main" id="{83C278D3-08E7-4BAA-AC9A-0C86C8F627C8}"/>
              </a:ext>
            </a:extLst>
          </p:cNvPr>
          <p:cNvPicPr>
            <a:picLocks noChangeAspect="1"/>
          </p:cNvPicPr>
          <p:nvPr/>
        </p:nvPicPr>
        <p:blipFill>
          <a:blip r:embed="rId2"/>
          <a:srcRect b="38739"/>
          <a:stretch>
            <a:fillRect/>
          </a:stretch>
        </p:blipFill>
        <p:spPr>
          <a:xfrm>
            <a:off x="6735931" y="1312963"/>
            <a:ext cx="5131721" cy="4068391"/>
          </a:xfrm>
          <a:prstGeom prst="rect">
            <a:avLst/>
          </a:prstGeom>
        </p:spPr>
      </p:pic>
      <p:sp>
        <p:nvSpPr>
          <p:cNvPr id="10" name="TextBox 9">
            <a:extLst>
              <a:ext uri="{FF2B5EF4-FFF2-40B4-BE49-F238E27FC236}">
                <a16:creationId xmlns:a16="http://schemas.microsoft.com/office/drawing/2014/main" id="{856B41E9-5414-B233-F798-BB458E5A0F17}"/>
              </a:ext>
            </a:extLst>
          </p:cNvPr>
          <p:cNvSpPr txBox="1"/>
          <p:nvPr/>
        </p:nvSpPr>
        <p:spPr>
          <a:xfrm>
            <a:off x="531626" y="1136172"/>
            <a:ext cx="6307585" cy="4770537"/>
          </a:xfrm>
          <a:prstGeom prst="rect">
            <a:avLst/>
          </a:prstGeom>
          <a:noFill/>
        </p:spPr>
        <p:txBody>
          <a:bodyPr wrap="square" rtlCol="0">
            <a:spAutoFit/>
          </a:bodyPr>
          <a:lstStyle/>
          <a:p>
            <a:r>
              <a:rPr lang="en-US" sz="1600" dirty="0">
                <a:latin typeface="Arial" panose="020B0604020202020204" pitchFamily="34" charset="0"/>
                <a:cs typeface="Arial" panose="020B0604020202020204" pitchFamily="34" charset="0"/>
              </a:rPr>
              <a:t>The only change between sensor simulations is the spectral Signal-to-Noise Ratio, used to define the amount of noise added to a resampled Enfys spectrum, and the spectral range.</a:t>
            </a:r>
          </a:p>
          <a:p>
            <a:endParaRPr lang="en-US" sz="1600" dirty="0">
              <a:latin typeface="Arial" panose="020B0604020202020204" pitchFamily="34" charset="0"/>
              <a:cs typeface="Arial" panose="020B0604020202020204" pitchFamily="34" charset="0"/>
            </a:endParaRPr>
          </a:p>
          <a:p>
            <a:r>
              <a:rPr lang="en-US" sz="1600" dirty="0">
                <a:latin typeface="Arial" panose="020B0604020202020204" pitchFamily="34" charset="0"/>
                <a:cs typeface="Arial" panose="020B0604020202020204" pitchFamily="34" charset="0"/>
              </a:rPr>
              <a:t>All simulations use the same SWIR (0.9 - 1.65 µm) </a:t>
            </a:r>
            <a:r>
              <a:rPr lang="en-US" sz="1600" dirty="0" err="1">
                <a:latin typeface="Arial" panose="020B0604020202020204" pitchFamily="34" charset="0"/>
                <a:cs typeface="Arial" panose="020B0604020202020204" pitchFamily="34" charset="0"/>
              </a:rPr>
              <a:t>InAs</a:t>
            </a:r>
            <a:r>
              <a:rPr lang="en-US" sz="1600" dirty="0">
                <a:latin typeface="Arial" panose="020B0604020202020204" pitchFamily="34" charset="0"/>
                <a:cs typeface="Arial" panose="020B0604020202020204" pitchFamily="34" charset="0"/>
              </a:rPr>
              <a:t> sensor. </a:t>
            </a:r>
          </a:p>
          <a:p>
            <a:r>
              <a:rPr lang="en-US" sz="1600" dirty="0">
                <a:latin typeface="Arial" panose="020B0604020202020204" pitchFamily="34" charset="0"/>
                <a:cs typeface="Arial" panose="020B0604020202020204" pitchFamily="34" charset="0"/>
              </a:rPr>
              <a:t>- Simulation 1 uses the </a:t>
            </a:r>
            <a:r>
              <a:rPr lang="en-US" sz="1600" dirty="0" err="1">
                <a:latin typeface="Arial" panose="020B0604020202020204" pitchFamily="34" charset="0"/>
                <a:cs typeface="Arial" panose="020B0604020202020204" pitchFamily="34" charset="0"/>
              </a:rPr>
              <a:t>InAs</a:t>
            </a:r>
            <a:r>
              <a:rPr lang="en-US" sz="1600" dirty="0">
                <a:latin typeface="Arial" panose="020B0604020202020204" pitchFamily="34" charset="0"/>
                <a:cs typeface="Arial" panose="020B0604020202020204" pitchFamily="34" charset="0"/>
              </a:rPr>
              <a:t> MWIR (1.65 – 3.1 µm) sensor. </a:t>
            </a:r>
          </a:p>
          <a:p>
            <a:r>
              <a:rPr lang="en-US" sz="1600" dirty="0">
                <a:latin typeface="Arial" panose="020B0604020202020204" pitchFamily="34" charset="0"/>
                <a:cs typeface="Arial" panose="020B0604020202020204" pitchFamily="34" charset="0"/>
              </a:rPr>
              <a:t>- Simulation 2 also uses this sensor, with SNR degraded by a factor of 10, to approximate additional error introduced by </a:t>
            </a:r>
            <a:r>
              <a:rPr lang="en-US" sz="1600" dirty="0" err="1">
                <a:latin typeface="Arial" panose="020B0604020202020204" pitchFamily="34" charset="0"/>
                <a:cs typeface="Arial" panose="020B0604020202020204" pitchFamily="34" charset="0"/>
              </a:rPr>
              <a:t>uncharacterised</a:t>
            </a:r>
            <a:r>
              <a:rPr lang="en-US" sz="1600" dirty="0">
                <a:latin typeface="Arial" panose="020B0604020202020204" pitchFamily="34" charset="0"/>
                <a:cs typeface="Arial" panose="020B0604020202020204" pitchFamily="34" charset="0"/>
              </a:rPr>
              <a:t> thermal </a:t>
            </a:r>
            <a:r>
              <a:rPr lang="en-US" sz="1600" dirty="0" err="1">
                <a:latin typeface="Arial" panose="020B0604020202020204" pitchFamily="34" charset="0"/>
                <a:cs typeface="Arial" panose="020B0604020202020204" pitchFamily="34" charset="0"/>
              </a:rPr>
              <a:t>behaviour</a:t>
            </a:r>
            <a:r>
              <a:rPr lang="en-US" sz="1600" dirty="0">
                <a:latin typeface="Arial" panose="020B0604020202020204" pitchFamily="34" charset="0"/>
                <a:cs typeface="Arial" panose="020B0604020202020204" pitchFamily="34" charset="0"/>
              </a:rPr>
              <a:t>. </a:t>
            </a:r>
          </a:p>
          <a:p>
            <a:r>
              <a:rPr lang="en-US" sz="1600" dirty="0">
                <a:latin typeface="Arial" panose="020B0604020202020204" pitchFamily="34" charset="0"/>
                <a:cs typeface="Arial" panose="020B0604020202020204" pitchFamily="34" charset="0"/>
              </a:rPr>
              <a:t>- Simulation 3 uses the modified </a:t>
            </a:r>
            <a:r>
              <a:rPr lang="en-US" sz="1600" dirty="0" err="1">
                <a:latin typeface="Arial" panose="020B0604020202020204" pitchFamily="34" charset="0"/>
                <a:cs typeface="Arial" panose="020B0604020202020204" pitchFamily="34" charset="0"/>
              </a:rPr>
              <a:t>InGaAs</a:t>
            </a:r>
            <a:r>
              <a:rPr lang="en-US" sz="1600" dirty="0">
                <a:latin typeface="Arial" panose="020B0604020202020204" pitchFamily="34" charset="0"/>
                <a:cs typeface="Arial" panose="020B0604020202020204" pitchFamily="34" charset="0"/>
              </a:rPr>
              <a:t> MWIR (1.65 – 2.5 µm) sensor.</a:t>
            </a:r>
          </a:p>
          <a:p>
            <a:endParaRPr lang="en-US" sz="1600" dirty="0">
              <a:latin typeface="Arial" panose="020B0604020202020204" pitchFamily="34" charset="0"/>
              <a:cs typeface="Arial" panose="020B0604020202020204" pitchFamily="34" charset="0"/>
            </a:endParaRPr>
          </a:p>
          <a:p>
            <a:r>
              <a:rPr lang="en-US" sz="1600" dirty="0">
                <a:latin typeface="Arial" panose="020B0604020202020204" pitchFamily="34" charset="0"/>
                <a:cs typeface="Arial" panose="020B0604020202020204" pitchFamily="34" charset="0"/>
              </a:rPr>
              <a:t>Source: Enfys Science Traceability Matrix, V.2., M. Gunn, C. Cousins, P. Grindrod. </a:t>
            </a:r>
            <a:r>
              <a:rPr lang="en-GB" sz="1600" dirty="0">
                <a:latin typeface="Arial" panose="020B0604020202020204" pitchFamily="34" charset="0"/>
                <a:cs typeface="Arial" panose="020B0604020202020204" pitchFamily="34" charset="0"/>
              </a:rPr>
              <a:t>EXM-EN-MTX-ABU-0001</a:t>
            </a:r>
          </a:p>
          <a:p>
            <a:endParaRPr lang="en-GB" sz="1600" dirty="0">
              <a:solidFill>
                <a:srgbClr val="000000"/>
              </a:solidFill>
              <a:latin typeface="Arial" panose="020B0604020202020204" pitchFamily="34" charset="0"/>
              <a:cs typeface="Arial" panose="020B0604020202020204" pitchFamily="34" charset="0"/>
            </a:endParaRPr>
          </a:p>
          <a:p>
            <a:r>
              <a:rPr lang="en-GB" sz="1600" dirty="0">
                <a:solidFill>
                  <a:srgbClr val="000000"/>
                </a:solidFill>
                <a:latin typeface="Arial" panose="020B0604020202020204" pitchFamily="34" charset="0"/>
                <a:cs typeface="Arial" panose="020B0604020202020204" pitchFamily="34" charset="0"/>
              </a:rPr>
              <a:t>Signal-to-Noise Ratio calculated (M. Gunn) for a 30% albedo Lambertian reflector, under Solar illumination at Mars aphelion, with 0.1 OD of atmospheric dust.</a:t>
            </a:r>
          </a:p>
          <a:p>
            <a:endParaRPr lang="en-US" sz="1600" dirty="0">
              <a:latin typeface="Arial" panose="020B0604020202020204" pitchFamily="34" charset="0"/>
              <a:cs typeface="Arial" panose="020B0604020202020204" pitchFamily="34" charset="0"/>
            </a:endParaRPr>
          </a:p>
        </p:txBody>
      </p:sp>
      <p:sp>
        <p:nvSpPr>
          <p:cNvPr id="12" name="TextBox 11">
            <a:extLst>
              <a:ext uri="{FF2B5EF4-FFF2-40B4-BE49-F238E27FC236}">
                <a16:creationId xmlns:a16="http://schemas.microsoft.com/office/drawing/2014/main" id="{DED23630-5807-28A6-F272-B9FB71B38ECF}"/>
              </a:ext>
            </a:extLst>
          </p:cNvPr>
          <p:cNvSpPr txBox="1"/>
          <p:nvPr/>
        </p:nvSpPr>
        <p:spPr>
          <a:xfrm>
            <a:off x="531627" y="389633"/>
            <a:ext cx="5454503" cy="923330"/>
          </a:xfrm>
          <a:prstGeom prst="rect">
            <a:avLst/>
          </a:prstGeom>
          <a:noFill/>
        </p:spPr>
        <p:txBody>
          <a:bodyPr wrap="square" rtlCol="0">
            <a:spAutoFit/>
          </a:bodyPr>
          <a:lstStyle/>
          <a:p>
            <a:r>
              <a:rPr lang="en-GB" b="1" dirty="0" err="1">
                <a:latin typeface="Arial" panose="020B0604020202020204" pitchFamily="34" charset="0"/>
                <a:cs typeface="Arial" panose="020B0604020202020204" pitchFamily="34" charset="0"/>
              </a:rPr>
              <a:t>InAs</a:t>
            </a:r>
            <a:r>
              <a:rPr lang="en-GB" b="1" dirty="0">
                <a:latin typeface="Arial" panose="020B0604020202020204" pitchFamily="34" charset="0"/>
                <a:cs typeface="Arial" panose="020B0604020202020204" pitchFamily="34" charset="0"/>
              </a:rPr>
              <a:t> vs </a:t>
            </a:r>
            <a:r>
              <a:rPr lang="en-GB" b="1" dirty="0" err="1">
                <a:latin typeface="Arial" panose="020B0604020202020204" pitchFamily="34" charset="0"/>
                <a:cs typeface="Arial" panose="020B0604020202020204" pitchFamily="34" charset="0"/>
              </a:rPr>
              <a:t>InGaAs</a:t>
            </a:r>
            <a:r>
              <a:rPr lang="en-GB" b="1" dirty="0">
                <a:latin typeface="Arial" panose="020B0604020202020204" pitchFamily="34" charset="0"/>
                <a:cs typeface="Arial" panose="020B0604020202020204" pitchFamily="34" charset="0"/>
              </a:rPr>
              <a:t> Sensor Simulation Differences:</a:t>
            </a:r>
          </a:p>
          <a:p>
            <a:r>
              <a:rPr lang="en-GB" b="1" dirty="0">
                <a:latin typeface="Arial" panose="020B0604020202020204" pitchFamily="34" charset="0"/>
                <a:cs typeface="Arial" panose="020B0604020202020204" pitchFamily="34" charset="0"/>
              </a:rPr>
              <a:t>Signal-to-Noise Ratio</a:t>
            </a:r>
            <a:endParaRPr lang="en-GB" b="1" dirty="0">
              <a:solidFill>
                <a:srgbClr val="000000"/>
              </a:solidFill>
              <a:latin typeface="Arial" panose="020B0604020202020204" pitchFamily="34" charset="0"/>
              <a:cs typeface="Arial" panose="020B0604020202020204" pitchFamily="34" charset="0"/>
            </a:endParaRPr>
          </a:p>
          <a:p>
            <a:endParaRPr lang="en-US" b="1"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52447642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61D838-DEF1-A33A-C266-0D2931D13034}"/>
            </a:ext>
          </a:extLst>
        </p:cNvPr>
        <p:cNvGrpSpPr/>
        <p:nvPr/>
      </p:nvGrpSpPr>
      <p:grpSpPr>
        <a:xfrm>
          <a:off x="0" y="0"/>
          <a:ext cx="0" cy="0"/>
          <a:chOff x="0" y="0"/>
          <a:chExt cx="0" cy="0"/>
        </a:xfrm>
      </p:grpSpPr>
      <p:sp>
        <p:nvSpPr>
          <p:cNvPr id="17" name="TextBox 16">
            <a:extLst>
              <a:ext uri="{FF2B5EF4-FFF2-40B4-BE49-F238E27FC236}">
                <a16:creationId xmlns:a16="http://schemas.microsoft.com/office/drawing/2014/main" id="{99180076-CAE0-610F-3702-440CD4FF57CB}"/>
              </a:ext>
            </a:extLst>
          </p:cNvPr>
          <p:cNvSpPr txBox="1"/>
          <p:nvPr/>
        </p:nvSpPr>
        <p:spPr>
          <a:xfrm>
            <a:off x="576889" y="322804"/>
            <a:ext cx="6605964" cy="646331"/>
          </a:xfrm>
          <a:prstGeom prst="rect">
            <a:avLst/>
          </a:prstGeom>
          <a:noFill/>
        </p:spPr>
        <p:txBody>
          <a:bodyPr wrap="square">
            <a:spAutoFit/>
          </a:bodyPr>
          <a:lstStyle/>
          <a:p>
            <a:r>
              <a:rPr lang="en-GB" b="1" dirty="0">
                <a:latin typeface="Arial" panose="020B0604020202020204" pitchFamily="34" charset="0"/>
                <a:cs typeface="Arial" panose="020B0604020202020204" pitchFamily="34" charset="0"/>
              </a:rPr>
              <a:t>Spectral Resampling:</a:t>
            </a:r>
          </a:p>
          <a:p>
            <a:r>
              <a:rPr lang="en-GB" b="1" dirty="0">
                <a:latin typeface="Arial" panose="020B0604020202020204" pitchFamily="34" charset="0"/>
                <a:cs typeface="Arial" panose="020B0604020202020204" pitchFamily="34" charset="0"/>
              </a:rPr>
              <a:t>Sampling Hi-Res Spectra to Enfys Spectral Channels </a:t>
            </a:r>
          </a:p>
        </p:txBody>
      </p:sp>
      <p:sp>
        <p:nvSpPr>
          <p:cNvPr id="2" name="TextBox 1">
            <a:extLst>
              <a:ext uri="{FF2B5EF4-FFF2-40B4-BE49-F238E27FC236}">
                <a16:creationId xmlns:a16="http://schemas.microsoft.com/office/drawing/2014/main" id="{BB6B005A-14DD-611C-A205-81C7BB0FD2E6}"/>
              </a:ext>
            </a:extLst>
          </p:cNvPr>
          <p:cNvSpPr txBox="1"/>
          <p:nvPr/>
        </p:nvSpPr>
        <p:spPr>
          <a:xfrm>
            <a:off x="600848" y="1004925"/>
            <a:ext cx="5519111" cy="1477328"/>
          </a:xfrm>
          <a:prstGeom prst="rect">
            <a:avLst/>
          </a:prstGeom>
          <a:noFill/>
        </p:spPr>
        <p:txBody>
          <a:bodyPr wrap="square">
            <a:spAutoFit/>
          </a:bodyPr>
          <a:lstStyle/>
          <a:p>
            <a:r>
              <a:rPr lang="en-US" sz="1800" dirty="0">
                <a:latin typeface="Arial" panose="020B0604020202020204" pitchFamily="34" charset="0"/>
                <a:cs typeface="Arial" panose="020B0604020202020204" pitchFamily="34" charset="0"/>
              </a:rPr>
              <a:t>We spectrally resample the input high resolution spectral library to the Enfys spectral channels by computing the transmission-normalized integral product between the </a:t>
            </a:r>
            <a:r>
              <a:rPr lang="en-US" dirty="0">
                <a:latin typeface="Arial" panose="020B0604020202020204" pitchFamily="34" charset="0"/>
                <a:cs typeface="Arial" panose="020B0604020202020204" pitchFamily="34" charset="0"/>
              </a:rPr>
              <a:t>given 𝜆</a:t>
            </a:r>
            <a:r>
              <a:rPr lang="en-US" baseline="-25000" dirty="0" err="1">
                <a:latin typeface="Arial" panose="020B0604020202020204" pitchFamily="34" charset="0"/>
                <a:cs typeface="Arial" panose="020B0604020202020204" pitchFamily="34" charset="0"/>
              </a:rPr>
              <a:t>cwl</a:t>
            </a:r>
            <a:r>
              <a:rPr lang="en-US" dirty="0">
                <a:latin typeface="Arial" panose="020B0604020202020204" pitchFamily="34" charset="0"/>
                <a:cs typeface="Arial" panose="020B0604020202020204" pitchFamily="34" charset="0"/>
              </a:rPr>
              <a:t> transmission profile and the given hi-res spectrum, approximating:</a:t>
            </a:r>
          </a:p>
        </p:txBody>
      </p:sp>
      <p:pic>
        <p:nvPicPr>
          <p:cNvPr id="10" name="Picture 9">
            <a:extLst>
              <a:ext uri="{FF2B5EF4-FFF2-40B4-BE49-F238E27FC236}">
                <a16:creationId xmlns:a16="http://schemas.microsoft.com/office/drawing/2014/main" id="{81540887-2E5E-E484-67D7-42F855C7D745}"/>
              </a:ext>
            </a:extLst>
          </p:cNvPr>
          <p:cNvPicPr>
            <a:picLocks noChangeAspect="1"/>
          </p:cNvPicPr>
          <p:nvPr/>
        </p:nvPicPr>
        <p:blipFill>
          <a:blip r:embed="rId3"/>
          <a:stretch>
            <a:fillRect/>
          </a:stretch>
        </p:blipFill>
        <p:spPr>
          <a:xfrm>
            <a:off x="6700367" y="1153909"/>
            <a:ext cx="3881458" cy="764530"/>
          </a:xfrm>
          <a:prstGeom prst="rect">
            <a:avLst/>
          </a:prstGeom>
        </p:spPr>
      </p:pic>
      <p:pic>
        <p:nvPicPr>
          <p:cNvPr id="12" name="Picture 11">
            <a:extLst>
              <a:ext uri="{FF2B5EF4-FFF2-40B4-BE49-F238E27FC236}">
                <a16:creationId xmlns:a16="http://schemas.microsoft.com/office/drawing/2014/main" id="{CD8CF366-9EAE-2961-07C8-D9970A4C1377}"/>
              </a:ext>
            </a:extLst>
          </p:cNvPr>
          <p:cNvPicPr>
            <a:picLocks noChangeAspect="1"/>
          </p:cNvPicPr>
          <p:nvPr/>
        </p:nvPicPr>
        <p:blipFill>
          <a:blip r:embed="rId4"/>
          <a:srcRect t="5703"/>
          <a:stretch>
            <a:fillRect/>
          </a:stretch>
        </p:blipFill>
        <p:spPr>
          <a:xfrm>
            <a:off x="576889" y="3274020"/>
            <a:ext cx="3298337" cy="3236869"/>
          </a:xfrm>
          <a:prstGeom prst="rect">
            <a:avLst/>
          </a:prstGeom>
        </p:spPr>
      </p:pic>
      <p:pic>
        <p:nvPicPr>
          <p:cNvPr id="14" name="Picture 13">
            <a:extLst>
              <a:ext uri="{FF2B5EF4-FFF2-40B4-BE49-F238E27FC236}">
                <a16:creationId xmlns:a16="http://schemas.microsoft.com/office/drawing/2014/main" id="{116380D1-0A01-4E3A-AE55-3CD17F0C2BBF}"/>
              </a:ext>
            </a:extLst>
          </p:cNvPr>
          <p:cNvPicPr>
            <a:picLocks noChangeAspect="1"/>
          </p:cNvPicPr>
          <p:nvPr/>
        </p:nvPicPr>
        <p:blipFill>
          <a:blip r:embed="rId5"/>
          <a:srcRect t="5703" r="7631"/>
          <a:stretch>
            <a:fillRect/>
          </a:stretch>
        </p:blipFill>
        <p:spPr>
          <a:xfrm>
            <a:off x="7759482" y="3274020"/>
            <a:ext cx="4309001" cy="3306372"/>
          </a:xfrm>
          <a:prstGeom prst="rect">
            <a:avLst/>
          </a:prstGeom>
        </p:spPr>
      </p:pic>
      <p:pic>
        <p:nvPicPr>
          <p:cNvPr id="15" name="Picture 14">
            <a:extLst>
              <a:ext uri="{FF2B5EF4-FFF2-40B4-BE49-F238E27FC236}">
                <a16:creationId xmlns:a16="http://schemas.microsoft.com/office/drawing/2014/main" id="{CCF51CAB-111A-5A2F-8D05-986E2ED32DB3}"/>
              </a:ext>
            </a:extLst>
          </p:cNvPr>
          <p:cNvPicPr>
            <a:picLocks noChangeAspect="1"/>
          </p:cNvPicPr>
          <p:nvPr/>
        </p:nvPicPr>
        <p:blipFill>
          <a:blip r:embed="rId6"/>
          <a:srcRect t="8975" b="10165"/>
          <a:stretch>
            <a:fillRect/>
          </a:stretch>
        </p:blipFill>
        <p:spPr>
          <a:xfrm>
            <a:off x="4003727" y="3274021"/>
            <a:ext cx="4309001" cy="3591732"/>
          </a:xfrm>
          <a:prstGeom prst="rect">
            <a:avLst/>
          </a:prstGeom>
        </p:spPr>
      </p:pic>
      <p:sp>
        <p:nvSpPr>
          <p:cNvPr id="16" name="Right Arrow 15">
            <a:extLst>
              <a:ext uri="{FF2B5EF4-FFF2-40B4-BE49-F238E27FC236}">
                <a16:creationId xmlns:a16="http://schemas.microsoft.com/office/drawing/2014/main" id="{C75047EB-29F8-23FB-4404-4765A12270BD}"/>
              </a:ext>
            </a:extLst>
          </p:cNvPr>
          <p:cNvSpPr/>
          <p:nvPr/>
        </p:nvSpPr>
        <p:spPr>
          <a:xfrm>
            <a:off x="7946066" y="4482246"/>
            <a:ext cx="433172" cy="152223"/>
          </a:xfrm>
          <a:prstGeom prst="rightArrow">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a:extLst>
              <a:ext uri="{FF2B5EF4-FFF2-40B4-BE49-F238E27FC236}">
                <a16:creationId xmlns:a16="http://schemas.microsoft.com/office/drawing/2014/main" id="{16FEB964-35F4-786B-39F2-4CBDC9C94DD5}"/>
              </a:ext>
            </a:extLst>
          </p:cNvPr>
          <p:cNvSpPr>
            <a:spLocks/>
          </p:cNvSpPr>
          <p:nvPr/>
        </p:nvSpPr>
        <p:spPr>
          <a:xfrm>
            <a:off x="3972840" y="4377749"/>
            <a:ext cx="177940" cy="177940"/>
          </a:xfrm>
          <a:prstGeom prst="ellipse">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extBox 19">
            <a:extLst>
              <a:ext uri="{FF2B5EF4-FFF2-40B4-BE49-F238E27FC236}">
                <a16:creationId xmlns:a16="http://schemas.microsoft.com/office/drawing/2014/main" id="{8C4A84B4-8DD5-3250-C967-65126AE18759}"/>
              </a:ext>
            </a:extLst>
          </p:cNvPr>
          <p:cNvSpPr txBox="1"/>
          <p:nvPr/>
        </p:nvSpPr>
        <p:spPr>
          <a:xfrm>
            <a:off x="813501" y="2904688"/>
            <a:ext cx="3662603" cy="369332"/>
          </a:xfrm>
          <a:prstGeom prst="rect">
            <a:avLst/>
          </a:prstGeom>
          <a:noFill/>
        </p:spPr>
        <p:txBody>
          <a:bodyPr wrap="square">
            <a:spAutoFit/>
          </a:bodyPr>
          <a:lstStyle/>
          <a:p>
            <a:r>
              <a:rPr lang="en-US" dirty="0">
                <a:latin typeface="Arial" panose="020B0604020202020204" pitchFamily="34" charset="0"/>
                <a:cs typeface="Arial" panose="020B0604020202020204" pitchFamily="34" charset="0"/>
              </a:rPr>
              <a:t>High-Resolution Input Spectrum</a:t>
            </a:r>
            <a:endParaRPr lang="en-US" dirty="0"/>
          </a:p>
        </p:txBody>
      </p:sp>
      <p:sp>
        <p:nvSpPr>
          <p:cNvPr id="21" name="TextBox 20">
            <a:extLst>
              <a:ext uri="{FF2B5EF4-FFF2-40B4-BE49-F238E27FC236}">
                <a16:creationId xmlns:a16="http://schemas.microsoft.com/office/drawing/2014/main" id="{C3605D71-4F89-02AC-D435-E9C4B69B2BB6}"/>
              </a:ext>
            </a:extLst>
          </p:cNvPr>
          <p:cNvSpPr txBox="1"/>
          <p:nvPr/>
        </p:nvSpPr>
        <p:spPr>
          <a:xfrm>
            <a:off x="5079380" y="2904688"/>
            <a:ext cx="2866686" cy="369332"/>
          </a:xfrm>
          <a:prstGeom prst="rect">
            <a:avLst/>
          </a:prstGeom>
          <a:noFill/>
        </p:spPr>
        <p:txBody>
          <a:bodyPr wrap="square">
            <a:spAutoFit/>
          </a:bodyPr>
          <a:lstStyle/>
          <a:p>
            <a:r>
              <a:rPr lang="en-US" dirty="0">
                <a:latin typeface="Arial" panose="020B0604020202020204" pitchFamily="34" charset="0"/>
                <a:cs typeface="Arial" panose="020B0604020202020204" pitchFamily="34" charset="0"/>
              </a:rPr>
              <a:t>Enfys Channel Profiles</a:t>
            </a:r>
            <a:endParaRPr lang="en-US" dirty="0"/>
          </a:p>
        </p:txBody>
      </p:sp>
      <p:sp>
        <p:nvSpPr>
          <p:cNvPr id="22" name="TextBox 21">
            <a:extLst>
              <a:ext uri="{FF2B5EF4-FFF2-40B4-BE49-F238E27FC236}">
                <a16:creationId xmlns:a16="http://schemas.microsoft.com/office/drawing/2014/main" id="{C1E5C0E2-A7B9-877B-0846-122A7DED7A01}"/>
              </a:ext>
            </a:extLst>
          </p:cNvPr>
          <p:cNvSpPr txBox="1"/>
          <p:nvPr/>
        </p:nvSpPr>
        <p:spPr>
          <a:xfrm>
            <a:off x="8913606" y="2904688"/>
            <a:ext cx="2866686" cy="369332"/>
          </a:xfrm>
          <a:prstGeom prst="rect">
            <a:avLst/>
          </a:prstGeom>
          <a:noFill/>
        </p:spPr>
        <p:txBody>
          <a:bodyPr wrap="square">
            <a:spAutoFit/>
          </a:bodyPr>
          <a:lstStyle/>
          <a:p>
            <a:r>
              <a:rPr lang="en-US" dirty="0">
                <a:latin typeface="Arial" panose="020B0604020202020204" pitchFamily="34" charset="0"/>
                <a:cs typeface="Arial" panose="020B0604020202020204" pitchFamily="34" charset="0"/>
              </a:rPr>
              <a:t>Enfys Sampled Spectrum</a:t>
            </a:r>
            <a:endParaRPr lang="en-US" dirty="0"/>
          </a:p>
        </p:txBody>
      </p:sp>
      <p:pic>
        <p:nvPicPr>
          <p:cNvPr id="23" name="Picture 22">
            <a:extLst>
              <a:ext uri="{FF2B5EF4-FFF2-40B4-BE49-F238E27FC236}">
                <a16:creationId xmlns:a16="http://schemas.microsoft.com/office/drawing/2014/main" id="{6EC2F6F7-D573-F0B3-E8F5-2388613E9716}"/>
              </a:ext>
            </a:extLst>
          </p:cNvPr>
          <p:cNvPicPr>
            <a:picLocks noChangeAspect="1"/>
          </p:cNvPicPr>
          <p:nvPr/>
        </p:nvPicPr>
        <p:blipFill>
          <a:blip r:embed="rId7"/>
          <a:stretch>
            <a:fillRect/>
          </a:stretch>
        </p:blipFill>
        <p:spPr>
          <a:xfrm>
            <a:off x="9913982" y="2671011"/>
            <a:ext cx="688400" cy="233677"/>
          </a:xfrm>
          <a:prstGeom prst="rect">
            <a:avLst/>
          </a:prstGeom>
        </p:spPr>
      </p:pic>
      <p:pic>
        <p:nvPicPr>
          <p:cNvPr id="24" name="Picture 23">
            <a:extLst>
              <a:ext uri="{FF2B5EF4-FFF2-40B4-BE49-F238E27FC236}">
                <a16:creationId xmlns:a16="http://schemas.microsoft.com/office/drawing/2014/main" id="{E1414376-B932-FF6D-A3B9-114863E9230B}"/>
              </a:ext>
            </a:extLst>
          </p:cNvPr>
          <p:cNvPicPr>
            <a:picLocks noChangeAspect="1"/>
          </p:cNvPicPr>
          <p:nvPr/>
        </p:nvPicPr>
        <p:blipFill>
          <a:blip r:embed="rId8"/>
          <a:stretch>
            <a:fillRect/>
          </a:stretch>
        </p:blipFill>
        <p:spPr>
          <a:xfrm>
            <a:off x="2063948" y="2666919"/>
            <a:ext cx="462683" cy="237768"/>
          </a:xfrm>
          <a:prstGeom prst="rect">
            <a:avLst/>
          </a:prstGeom>
        </p:spPr>
      </p:pic>
      <p:pic>
        <p:nvPicPr>
          <p:cNvPr id="25" name="Picture 24">
            <a:extLst>
              <a:ext uri="{FF2B5EF4-FFF2-40B4-BE49-F238E27FC236}">
                <a16:creationId xmlns:a16="http://schemas.microsoft.com/office/drawing/2014/main" id="{275527FF-02A3-5A06-A738-79F3BC143F48}"/>
              </a:ext>
            </a:extLst>
          </p:cNvPr>
          <p:cNvPicPr>
            <a:picLocks noChangeAspect="1"/>
          </p:cNvPicPr>
          <p:nvPr/>
        </p:nvPicPr>
        <p:blipFill>
          <a:blip r:embed="rId9"/>
          <a:stretch>
            <a:fillRect/>
          </a:stretch>
        </p:blipFill>
        <p:spPr>
          <a:xfrm>
            <a:off x="5726551" y="2671011"/>
            <a:ext cx="933542" cy="234973"/>
          </a:xfrm>
          <a:prstGeom prst="rect">
            <a:avLst/>
          </a:prstGeom>
        </p:spPr>
      </p:pic>
    </p:spTree>
    <p:extLst>
      <p:ext uri="{BB962C8B-B14F-4D97-AF65-F5344CB8AC3E}">
        <p14:creationId xmlns:p14="http://schemas.microsoft.com/office/powerpoint/2010/main" val="202519112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descr="A graph of a graph with blue and orange lines&#10;&#10;AI-generated content may be incorrect.">
            <a:extLst>
              <a:ext uri="{FF2B5EF4-FFF2-40B4-BE49-F238E27FC236}">
                <a16:creationId xmlns:a16="http://schemas.microsoft.com/office/drawing/2014/main" id="{F9595C4E-5198-71F1-0FC8-72D654C84187}"/>
              </a:ext>
            </a:extLst>
          </p:cNvPr>
          <p:cNvPicPr>
            <a:picLocks noChangeAspect="1"/>
          </p:cNvPicPr>
          <p:nvPr/>
        </p:nvPicPr>
        <p:blipFill>
          <a:blip r:embed="rId3"/>
          <a:stretch>
            <a:fillRect/>
          </a:stretch>
        </p:blipFill>
        <p:spPr>
          <a:xfrm>
            <a:off x="8260250" y="322805"/>
            <a:ext cx="3270369" cy="2592511"/>
          </a:xfrm>
          <a:prstGeom prst="rect">
            <a:avLst/>
          </a:prstGeom>
        </p:spPr>
      </p:pic>
      <p:pic>
        <p:nvPicPr>
          <p:cNvPr id="13" name="Picture 12">
            <a:extLst>
              <a:ext uri="{FF2B5EF4-FFF2-40B4-BE49-F238E27FC236}">
                <a16:creationId xmlns:a16="http://schemas.microsoft.com/office/drawing/2014/main" id="{10B42D6F-D5A5-E3D7-DB6F-5102DD662218}"/>
              </a:ext>
            </a:extLst>
          </p:cNvPr>
          <p:cNvPicPr>
            <a:picLocks noChangeAspect="1"/>
          </p:cNvPicPr>
          <p:nvPr/>
        </p:nvPicPr>
        <p:blipFill>
          <a:blip r:embed="rId4"/>
          <a:srcRect t="9859"/>
          <a:stretch>
            <a:fillRect/>
          </a:stretch>
        </p:blipFill>
        <p:spPr>
          <a:xfrm>
            <a:off x="6338119" y="3611656"/>
            <a:ext cx="2882900" cy="2438402"/>
          </a:xfrm>
          <a:prstGeom prst="rect">
            <a:avLst/>
          </a:prstGeom>
        </p:spPr>
      </p:pic>
      <p:pic>
        <p:nvPicPr>
          <p:cNvPr id="15" name="Picture 14">
            <a:extLst>
              <a:ext uri="{FF2B5EF4-FFF2-40B4-BE49-F238E27FC236}">
                <a16:creationId xmlns:a16="http://schemas.microsoft.com/office/drawing/2014/main" id="{908C286E-A0F5-A136-59CC-1ADE5247F0C2}"/>
              </a:ext>
            </a:extLst>
          </p:cNvPr>
          <p:cNvPicPr>
            <a:picLocks noChangeAspect="1"/>
          </p:cNvPicPr>
          <p:nvPr/>
        </p:nvPicPr>
        <p:blipFill>
          <a:blip r:embed="rId5"/>
          <a:srcRect t="8975"/>
          <a:stretch>
            <a:fillRect/>
          </a:stretch>
        </p:blipFill>
        <p:spPr>
          <a:xfrm>
            <a:off x="9221019" y="3969067"/>
            <a:ext cx="2882900" cy="2705101"/>
          </a:xfrm>
          <a:prstGeom prst="rect">
            <a:avLst/>
          </a:prstGeom>
        </p:spPr>
      </p:pic>
      <p:sp>
        <p:nvSpPr>
          <p:cNvPr id="17" name="TextBox 16">
            <a:extLst>
              <a:ext uri="{FF2B5EF4-FFF2-40B4-BE49-F238E27FC236}">
                <a16:creationId xmlns:a16="http://schemas.microsoft.com/office/drawing/2014/main" id="{CD980896-E943-65AC-646A-AA8BB2FB4E44}"/>
              </a:ext>
            </a:extLst>
          </p:cNvPr>
          <p:cNvSpPr txBox="1"/>
          <p:nvPr/>
        </p:nvSpPr>
        <p:spPr>
          <a:xfrm>
            <a:off x="576889" y="322805"/>
            <a:ext cx="6100174" cy="646331"/>
          </a:xfrm>
          <a:prstGeom prst="rect">
            <a:avLst/>
          </a:prstGeom>
          <a:noFill/>
        </p:spPr>
        <p:txBody>
          <a:bodyPr wrap="square">
            <a:spAutoFit/>
          </a:bodyPr>
          <a:lstStyle/>
          <a:p>
            <a:r>
              <a:rPr lang="en-GB" b="1" dirty="0">
                <a:latin typeface="Arial" panose="020B0604020202020204" pitchFamily="34" charset="0"/>
                <a:cs typeface="Arial" panose="020B0604020202020204" pitchFamily="34" charset="0"/>
              </a:rPr>
              <a:t>Spectral Resampling: </a:t>
            </a:r>
          </a:p>
          <a:p>
            <a:r>
              <a:rPr lang="en-GB" b="1" dirty="0">
                <a:latin typeface="Arial" panose="020B0604020202020204" pitchFamily="34" charset="0"/>
                <a:cs typeface="Arial" panose="020B0604020202020204" pitchFamily="34" charset="0"/>
              </a:rPr>
              <a:t>Setting the Enfys Spectral Channels</a:t>
            </a:r>
            <a:endParaRPr lang="en-GB" b="1" dirty="0">
              <a:solidFill>
                <a:srgbClr val="000000"/>
              </a:solidFill>
              <a:latin typeface="Arial" panose="020B0604020202020204" pitchFamily="34" charset="0"/>
              <a:cs typeface="Arial" panose="020B0604020202020204" pitchFamily="34" charset="0"/>
            </a:endParaRPr>
          </a:p>
        </p:txBody>
      </p:sp>
      <p:sp>
        <p:nvSpPr>
          <p:cNvPr id="19" name="TextBox 18">
            <a:extLst>
              <a:ext uri="{FF2B5EF4-FFF2-40B4-BE49-F238E27FC236}">
                <a16:creationId xmlns:a16="http://schemas.microsoft.com/office/drawing/2014/main" id="{7800D970-C4A0-653E-B2D9-5E5328EF70C3}"/>
              </a:ext>
            </a:extLst>
          </p:cNvPr>
          <p:cNvSpPr txBox="1"/>
          <p:nvPr/>
        </p:nvSpPr>
        <p:spPr>
          <a:xfrm>
            <a:off x="576889" y="1147969"/>
            <a:ext cx="5519111" cy="5262979"/>
          </a:xfrm>
          <a:prstGeom prst="rect">
            <a:avLst/>
          </a:prstGeom>
          <a:noFill/>
        </p:spPr>
        <p:txBody>
          <a:bodyPr wrap="square">
            <a:spAutoFit/>
          </a:bodyPr>
          <a:lstStyle/>
          <a:p>
            <a:r>
              <a:rPr lang="en-US" sz="1800" dirty="0">
                <a:latin typeface="Arial" panose="020B0604020202020204" pitchFamily="34" charset="0"/>
                <a:cs typeface="Arial" panose="020B0604020202020204" pitchFamily="34" charset="0"/>
              </a:rPr>
              <a:t>We assume that Enfys channel </a:t>
            </a:r>
            <a:r>
              <a:rPr lang="en-US" sz="1800" dirty="0" err="1">
                <a:latin typeface="Arial" panose="020B0604020202020204" pitchFamily="34" charset="0"/>
                <a:cs typeface="Arial" panose="020B0604020202020204" pitchFamily="34" charset="0"/>
              </a:rPr>
              <a:t>centre</a:t>
            </a:r>
            <a:r>
              <a:rPr lang="en-US" sz="1800" dirty="0">
                <a:latin typeface="Arial" panose="020B0604020202020204" pitchFamily="34" charset="0"/>
                <a:cs typeface="Arial" panose="020B0604020202020204" pitchFamily="34" charset="0"/>
              </a:rPr>
              <a:t> wavelengths (CWLs, 𝜆</a:t>
            </a:r>
            <a:r>
              <a:rPr lang="en-US" baseline="-25000" dirty="0" err="1">
                <a:latin typeface="Arial" panose="020B0604020202020204" pitchFamily="34" charset="0"/>
                <a:cs typeface="Arial" panose="020B0604020202020204" pitchFamily="34" charset="0"/>
              </a:rPr>
              <a:t>cwl</a:t>
            </a:r>
            <a:r>
              <a:rPr lang="en-US" sz="1800" dirty="0">
                <a:latin typeface="Arial" panose="020B0604020202020204" pitchFamily="34" charset="0"/>
                <a:cs typeface="Arial" panose="020B0604020202020204" pitchFamily="34" charset="0"/>
              </a:rPr>
              <a:t>) can be set with arbitrary precision.</a:t>
            </a:r>
          </a:p>
          <a:p>
            <a:endParaRPr lang="en-US" dirty="0">
              <a:latin typeface="Arial" panose="020B0604020202020204" pitchFamily="34" charset="0"/>
              <a:cs typeface="Arial" panose="020B0604020202020204" pitchFamily="34" charset="0"/>
            </a:endParaRPr>
          </a:p>
          <a:p>
            <a:r>
              <a:rPr lang="en-US" sz="1800" dirty="0">
                <a:latin typeface="Arial" panose="020B0604020202020204" pitchFamily="34" charset="0"/>
                <a:cs typeface="Arial" panose="020B0604020202020204" pitchFamily="34" charset="0"/>
              </a:rPr>
              <a:t>We set channel wavelength intervals (𝛿𝜆) relative to Full-Width-at-Half-Maximum (FWHM</a:t>
            </a:r>
            <a:r>
              <a:rPr lang="en-US" dirty="0">
                <a:latin typeface="Arial" panose="020B0604020202020204" pitchFamily="34" charset="0"/>
                <a:cs typeface="Arial" panose="020B0604020202020204" pitchFamily="34" charset="0"/>
              </a:rPr>
              <a:t>, ∆𝜆) </a:t>
            </a:r>
            <a:r>
              <a:rPr lang="en-US" sz="1800" dirty="0">
                <a:latin typeface="Arial" panose="020B0604020202020204" pitchFamily="34" charset="0"/>
                <a:cs typeface="Arial" panose="020B0604020202020204" pitchFamily="34" charset="0"/>
              </a:rPr>
              <a:t>at the </a:t>
            </a:r>
            <a:r>
              <a:rPr lang="en-US" dirty="0">
                <a:latin typeface="Arial" panose="020B0604020202020204" pitchFamily="34" charset="0"/>
                <a:cs typeface="Arial" panose="020B0604020202020204" pitchFamily="34" charset="0"/>
              </a:rPr>
              <a:t>given 𝜆</a:t>
            </a:r>
            <a:r>
              <a:rPr lang="en-US" baseline="-25000" dirty="0" err="1">
                <a:latin typeface="Arial" panose="020B0604020202020204" pitchFamily="34" charset="0"/>
                <a:cs typeface="Arial" panose="020B0604020202020204" pitchFamily="34" charset="0"/>
              </a:rPr>
              <a:t>cwl</a:t>
            </a:r>
            <a:r>
              <a:rPr lang="en-US" baseline="-25000" dirty="0">
                <a:latin typeface="Arial" panose="020B0604020202020204" pitchFamily="34" charset="0"/>
                <a:cs typeface="Arial" panose="020B0604020202020204" pitchFamily="34" charset="0"/>
              </a:rPr>
              <a:t>.</a:t>
            </a:r>
          </a:p>
          <a:p>
            <a:endParaRPr lang="en-US" sz="1800" baseline="-25000" dirty="0">
              <a:latin typeface="Arial" panose="020B0604020202020204" pitchFamily="34" charset="0"/>
              <a:cs typeface="Arial" panose="020B0604020202020204" pitchFamily="34" charset="0"/>
            </a:endParaRPr>
          </a:p>
          <a:p>
            <a:r>
              <a:rPr lang="en-US" dirty="0">
                <a:latin typeface="Arial" panose="020B0604020202020204" pitchFamily="34" charset="0"/>
                <a:cs typeface="Arial" panose="020B0604020202020204" pitchFamily="34" charset="0"/>
              </a:rPr>
              <a:t>∆𝜆 is defined from the Spectral Resolving Power (𝜆/∆𝜆) of the Linear Variable Filters (LVFs), measured by Aber. Uni. We interpolate and extrapolate the data.</a:t>
            </a:r>
          </a:p>
          <a:p>
            <a:endParaRPr lang="en-US" sz="1800" dirty="0">
              <a:latin typeface="Arial" panose="020B0604020202020204" pitchFamily="34" charset="0"/>
              <a:cs typeface="Arial" panose="020B0604020202020204" pitchFamily="34" charset="0"/>
            </a:endParaRPr>
          </a:p>
          <a:p>
            <a:r>
              <a:rPr lang="en-US" dirty="0">
                <a:latin typeface="Arial" panose="020B0604020202020204" pitchFamily="34" charset="0"/>
                <a:cs typeface="Arial" panose="020B0604020202020204" pitchFamily="34" charset="0"/>
              </a:rPr>
              <a:t>Starting at the initial 𝜆</a:t>
            </a:r>
            <a:r>
              <a:rPr lang="en-US" baseline="-25000" dirty="0" err="1">
                <a:latin typeface="Arial" panose="020B0604020202020204" pitchFamily="34" charset="0"/>
                <a:cs typeface="Arial" panose="020B0604020202020204" pitchFamily="34" charset="0"/>
              </a:rPr>
              <a:t>cwl</a:t>
            </a:r>
            <a:r>
              <a:rPr lang="en-US" baseline="-25000" dirty="0">
                <a:latin typeface="Arial" panose="020B0604020202020204" pitchFamily="34" charset="0"/>
                <a:cs typeface="Arial" panose="020B0604020202020204" pitchFamily="34" charset="0"/>
              </a:rPr>
              <a:t> </a:t>
            </a:r>
            <a:r>
              <a:rPr lang="en-US" dirty="0">
                <a:latin typeface="Arial" panose="020B0604020202020204" pitchFamily="34" charset="0"/>
                <a:cs typeface="Arial" panose="020B0604020202020204" pitchFamily="34" charset="0"/>
              </a:rPr>
              <a:t>of 𝜆</a:t>
            </a:r>
            <a:r>
              <a:rPr lang="en-US" baseline="-25000" dirty="0">
                <a:latin typeface="Arial" panose="020B0604020202020204" pitchFamily="34" charset="0"/>
                <a:cs typeface="Arial" panose="020B0604020202020204" pitchFamily="34" charset="0"/>
              </a:rPr>
              <a:t>0</a:t>
            </a:r>
            <a:r>
              <a:rPr lang="en-US" dirty="0">
                <a:latin typeface="Arial" panose="020B0604020202020204" pitchFamily="34" charset="0"/>
                <a:cs typeface="Arial" panose="020B0604020202020204" pitchFamily="34" charset="0"/>
              </a:rPr>
              <a:t>=0.900 µm, we iteratively generate the 𝜆</a:t>
            </a:r>
            <a:r>
              <a:rPr lang="en-US" baseline="-25000" dirty="0" err="1">
                <a:latin typeface="Arial" panose="020B0604020202020204" pitchFamily="34" charset="0"/>
                <a:cs typeface="Arial" panose="020B0604020202020204" pitchFamily="34" charset="0"/>
              </a:rPr>
              <a:t>cwl</a:t>
            </a:r>
            <a:r>
              <a:rPr lang="en-US" baseline="-25000" dirty="0">
                <a:latin typeface="Arial" panose="020B0604020202020204" pitchFamily="34" charset="0"/>
                <a:cs typeface="Arial" panose="020B0604020202020204" pitchFamily="34" charset="0"/>
              </a:rPr>
              <a:t> </a:t>
            </a:r>
            <a:r>
              <a:rPr lang="en-US" dirty="0">
                <a:latin typeface="Arial" panose="020B0604020202020204" pitchFamily="34" charset="0"/>
                <a:cs typeface="Arial" panose="020B0604020202020204" pitchFamily="34" charset="0"/>
              </a:rPr>
              <a:t>list with Nyquist sampling, i.e. 𝛿𝜆 = ∆𝜆/2, such that:</a:t>
            </a:r>
          </a:p>
          <a:p>
            <a:endParaRPr lang="en-US" dirty="0">
              <a:latin typeface="Arial" panose="020B0604020202020204" pitchFamily="34" charset="0"/>
              <a:cs typeface="Arial" panose="020B0604020202020204" pitchFamily="34" charset="0"/>
            </a:endParaRPr>
          </a:p>
          <a:p>
            <a:endParaRPr lang="en-US" dirty="0">
              <a:latin typeface="Arial" panose="020B0604020202020204" pitchFamily="34" charset="0"/>
              <a:cs typeface="Arial" panose="020B0604020202020204" pitchFamily="34" charset="0"/>
            </a:endParaRPr>
          </a:p>
          <a:p>
            <a:endParaRPr lang="en-US" dirty="0">
              <a:latin typeface="Arial" panose="020B0604020202020204" pitchFamily="34" charset="0"/>
              <a:cs typeface="Arial" panose="020B0604020202020204" pitchFamily="34" charset="0"/>
            </a:endParaRPr>
          </a:p>
          <a:p>
            <a:r>
              <a:rPr lang="en-US" dirty="0">
                <a:latin typeface="Arial" panose="020B0604020202020204" pitchFamily="34" charset="0"/>
                <a:cs typeface="Arial" panose="020B0604020202020204" pitchFamily="34" charset="0"/>
              </a:rPr>
              <a:t>that we repeat up to the longest 𝜆</a:t>
            </a:r>
            <a:r>
              <a:rPr lang="en-US" baseline="-25000" dirty="0" err="1">
                <a:latin typeface="Arial" panose="020B0604020202020204" pitchFamily="34" charset="0"/>
                <a:cs typeface="Arial" panose="020B0604020202020204" pitchFamily="34" charset="0"/>
              </a:rPr>
              <a:t>cwl</a:t>
            </a:r>
            <a:r>
              <a:rPr lang="en-US" dirty="0">
                <a:latin typeface="Arial" panose="020B0604020202020204" pitchFamily="34" charset="0"/>
                <a:cs typeface="Arial" panose="020B0604020202020204" pitchFamily="34" charset="0"/>
              </a:rPr>
              <a:t>.</a:t>
            </a:r>
          </a:p>
        </p:txBody>
      </p:sp>
      <p:pic>
        <p:nvPicPr>
          <p:cNvPr id="20" name="Picture 19">
            <a:extLst>
              <a:ext uri="{FF2B5EF4-FFF2-40B4-BE49-F238E27FC236}">
                <a16:creationId xmlns:a16="http://schemas.microsoft.com/office/drawing/2014/main" id="{11C2AAD2-4C5A-63DF-B32B-1C5A6F8096D7}"/>
              </a:ext>
            </a:extLst>
          </p:cNvPr>
          <p:cNvPicPr>
            <a:picLocks noChangeAspect="1"/>
          </p:cNvPicPr>
          <p:nvPr/>
        </p:nvPicPr>
        <p:blipFill>
          <a:blip r:embed="rId6"/>
          <a:stretch>
            <a:fillRect/>
          </a:stretch>
        </p:blipFill>
        <p:spPr>
          <a:xfrm>
            <a:off x="1907460" y="5321617"/>
            <a:ext cx="2344020" cy="538204"/>
          </a:xfrm>
          <a:prstGeom prst="rect">
            <a:avLst/>
          </a:prstGeom>
        </p:spPr>
      </p:pic>
      <p:sp>
        <p:nvSpPr>
          <p:cNvPr id="22" name="TextBox 21">
            <a:extLst>
              <a:ext uri="{FF2B5EF4-FFF2-40B4-BE49-F238E27FC236}">
                <a16:creationId xmlns:a16="http://schemas.microsoft.com/office/drawing/2014/main" id="{97A252A5-47CB-A152-4DF4-D1A7762F7300}"/>
              </a:ext>
            </a:extLst>
          </p:cNvPr>
          <p:cNvSpPr txBox="1"/>
          <p:nvPr/>
        </p:nvSpPr>
        <p:spPr>
          <a:xfrm>
            <a:off x="6519879" y="536937"/>
            <a:ext cx="1740371" cy="738664"/>
          </a:xfrm>
          <a:prstGeom prst="rect">
            <a:avLst/>
          </a:prstGeom>
          <a:noFill/>
        </p:spPr>
        <p:txBody>
          <a:bodyPr wrap="square" rtlCol="0">
            <a:spAutoFit/>
          </a:bodyPr>
          <a:lstStyle/>
          <a:p>
            <a:r>
              <a:rPr lang="en-US" sz="1400" dirty="0"/>
              <a:t>Measured LVF Spectral Resolving Power (Aber. Uni.)</a:t>
            </a:r>
          </a:p>
        </p:txBody>
      </p:sp>
      <p:sp>
        <p:nvSpPr>
          <p:cNvPr id="23" name="Right Arrow 22">
            <a:extLst>
              <a:ext uri="{FF2B5EF4-FFF2-40B4-BE49-F238E27FC236}">
                <a16:creationId xmlns:a16="http://schemas.microsoft.com/office/drawing/2014/main" id="{62FA1749-635E-8DC3-12A2-7ECC16BF6537}"/>
              </a:ext>
            </a:extLst>
          </p:cNvPr>
          <p:cNvSpPr/>
          <p:nvPr/>
        </p:nvSpPr>
        <p:spPr>
          <a:xfrm rot="6300000">
            <a:off x="8112763" y="3118395"/>
            <a:ext cx="609341" cy="214132"/>
          </a:xfrm>
          <a:prstGeom prst="rightArrow">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ight Arrow 23">
            <a:extLst>
              <a:ext uri="{FF2B5EF4-FFF2-40B4-BE49-F238E27FC236}">
                <a16:creationId xmlns:a16="http://schemas.microsoft.com/office/drawing/2014/main" id="{61C351DA-5885-5A79-4B0B-64B01967FAAC}"/>
              </a:ext>
            </a:extLst>
          </p:cNvPr>
          <p:cNvSpPr/>
          <p:nvPr/>
        </p:nvSpPr>
        <p:spPr>
          <a:xfrm rot="1800000">
            <a:off x="9233734" y="3862001"/>
            <a:ext cx="609341" cy="214132"/>
          </a:xfrm>
          <a:prstGeom prst="rightArrow">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TextBox 25">
            <a:extLst>
              <a:ext uri="{FF2B5EF4-FFF2-40B4-BE49-F238E27FC236}">
                <a16:creationId xmlns:a16="http://schemas.microsoft.com/office/drawing/2014/main" id="{8C3D7EDD-1F5D-F93B-AC93-6FD83450AFCA}"/>
              </a:ext>
            </a:extLst>
          </p:cNvPr>
          <p:cNvSpPr txBox="1"/>
          <p:nvPr/>
        </p:nvSpPr>
        <p:spPr>
          <a:xfrm>
            <a:off x="6691271" y="2617154"/>
            <a:ext cx="1740371" cy="646331"/>
          </a:xfrm>
          <a:prstGeom prst="rect">
            <a:avLst/>
          </a:prstGeom>
          <a:noFill/>
        </p:spPr>
        <p:txBody>
          <a:bodyPr wrap="square">
            <a:spAutoFit/>
          </a:bodyPr>
          <a:lstStyle/>
          <a:p>
            <a:r>
              <a:rPr lang="en-US" dirty="0">
                <a:latin typeface="Arial" panose="020B0604020202020204" pitchFamily="34" charset="0"/>
                <a:cs typeface="Arial" panose="020B0604020202020204" pitchFamily="34" charset="0"/>
              </a:rPr>
              <a:t>Interpolate and extrapolate ∆𝜆  </a:t>
            </a:r>
            <a:endParaRPr lang="en-US" dirty="0"/>
          </a:p>
        </p:txBody>
      </p:sp>
      <p:sp>
        <p:nvSpPr>
          <p:cNvPr id="27" name="TextBox 26">
            <a:extLst>
              <a:ext uri="{FF2B5EF4-FFF2-40B4-BE49-F238E27FC236}">
                <a16:creationId xmlns:a16="http://schemas.microsoft.com/office/drawing/2014/main" id="{A1A05FB7-5FE5-DB01-4BDC-C85DDF053760}"/>
              </a:ext>
            </a:extLst>
          </p:cNvPr>
          <p:cNvSpPr txBox="1"/>
          <p:nvPr/>
        </p:nvSpPr>
        <p:spPr>
          <a:xfrm>
            <a:off x="9538404" y="3272333"/>
            <a:ext cx="2151973" cy="584775"/>
          </a:xfrm>
          <a:prstGeom prst="rect">
            <a:avLst/>
          </a:prstGeom>
          <a:noFill/>
        </p:spPr>
        <p:txBody>
          <a:bodyPr wrap="square">
            <a:spAutoFit/>
          </a:bodyPr>
          <a:lstStyle/>
          <a:p>
            <a:r>
              <a:rPr lang="en-US" sz="1600" dirty="0">
                <a:latin typeface="Arial" panose="020B0604020202020204" pitchFamily="34" charset="0"/>
                <a:cs typeface="Arial" panose="020B0604020202020204" pitchFamily="34" charset="0"/>
              </a:rPr>
              <a:t>Generate Nyquist-spaced 𝜆</a:t>
            </a:r>
            <a:r>
              <a:rPr lang="en-US" sz="1600" baseline="-25000" dirty="0" err="1">
                <a:latin typeface="Arial" panose="020B0604020202020204" pitchFamily="34" charset="0"/>
                <a:cs typeface="Arial" panose="020B0604020202020204" pitchFamily="34" charset="0"/>
              </a:rPr>
              <a:t>cwl</a:t>
            </a:r>
            <a:r>
              <a:rPr lang="en-US" sz="1600" baseline="-25000" dirty="0">
                <a:latin typeface="Arial" panose="020B0604020202020204" pitchFamily="34" charset="0"/>
                <a:cs typeface="Arial" panose="020B0604020202020204" pitchFamily="34" charset="0"/>
              </a:rPr>
              <a:t> </a:t>
            </a:r>
            <a:endParaRPr lang="en-US" sz="1600" dirty="0"/>
          </a:p>
        </p:txBody>
      </p:sp>
    </p:spTree>
    <p:extLst>
      <p:ext uri="{BB962C8B-B14F-4D97-AF65-F5344CB8AC3E}">
        <p14:creationId xmlns:p14="http://schemas.microsoft.com/office/powerpoint/2010/main" val="293789965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2A465F-9D3E-C243-A31A-EE6BB6FECA24}"/>
            </a:ext>
          </a:extLst>
        </p:cNvPr>
        <p:cNvGrpSpPr/>
        <p:nvPr/>
      </p:nvGrpSpPr>
      <p:grpSpPr>
        <a:xfrm>
          <a:off x="0" y="0"/>
          <a:ext cx="0" cy="0"/>
          <a:chOff x="0" y="0"/>
          <a:chExt cx="0" cy="0"/>
        </a:xfrm>
      </p:grpSpPr>
      <p:sp>
        <p:nvSpPr>
          <p:cNvPr id="17" name="TextBox 16">
            <a:extLst>
              <a:ext uri="{FF2B5EF4-FFF2-40B4-BE49-F238E27FC236}">
                <a16:creationId xmlns:a16="http://schemas.microsoft.com/office/drawing/2014/main" id="{7BE840C5-73A3-BD07-D629-73FD1393A0AC}"/>
              </a:ext>
            </a:extLst>
          </p:cNvPr>
          <p:cNvSpPr txBox="1"/>
          <p:nvPr/>
        </p:nvSpPr>
        <p:spPr>
          <a:xfrm>
            <a:off x="576889" y="322804"/>
            <a:ext cx="6762374" cy="923330"/>
          </a:xfrm>
          <a:prstGeom prst="rect">
            <a:avLst/>
          </a:prstGeom>
          <a:noFill/>
        </p:spPr>
        <p:txBody>
          <a:bodyPr wrap="square">
            <a:spAutoFit/>
          </a:bodyPr>
          <a:lstStyle/>
          <a:p>
            <a:r>
              <a:rPr lang="en-GB" b="1" dirty="0">
                <a:latin typeface="Arial" panose="020B0604020202020204" pitchFamily="34" charset="0"/>
                <a:cs typeface="Arial" panose="020B0604020202020204" pitchFamily="34" charset="0"/>
              </a:rPr>
              <a:t>Spectral Resampling: </a:t>
            </a:r>
          </a:p>
          <a:p>
            <a:r>
              <a:rPr lang="en-GB" b="1" dirty="0">
                <a:latin typeface="Arial" panose="020B0604020202020204" pitchFamily="34" charset="0"/>
                <a:cs typeface="Arial" panose="020B0604020202020204" pitchFamily="34" charset="0"/>
              </a:rPr>
              <a:t>Setting the Enfys Spectral Channel Transmission Profiles</a:t>
            </a:r>
          </a:p>
          <a:p>
            <a:endParaRPr lang="en-GB" b="1" dirty="0">
              <a:solidFill>
                <a:srgbClr val="000000"/>
              </a:solidFill>
              <a:latin typeface="Arial" panose="020B0604020202020204" pitchFamily="34" charset="0"/>
              <a:cs typeface="Arial" panose="020B0604020202020204" pitchFamily="34" charset="0"/>
            </a:endParaRPr>
          </a:p>
        </p:txBody>
      </p:sp>
      <p:pic>
        <p:nvPicPr>
          <p:cNvPr id="3" name="Picture 2" descr="A graph of a blue line&#10;&#10;AI-generated content may be incorrect.">
            <a:extLst>
              <a:ext uri="{FF2B5EF4-FFF2-40B4-BE49-F238E27FC236}">
                <a16:creationId xmlns:a16="http://schemas.microsoft.com/office/drawing/2014/main" id="{226C0C26-9A31-2AEE-13D7-6062E849905B}"/>
              </a:ext>
            </a:extLst>
          </p:cNvPr>
          <p:cNvPicPr>
            <a:picLocks noChangeAspect="1"/>
          </p:cNvPicPr>
          <p:nvPr/>
        </p:nvPicPr>
        <p:blipFill>
          <a:blip r:embed="rId3"/>
          <a:stretch>
            <a:fillRect/>
          </a:stretch>
        </p:blipFill>
        <p:spPr>
          <a:xfrm>
            <a:off x="6195059" y="1027685"/>
            <a:ext cx="5533827" cy="4323923"/>
          </a:xfrm>
          <a:prstGeom prst="rect">
            <a:avLst/>
          </a:prstGeom>
        </p:spPr>
      </p:pic>
      <p:pic>
        <p:nvPicPr>
          <p:cNvPr id="4" name="Picture 3">
            <a:extLst>
              <a:ext uri="{FF2B5EF4-FFF2-40B4-BE49-F238E27FC236}">
                <a16:creationId xmlns:a16="http://schemas.microsoft.com/office/drawing/2014/main" id="{B1E350E8-1FC2-6030-6703-FB432D107FC4}"/>
              </a:ext>
            </a:extLst>
          </p:cNvPr>
          <p:cNvPicPr>
            <a:picLocks noChangeAspect="1"/>
          </p:cNvPicPr>
          <p:nvPr/>
        </p:nvPicPr>
        <p:blipFill>
          <a:blip r:embed="rId4"/>
          <a:stretch>
            <a:fillRect/>
          </a:stretch>
        </p:blipFill>
        <p:spPr>
          <a:xfrm>
            <a:off x="1299167" y="2206572"/>
            <a:ext cx="3226338" cy="655464"/>
          </a:xfrm>
          <a:prstGeom prst="rect">
            <a:avLst/>
          </a:prstGeom>
        </p:spPr>
      </p:pic>
      <p:pic>
        <p:nvPicPr>
          <p:cNvPr id="5" name="Picture 4">
            <a:extLst>
              <a:ext uri="{FF2B5EF4-FFF2-40B4-BE49-F238E27FC236}">
                <a16:creationId xmlns:a16="http://schemas.microsoft.com/office/drawing/2014/main" id="{23096138-CFB3-4253-E63F-7BF1F877CD34}"/>
              </a:ext>
            </a:extLst>
          </p:cNvPr>
          <p:cNvPicPr>
            <a:picLocks noChangeAspect="1"/>
          </p:cNvPicPr>
          <p:nvPr/>
        </p:nvPicPr>
        <p:blipFill>
          <a:blip r:embed="rId5"/>
          <a:stretch>
            <a:fillRect/>
          </a:stretch>
        </p:blipFill>
        <p:spPr>
          <a:xfrm>
            <a:off x="2782868" y="3429000"/>
            <a:ext cx="1216635" cy="292308"/>
          </a:xfrm>
          <a:prstGeom prst="rect">
            <a:avLst/>
          </a:prstGeom>
        </p:spPr>
      </p:pic>
      <p:sp>
        <p:nvSpPr>
          <p:cNvPr id="7" name="TextBox 6">
            <a:extLst>
              <a:ext uri="{FF2B5EF4-FFF2-40B4-BE49-F238E27FC236}">
                <a16:creationId xmlns:a16="http://schemas.microsoft.com/office/drawing/2014/main" id="{5DAB435D-EDC8-91E4-D408-52F65A5E2ED5}"/>
              </a:ext>
            </a:extLst>
          </p:cNvPr>
          <p:cNvSpPr txBox="1"/>
          <p:nvPr/>
        </p:nvSpPr>
        <p:spPr>
          <a:xfrm>
            <a:off x="576889" y="3004981"/>
            <a:ext cx="6098582" cy="369332"/>
          </a:xfrm>
          <a:prstGeom prst="rect">
            <a:avLst/>
          </a:prstGeom>
          <a:noFill/>
        </p:spPr>
        <p:txBody>
          <a:bodyPr wrap="square">
            <a:spAutoFit/>
          </a:bodyPr>
          <a:lstStyle/>
          <a:p>
            <a:r>
              <a:rPr lang="en-GB" dirty="0">
                <a:solidFill>
                  <a:srgbClr val="000000"/>
                </a:solidFill>
                <a:latin typeface="Arial" panose="020B0604020202020204" pitchFamily="34" charset="0"/>
                <a:cs typeface="Arial" panose="020B0604020202020204" pitchFamily="34" charset="0"/>
              </a:rPr>
              <a:t>where 𝛾 is the HWHM:</a:t>
            </a:r>
          </a:p>
        </p:txBody>
      </p:sp>
      <p:sp>
        <p:nvSpPr>
          <p:cNvPr id="8" name="TextBox 7">
            <a:extLst>
              <a:ext uri="{FF2B5EF4-FFF2-40B4-BE49-F238E27FC236}">
                <a16:creationId xmlns:a16="http://schemas.microsoft.com/office/drawing/2014/main" id="{01E51830-848D-7E95-A9D0-C69BDAB0C300}"/>
              </a:ext>
            </a:extLst>
          </p:cNvPr>
          <p:cNvSpPr txBox="1"/>
          <p:nvPr/>
        </p:nvSpPr>
        <p:spPr>
          <a:xfrm>
            <a:off x="576889" y="3954831"/>
            <a:ext cx="5519111" cy="1190605"/>
          </a:xfrm>
          <a:prstGeom prst="rect">
            <a:avLst/>
          </a:prstGeom>
          <a:noFill/>
        </p:spPr>
        <p:txBody>
          <a:bodyPr wrap="square">
            <a:spAutoFit/>
          </a:bodyPr>
          <a:lstStyle/>
          <a:p>
            <a:r>
              <a:rPr lang="en-GB" dirty="0">
                <a:solidFill>
                  <a:srgbClr val="000000"/>
                </a:solidFill>
                <a:latin typeface="Arial" panose="020B0604020202020204" pitchFamily="34" charset="0"/>
                <a:cs typeface="Arial" panose="020B0604020202020204" pitchFamily="34" charset="0"/>
              </a:rPr>
              <a:t>where </a:t>
            </a:r>
            <a:r>
              <a:rPr lang="en-US" dirty="0">
                <a:latin typeface="Arial" panose="020B0604020202020204" pitchFamily="34" charset="0"/>
                <a:cs typeface="Arial" panose="020B0604020202020204" pitchFamily="34" charset="0"/>
              </a:rPr>
              <a:t>∆𝜆 (</a:t>
            </a:r>
            <a:r>
              <a:rPr lang="en-GB" dirty="0">
                <a:solidFill>
                  <a:srgbClr val="000000"/>
                </a:solidFill>
                <a:latin typeface="Arial" panose="020B0604020202020204" pitchFamily="34" charset="0"/>
                <a:cs typeface="Arial" panose="020B0604020202020204" pitchFamily="34" charset="0"/>
              </a:rPr>
              <a:t>FWHM) is a function of </a:t>
            </a:r>
            <a:r>
              <a:rPr lang="en-US" dirty="0">
                <a:latin typeface="Arial" panose="020B0604020202020204" pitchFamily="34" charset="0"/>
                <a:cs typeface="Arial" panose="020B0604020202020204" pitchFamily="34" charset="0"/>
              </a:rPr>
              <a:t>𝜆</a:t>
            </a:r>
            <a:r>
              <a:rPr lang="en-US" baseline="-25000" dirty="0" err="1">
                <a:latin typeface="Arial" panose="020B0604020202020204" pitchFamily="34" charset="0"/>
                <a:cs typeface="Arial" panose="020B0604020202020204" pitchFamily="34" charset="0"/>
              </a:rPr>
              <a:t>cwl</a:t>
            </a:r>
            <a:r>
              <a:rPr lang="en-US" baseline="-25000" dirty="0">
                <a:latin typeface="Arial" panose="020B0604020202020204" pitchFamily="34" charset="0"/>
                <a:cs typeface="Arial" panose="020B0604020202020204" pitchFamily="34" charset="0"/>
              </a:rPr>
              <a:t> </a:t>
            </a:r>
            <a:r>
              <a:rPr lang="en-US" dirty="0">
                <a:latin typeface="Arial" panose="020B0604020202020204" pitchFamily="34" charset="0"/>
                <a:cs typeface="Arial" panose="020B0604020202020204" pitchFamily="34" charset="0"/>
              </a:rPr>
              <a:t>(see previous slide).</a:t>
            </a:r>
            <a:endParaRPr lang="en-GB" dirty="0">
              <a:solidFill>
                <a:srgbClr val="000000"/>
              </a:solidFill>
              <a:latin typeface="Arial" panose="020B0604020202020204" pitchFamily="34" charset="0"/>
              <a:cs typeface="Arial" panose="020B0604020202020204" pitchFamily="34" charset="0"/>
            </a:endParaRPr>
          </a:p>
          <a:p>
            <a:endParaRPr lang="en-GB" dirty="0">
              <a:solidFill>
                <a:srgbClr val="000000"/>
              </a:solidFill>
              <a:latin typeface="Arial" panose="020B0604020202020204" pitchFamily="34" charset="0"/>
              <a:cs typeface="Arial" panose="020B0604020202020204" pitchFamily="34" charset="0"/>
            </a:endParaRPr>
          </a:p>
          <a:p>
            <a:r>
              <a:rPr lang="en-GB" dirty="0">
                <a:solidFill>
                  <a:srgbClr val="000000"/>
                </a:solidFill>
                <a:latin typeface="Arial" panose="020B0604020202020204" pitchFamily="34" charset="0"/>
                <a:cs typeface="Arial" panose="020B0604020202020204" pitchFamily="34" charset="0"/>
              </a:rPr>
              <a:t>We assume there is no out-of-band leakage.</a:t>
            </a:r>
          </a:p>
        </p:txBody>
      </p:sp>
      <p:sp>
        <p:nvSpPr>
          <p:cNvPr id="11" name="TextBox 10">
            <a:extLst>
              <a:ext uri="{FF2B5EF4-FFF2-40B4-BE49-F238E27FC236}">
                <a16:creationId xmlns:a16="http://schemas.microsoft.com/office/drawing/2014/main" id="{868534B9-8827-AE46-BE9A-536C12FC59FA}"/>
              </a:ext>
            </a:extLst>
          </p:cNvPr>
          <p:cNvSpPr txBox="1"/>
          <p:nvPr/>
        </p:nvSpPr>
        <p:spPr>
          <a:xfrm>
            <a:off x="575461" y="1209732"/>
            <a:ext cx="5519111" cy="646331"/>
          </a:xfrm>
          <a:prstGeom prst="rect">
            <a:avLst/>
          </a:prstGeom>
          <a:noFill/>
        </p:spPr>
        <p:txBody>
          <a:bodyPr wrap="square">
            <a:spAutoFit/>
          </a:bodyPr>
          <a:lstStyle/>
          <a:p>
            <a:r>
              <a:rPr lang="en-GB" dirty="0">
                <a:solidFill>
                  <a:srgbClr val="000000"/>
                </a:solidFill>
                <a:latin typeface="Arial" panose="020B0604020202020204" pitchFamily="34" charset="0"/>
                <a:cs typeface="Arial" panose="020B0604020202020204" pitchFamily="34" charset="0"/>
              </a:rPr>
              <a:t>We model the transmission with a Cauchy distribution profile (M. Gunn):</a:t>
            </a:r>
          </a:p>
        </p:txBody>
      </p:sp>
    </p:spTree>
    <p:extLst>
      <p:ext uri="{BB962C8B-B14F-4D97-AF65-F5344CB8AC3E}">
        <p14:creationId xmlns:p14="http://schemas.microsoft.com/office/powerpoint/2010/main" val="192753871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AF027E-B4E4-1B85-2A97-94D13866819D}"/>
            </a:ext>
          </a:extLst>
        </p:cNvPr>
        <p:cNvGrpSpPr/>
        <p:nvPr/>
      </p:nvGrpSpPr>
      <p:grpSpPr>
        <a:xfrm>
          <a:off x="0" y="0"/>
          <a:ext cx="0" cy="0"/>
          <a:chOff x="0" y="0"/>
          <a:chExt cx="0" cy="0"/>
        </a:xfrm>
      </p:grpSpPr>
      <p:sp>
        <p:nvSpPr>
          <p:cNvPr id="17" name="TextBox 16">
            <a:extLst>
              <a:ext uri="{FF2B5EF4-FFF2-40B4-BE49-F238E27FC236}">
                <a16:creationId xmlns:a16="http://schemas.microsoft.com/office/drawing/2014/main" id="{79672A6F-0A50-DEEC-A9AB-9FA719E35330}"/>
              </a:ext>
            </a:extLst>
          </p:cNvPr>
          <p:cNvSpPr txBox="1"/>
          <p:nvPr/>
        </p:nvSpPr>
        <p:spPr>
          <a:xfrm>
            <a:off x="576889" y="322804"/>
            <a:ext cx="6762374" cy="923330"/>
          </a:xfrm>
          <a:prstGeom prst="rect">
            <a:avLst/>
          </a:prstGeom>
          <a:noFill/>
        </p:spPr>
        <p:txBody>
          <a:bodyPr wrap="square">
            <a:spAutoFit/>
          </a:bodyPr>
          <a:lstStyle/>
          <a:p>
            <a:r>
              <a:rPr lang="en-GB" b="1" dirty="0">
                <a:latin typeface="Arial" panose="020B0604020202020204" pitchFamily="34" charset="0"/>
                <a:cs typeface="Arial" panose="020B0604020202020204" pitchFamily="34" charset="0"/>
              </a:rPr>
              <a:t>Spectral Resampling: </a:t>
            </a:r>
          </a:p>
          <a:p>
            <a:r>
              <a:rPr lang="en-GB" b="1" dirty="0">
                <a:latin typeface="Arial" panose="020B0604020202020204" pitchFamily="34" charset="0"/>
                <a:cs typeface="Arial" panose="020B0604020202020204" pitchFamily="34" charset="0"/>
              </a:rPr>
              <a:t>Adding Noise</a:t>
            </a:r>
          </a:p>
          <a:p>
            <a:endParaRPr lang="en-GB" b="1" dirty="0">
              <a:solidFill>
                <a:srgbClr val="000000"/>
              </a:solidFill>
              <a:latin typeface="Arial" panose="020B0604020202020204" pitchFamily="34" charset="0"/>
              <a:cs typeface="Arial" panose="020B0604020202020204" pitchFamily="34" charset="0"/>
            </a:endParaRPr>
          </a:p>
        </p:txBody>
      </p:sp>
      <p:pic>
        <p:nvPicPr>
          <p:cNvPr id="6" name="Picture 5">
            <a:extLst>
              <a:ext uri="{FF2B5EF4-FFF2-40B4-BE49-F238E27FC236}">
                <a16:creationId xmlns:a16="http://schemas.microsoft.com/office/drawing/2014/main" id="{942EDEDB-B96D-658C-BB51-5693BC0DB2C4}"/>
              </a:ext>
            </a:extLst>
          </p:cNvPr>
          <p:cNvPicPr>
            <a:picLocks noChangeAspect="1"/>
          </p:cNvPicPr>
          <p:nvPr/>
        </p:nvPicPr>
        <p:blipFill>
          <a:blip r:embed="rId3"/>
          <a:srcRect l="17274" t="5515" r="16304"/>
          <a:stretch>
            <a:fillRect/>
          </a:stretch>
        </p:blipFill>
        <p:spPr>
          <a:xfrm>
            <a:off x="8003240" y="2918157"/>
            <a:ext cx="4078706" cy="3727529"/>
          </a:xfrm>
          <a:prstGeom prst="rect">
            <a:avLst/>
          </a:prstGeom>
        </p:spPr>
      </p:pic>
      <p:pic>
        <p:nvPicPr>
          <p:cNvPr id="9" name="Picture 8">
            <a:extLst>
              <a:ext uri="{FF2B5EF4-FFF2-40B4-BE49-F238E27FC236}">
                <a16:creationId xmlns:a16="http://schemas.microsoft.com/office/drawing/2014/main" id="{FE11E9D7-EA2D-F018-EFC8-6EDAF65C41DB}"/>
              </a:ext>
            </a:extLst>
          </p:cNvPr>
          <p:cNvPicPr>
            <a:picLocks noChangeAspect="1"/>
          </p:cNvPicPr>
          <p:nvPr/>
        </p:nvPicPr>
        <p:blipFill>
          <a:blip r:embed="rId4"/>
          <a:srcRect t="5703" r="7631"/>
          <a:stretch>
            <a:fillRect/>
          </a:stretch>
        </p:blipFill>
        <p:spPr>
          <a:xfrm>
            <a:off x="3986313" y="296927"/>
            <a:ext cx="4309001" cy="3306372"/>
          </a:xfrm>
          <a:prstGeom prst="rect">
            <a:avLst/>
          </a:prstGeom>
        </p:spPr>
      </p:pic>
      <p:sp>
        <p:nvSpPr>
          <p:cNvPr id="10" name="Right Arrow 9">
            <a:extLst>
              <a:ext uri="{FF2B5EF4-FFF2-40B4-BE49-F238E27FC236}">
                <a16:creationId xmlns:a16="http://schemas.microsoft.com/office/drawing/2014/main" id="{E066864D-EAC6-7931-C321-D4B328402991}"/>
              </a:ext>
            </a:extLst>
          </p:cNvPr>
          <p:cNvSpPr/>
          <p:nvPr/>
        </p:nvSpPr>
        <p:spPr>
          <a:xfrm>
            <a:off x="7842565" y="5470136"/>
            <a:ext cx="433172" cy="152223"/>
          </a:xfrm>
          <a:prstGeom prst="rightArrow">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Picture 12">
            <a:extLst>
              <a:ext uri="{FF2B5EF4-FFF2-40B4-BE49-F238E27FC236}">
                <a16:creationId xmlns:a16="http://schemas.microsoft.com/office/drawing/2014/main" id="{44DBB93C-EBA0-3BB3-2144-C469912995FA}"/>
              </a:ext>
            </a:extLst>
          </p:cNvPr>
          <p:cNvPicPr>
            <a:picLocks noChangeAspect="1"/>
          </p:cNvPicPr>
          <p:nvPr/>
        </p:nvPicPr>
        <p:blipFill>
          <a:blip r:embed="rId5"/>
          <a:srcRect t="10415"/>
          <a:stretch>
            <a:fillRect/>
          </a:stretch>
        </p:blipFill>
        <p:spPr>
          <a:xfrm>
            <a:off x="412313" y="3418595"/>
            <a:ext cx="3574000" cy="3004297"/>
          </a:xfrm>
          <a:prstGeom prst="rect">
            <a:avLst/>
          </a:prstGeom>
        </p:spPr>
      </p:pic>
      <p:sp>
        <p:nvSpPr>
          <p:cNvPr id="14" name="Right Arrow 13">
            <a:extLst>
              <a:ext uri="{FF2B5EF4-FFF2-40B4-BE49-F238E27FC236}">
                <a16:creationId xmlns:a16="http://schemas.microsoft.com/office/drawing/2014/main" id="{B42F7082-E2BC-9978-BFC5-4D66ABC50B24}"/>
              </a:ext>
            </a:extLst>
          </p:cNvPr>
          <p:cNvSpPr/>
          <p:nvPr/>
        </p:nvSpPr>
        <p:spPr>
          <a:xfrm rot="5400000">
            <a:off x="5240508" y="3311926"/>
            <a:ext cx="477407" cy="168922"/>
          </a:xfrm>
          <a:prstGeom prst="rightArrow">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ight Arrow 15">
            <a:extLst>
              <a:ext uri="{FF2B5EF4-FFF2-40B4-BE49-F238E27FC236}">
                <a16:creationId xmlns:a16="http://schemas.microsoft.com/office/drawing/2014/main" id="{4CECB304-7D1A-D8A6-023B-C0EDF20BDC83}"/>
              </a:ext>
            </a:extLst>
          </p:cNvPr>
          <p:cNvSpPr/>
          <p:nvPr/>
        </p:nvSpPr>
        <p:spPr>
          <a:xfrm>
            <a:off x="4053338" y="4154874"/>
            <a:ext cx="734896" cy="189109"/>
          </a:xfrm>
          <a:prstGeom prst="rightArrow">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8" name="Picture 17">
            <a:extLst>
              <a:ext uri="{FF2B5EF4-FFF2-40B4-BE49-F238E27FC236}">
                <a16:creationId xmlns:a16="http://schemas.microsoft.com/office/drawing/2014/main" id="{D1223934-C13D-2460-1008-4460E6773CCA}"/>
              </a:ext>
            </a:extLst>
          </p:cNvPr>
          <p:cNvPicPr>
            <a:picLocks noChangeAspect="1"/>
          </p:cNvPicPr>
          <p:nvPr/>
        </p:nvPicPr>
        <p:blipFill>
          <a:blip r:embed="rId6"/>
          <a:stretch>
            <a:fillRect/>
          </a:stretch>
        </p:blipFill>
        <p:spPr>
          <a:xfrm>
            <a:off x="4888526" y="4781922"/>
            <a:ext cx="2696083" cy="277645"/>
          </a:xfrm>
          <a:prstGeom prst="rect">
            <a:avLst/>
          </a:prstGeom>
        </p:spPr>
      </p:pic>
      <p:pic>
        <p:nvPicPr>
          <p:cNvPr id="20" name="Picture 19">
            <a:extLst>
              <a:ext uri="{FF2B5EF4-FFF2-40B4-BE49-F238E27FC236}">
                <a16:creationId xmlns:a16="http://schemas.microsoft.com/office/drawing/2014/main" id="{25C207F9-893E-3953-15BB-1F0E39CC6110}"/>
              </a:ext>
            </a:extLst>
          </p:cNvPr>
          <p:cNvPicPr>
            <a:picLocks noChangeAspect="1"/>
          </p:cNvPicPr>
          <p:nvPr/>
        </p:nvPicPr>
        <p:blipFill>
          <a:blip r:embed="rId7"/>
          <a:stretch>
            <a:fillRect/>
          </a:stretch>
        </p:blipFill>
        <p:spPr>
          <a:xfrm>
            <a:off x="4922285" y="3700319"/>
            <a:ext cx="2696083" cy="733744"/>
          </a:xfrm>
          <a:prstGeom prst="rect">
            <a:avLst/>
          </a:prstGeom>
        </p:spPr>
      </p:pic>
      <p:sp>
        <p:nvSpPr>
          <p:cNvPr id="3" name="TextBox 2">
            <a:extLst>
              <a:ext uri="{FF2B5EF4-FFF2-40B4-BE49-F238E27FC236}">
                <a16:creationId xmlns:a16="http://schemas.microsoft.com/office/drawing/2014/main" id="{EF810BE5-7E44-1D5C-CC1C-C38A8908BB7D}"/>
              </a:ext>
            </a:extLst>
          </p:cNvPr>
          <p:cNvSpPr txBox="1"/>
          <p:nvPr/>
        </p:nvSpPr>
        <p:spPr>
          <a:xfrm>
            <a:off x="576888" y="1020398"/>
            <a:ext cx="3574000" cy="2031325"/>
          </a:xfrm>
          <a:prstGeom prst="rect">
            <a:avLst/>
          </a:prstGeom>
          <a:noFill/>
        </p:spPr>
        <p:txBody>
          <a:bodyPr wrap="square">
            <a:spAutoFit/>
          </a:bodyPr>
          <a:lstStyle/>
          <a:p>
            <a:r>
              <a:rPr lang="en-GB" dirty="0">
                <a:solidFill>
                  <a:srgbClr val="000000"/>
                </a:solidFill>
                <a:latin typeface="Arial" panose="020B0604020202020204" pitchFamily="34" charset="0"/>
                <a:cs typeface="Arial" panose="020B0604020202020204" pitchFamily="34" charset="0"/>
              </a:rPr>
              <a:t>We add Gaussian noise to the sampled spectrum.</a:t>
            </a:r>
          </a:p>
          <a:p>
            <a:endParaRPr lang="en-GB" dirty="0">
              <a:solidFill>
                <a:srgbClr val="000000"/>
              </a:solidFill>
              <a:latin typeface="Arial" panose="020B0604020202020204" pitchFamily="34" charset="0"/>
              <a:cs typeface="Arial" panose="020B0604020202020204" pitchFamily="34" charset="0"/>
            </a:endParaRPr>
          </a:p>
          <a:p>
            <a:r>
              <a:rPr lang="en-GB" dirty="0">
                <a:solidFill>
                  <a:srgbClr val="000000"/>
                </a:solidFill>
                <a:latin typeface="Arial" panose="020B0604020202020204" pitchFamily="34" charset="0"/>
                <a:cs typeface="Arial" panose="020B0604020202020204" pitchFamily="34" charset="0"/>
              </a:rPr>
              <a:t>We take the std. dev. of the noise distribution for each channel from the channel observed reflectance and the spectral SNR</a:t>
            </a:r>
          </a:p>
        </p:txBody>
      </p:sp>
      <p:pic>
        <p:nvPicPr>
          <p:cNvPr id="5" name="Picture 4">
            <a:extLst>
              <a:ext uri="{FF2B5EF4-FFF2-40B4-BE49-F238E27FC236}">
                <a16:creationId xmlns:a16="http://schemas.microsoft.com/office/drawing/2014/main" id="{2A58DD8C-3E3E-BEAF-1B4C-95F36242AF1D}"/>
              </a:ext>
            </a:extLst>
          </p:cNvPr>
          <p:cNvPicPr>
            <a:picLocks noChangeAspect="1"/>
          </p:cNvPicPr>
          <p:nvPr/>
        </p:nvPicPr>
        <p:blipFill>
          <a:blip r:embed="rId8"/>
          <a:stretch>
            <a:fillRect/>
          </a:stretch>
        </p:blipFill>
        <p:spPr>
          <a:xfrm>
            <a:off x="4485207" y="5384816"/>
            <a:ext cx="3311212" cy="322862"/>
          </a:xfrm>
          <a:prstGeom prst="rect">
            <a:avLst/>
          </a:prstGeom>
        </p:spPr>
      </p:pic>
      <p:sp>
        <p:nvSpPr>
          <p:cNvPr id="7" name="Right Arrow 6">
            <a:extLst>
              <a:ext uri="{FF2B5EF4-FFF2-40B4-BE49-F238E27FC236}">
                <a16:creationId xmlns:a16="http://schemas.microsoft.com/office/drawing/2014/main" id="{BFF6E00A-6FDF-879B-38EF-425D11AFFF5A}"/>
              </a:ext>
            </a:extLst>
          </p:cNvPr>
          <p:cNvSpPr/>
          <p:nvPr/>
        </p:nvSpPr>
        <p:spPr>
          <a:xfrm rot="1919011">
            <a:off x="5092751" y="5193683"/>
            <a:ext cx="623450" cy="168869"/>
          </a:xfrm>
          <a:prstGeom prst="rightArrow">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30212D68-E335-E30B-2FE1-AE85B77D2758}"/>
              </a:ext>
            </a:extLst>
          </p:cNvPr>
          <p:cNvSpPr txBox="1"/>
          <p:nvPr/>
        </p:nvSpPr>
        <p:spPr>
          <a:xfrm>
            <a:off x="5248358" y="1618"/>
            <a:ext cx="6093912" cy="369332"/>
          </a:xfrm>
          <a:prstGeom prst="rect">
            <a:avLst/>
          </a:prstGeom>
          <a:noFill/>
        </p:spPr>
        <p:txBody>
          <a:bodyPr wrap="square">
            <a:spAutoFit/>
          </a:bodyPr>
          <a:lstStyle/>
          <a:p>
            <a:r>
              <a:rPr lang="en-GB" dirty="0">
                <a:solidFill>
                  <a:srgbClr val="000000"/>
                </a:solidFill>
                <a:latin typeface="Arial" panose="020B0604020202020204" pitchFamily="34" charset="0"/>
                <a:cs typeface="Arial" panose="020B0604020202020204" pitchFamily="34" charset="0"/>
              </a:rPr>
              <a:t>‘Clean’ Enfys spectrum</a:t>
            </a:r>
            <a:endParaRPr lang="en-GB" dirty="0"/>
          </a:p>
        </p:txBody>
      </p:sp>
      <p:sp>
        <p:nvSpPr>
          <p:cNvPr id="15" name="TextBox 14">
            <a:extLst>
              <a:ext uri="{FF2B5EF4-FFF2-40B4-BE49-F238E27FC236}">
                <a16:creationId xmlns:a16="http://schemas.microsoft.com/office/drawing/2014/main" id="{57E253DD-D0ED-188D-A25B-29413909E5BB}"/>
              </a:ext>
            </a:extLst>
          </p:cNvPr>
          <p:cNvSpPr txBox="1"/>
          <p:nvPr/>
        </p:nvSpPr>
        <p:spPr>
          <a:xfrm>
            <a:off x="8833197" y="2669458"/>
            <a:ext cx="3248749" cy="369332"/>
          </a:xfrm>
          <a:prstGeom prst="rect">
            <a:avLst/>
          </a:prstGeom>
          <a:noFill/>
        </p:spPr>
        <p:txBody>
          <a:bodyPr wrap="square">
            <a:spAutoFit/>
          </a:bodyPr>
          <a:lstStyle/>
          <a:p>
            <a:r>
              <a:rPr lang="en-GB" dirty="0">
                <a:solidFill>
                  <a:srgbClr val="000000"/>
                </a:solidFill>
                <a:latin typeface="Arial" panose="020B0604020202020204" pitchFamily="34" charset="0"/>
                <a:cs typeface="Arial" panose="020B0604020202020204" pitchFamily="34" charset="0"/>
              </a:rPr>
              <a:t>Single-draw Noisy Spectrum</a:t>
            </a:r>
            <a:endParaRPr lang="en-GB" dirty="0"/>
          </a:p>
        </p:txBody>
      </p:sp>
      <p:sp>
        <p:nvSpPr>
          <p:cNvPr id="22" name="TextBox 21">
            <a:extLst>
              <a:ext uri="{FF2B5EF4-FFF2-40B4-BE49-F238E27FC236}">
                <a16:creationId xmlns:a16="http://schemas.microsoft.com/office/drawing/2014/main" id="{03FC20E9-B11B-9573-BD9E-10315B67C531}"/>
              </a:ext>
            </a:extLst>
          </p:cNvPr>
          <p:cNvSpPr txBox="1"/>
          <p:nvPr/>
        </p:nvSpPr>
        <p:spPr>
          <a:xfrm>
            <a:off x="1744753" y="3109967"/>
            <a:ext cx="6093912" cy="369332"/>
          </a:xfrm>
          <a:prstGeom prst="rect">
            <a:avLst/>
          </a:prstGeom>
          <a:noFill/>
        </p:spPr>
        <p:txBody>
          <a:bodyPr wrap="square">
            <a:spAutoFit/>
          </a:bodyPr>
          <a:lstStyle/>
          <a:p>
            <a:r>
              <a:rPr lang="en-GB" dirty="0">
                <a:solidFill>
                  <a:srgbClr val="000000"/>
                </a:solidFill>
                <a:latin typeface="Arial" panose="020B0604020202020204" pitchFamily="34" charset="0"/>
                <a:cs typeface="Arial" panose="020B0604020202020204" pitchFamily="34" charset="0"/>
              </a:rPr>
              <a:t>Enfys SNR</a:t>
            </a:r>
            <a:endParaRPr lang="en-GB" dirty="0"/>
          </a:p>
        </p:txBody>
      </p:sp>
      <p:sp>
        <p:nvSpPr>
          <p:cNvPr id="24" name="TextBox 23">
            <a:extLst>
              <a:ext uri="{FF2B5EF4-FFF2-40B4-BE49-F238E27FC236}">
                <a16:creationId xmlns:a16="http://schemas.microsoft.com/office/drawing/2014/main" id="{88E25F3B-F602-1F30-3FD4-B3C8650AA5EB}"/>
              </a:ext>
            </a:extLst>
          </p:cNvPr>
          <p:cNvSpPr txBox="1"/>
          <p:nvPr/>
        </p:nvSpPr>
        <p:spPr>
          <a:xfrm>
            <a:off x="6425880" y="3653297"/>
            <a:ext cx="1949203" cy="307777"/>
          </a:xfrm>
          <a:prstGeom prst="rect">
            <a:avLst/>
          </a:prstGeom>
          <a:noFill/>
        </p:spPr>
        <p:txBody>
          <a:bodyPr wrap="square">
            <a:spAutoFit/>
          </a:bodyPr>
          <a:lstStyle/>
          <a:p>
            <a:r>
              <a:rPr lang="en-GB" sz="1400" dirty="0">
                <a:solidFill>
                  <a:srgbClr val="000000"/>
                </a:solidFill>
                <a:latin typeface="Arial" panose="020B0604020202020204" pitchFamily="34" charset="0"/>
                <a:cs typeface="Arial" panose="020B0604020202020204" pitchFamily="34" charset="0"/>
              </a:rPr>
              <a:t>Std. Dev. of noise</a:t>
            </a:r>
            <a:endParaRPr lang="en-GB" sz="1400" dirty="0"/>
          </a:p>
        </p:txBody>
      </p:sp>
      <p:sp>
        <p:nvSpPr>
          <p:cNvPr id="25" name="TextBox 24">
            <a:extLst>
              <a:ext uri="{FF2B5EF4-FFF2-40B4-BE49-F238E27FC236}">
                <a16:creationId xmlns:a16="http://schemas.microsoft.com/office/drawing/2014/main" id="{3EEF51F1-C668-EFE3-5351-A45BF0D8DC8B}"/>
              </a:ext>
            </a:extLst>
          </p:cNvPr>
          <p:cNvSpPr txBox="1"/>
          <p:nvPr/>
        </p:nvSpPr>
        <p:spPr>
          <a:xfrm>
            <a:off x="4728339" y="4505937"/>
            <a:ext cx="3477350" cy="307777"/>
          </a:xfrm>
          <a:prstGeom prst="rect">
            <a:avLst/>
          </a:prstGeom>
          <a:noFill/>
        </p:spPr>
        <p:txBody>
          <a:bodyPr wrap="square">
            <a:spAutoFit/>
          </a:bodyPr>
          <a:lstStyle/>
          <a:p>
            <a:r>
              <a:rPr lang="en-GB" sz="1400" dirty="0">
                <a:solidFill>
                  <a:srgbClr val="000000"/>
                </a:solidFill>
                <a:latin typeface="Arial" panose="020B0604020202020204" pitchFamily="34" charset="0"/>
                <a:cs typeface="Arial" panose="020B0604020202020204" pitchFamily="34" charset="0"/>
              </a:rPr>
              <a:t>Additive noise, drawn from Gaussian</a:t>
            </a:r>
            <a:endParaRPr lang="en-GB" sz="1400" dirty="0"/>
          </a:p>
        </p:txBody>
      </p:sp>
      <p:sp>
        <p:nvSpPr>
          <p:cNvPr id="26" name="TextBox 25">
            <a:extLst>
              <a:ext uri="{FF2B5EF4-FFF2-40B4-BE49-F238E27FC236}">
                <a16:creationId xmlns:a16="http://schemas.microsoft.com/office/drawing/2014/main" id="{B0E41275-FEAC-89D9-EB1E-28DD040761E8}"/>
              </a:ext>
            </a:extLst>
          </p:cNvPr>
          <p:cNvSpPr txBox="1"/>
          <p:nvPr/>
        </p:nvSpPr>
        <p:spPr>
          <a:xfrm>
            <a:off x="6615840" y="5715989"/>
            <a:ext cx="1569281" cy="307777"/>
          </a:xfrm>
          <a:prstGeom prst="rect">
            <a:avLst/>
          </a:prstGeom>
          <a:noFill/>
        </p:spPr>
        <p:txBody>
          <a:bodyPr wrap="square">
            <a:spAutoFit/>
          </a:bodyPr>
          <a:lstStyle/>
          <a:p>
            <a:r>
              <a:rPr lang="en-GB" sz="1400" dirty="0">
                <a:solidFill>
                  <a:srgbClr val="000000"/>
                </a:solidFill>
                <a:latin typeface="Arial" panose="020B0604020202020204" pitchFamily="34" charset="0"/>
                <a:cs typeface="Arial" panose="020B0604020202020204" pitchFamily="34" charset="0"/>
              </a:rPr>
              <a:t>Noisy reflectance</a:t>
            </a:r>
            <a:endParaRPr lang="en-GB" sz="1400" dirty="0"/>
          </a:p>
        </p:txBody>
      </p:sp>
    </p:spTree>
    <p:extLst>
      <p:ext uri="{BB962C8B-B14F-4D97-AF65-F5344CB8AC3E}">
        <p14:creationId xmlns:p14="http://schemas.microsoft.com/office/powerpoint/2010/main" val="132337479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3927F5-47F0-BFD1-F621-BD3870533A96}"/>
            </a:ext>
          </a:extLst>
        </p:cNvPr>
        <p:cNvGrpSpPr/>
        <p:nvPr/>
      </p:nvGrpSpPr>
      <p:grpSpPr>
        <a:xfrm>
          <a:off x="0" y="0"/>
          <a:ext cx="0" cy="0"/>
          <a:chOff x="0" y="0"/>
          <a:chExt cx="0" cy="0"/>
        </a:xfrm>
      </p:grpSpPr>
      <p:sp>
        <p:nvSpPr>
          <p:cNvPr id="17" name="TextBox 16">
            <a:extLst>
              <a:ext uri="{FF2B5EF4-FFF2-40B4-BE49-F238E27FC236}">
                <a16:creationId xmlns:a16="http://schemas.microsoft.com/office/drawing/2014/main" id="{3D02CDB0-B981-76D1-C6B0-2021FC4BA311}"/>
              </a:ext>
            </a:extLst>
          </p:cNvPr>
          <p:cNvSpPr txBox="1"/>
          <p:nvPr/>
        </p:nvSpPr>
        <p:spPr>
          <a:xfrm>
            <a:off x="576889" y="322804"/>
            <a:ext cx="6762374" cy="646331"/>
          </a:xfrm>
          <a:prstGeom prst="rect">
            <a:avLst/>
          </a:prstGeom>
          <a:noFill/>
        </p:spPr>
        <p:txBody>
          <a:bodyPr wrap="square">
            <a:spAutoFit/>
          </a:bodyPr>
          <a:lstStyle/>
          <a:p>
            <a:r>
              <a:rPr lang="en-GB" b="1" dirty="0">
                <a:latin typeface="Arial" panose="020B0604020202020204" pitchFamily="34" charset="0"/>
                <a:cs typeface="Arial" panose="020B0604020202020204" pitchFamily="34" charset="0"/>
              </a:rPr>
              <a:t>Spectral Angle</a:t>
            </a:r>
          </a:p>
          <a:p>
            <a:endParaRPr lang="en-GB" b="1" dirty="0">
              <a:solidFill>
                <a:srgbClr val="000000"/>
              </a:solidFill>
              <a:latin typeface="Arial" panose="020B0604020202020204" pitchFamily="34" charset="0"/>
              <a:cs typeface="Arial" panose="020B0604020202020204" pitchFamily="34" charset="0"/>
            </a:endParaRPr>
          </a:p>
        </p:txBody>
      </p:sp>
      <p:sp>
        <p:nvSpPr>
          <p:cNvPr id="4" name="TextBox 3">
            <a:extLst>
              <a:ext uri="{FF2B5EF4-FFF2-40B4-BE49-F238E27FC236}">
                <a16:creationId xmlns:a16="http://schemas.microsoft.com/office/drawing/2014/main" id="{2E0F1921-347D-0CBE-3AE5-783DD22DFB69}"/>
              </a:ext>
            </a:extLst>
          </p:cNvPr>
          <p:cNvSpPr txBox="1"/>
          <p:nvPr/>
        </p:nvSpPr>
        <p:spPr>
          <a:xfrm>
            <a:off x="556908" y="668706"/>
            <a:ext cx="5519111" cy="1077218"/>
          </a:xfrm>
          <a:prstGeom prst="rect">
            <a:avLst/>
          </a:prstGeom>
          <a:noFill/>
        </p:spPr>
        <p:txBody>
          <a:bodyPr wrap="square">
            <a:spAutoFit/>
          </a:bodyPr>
          <a:lstStyle/>
          <a:p>
            <a:r>
              <a:rPr lang="en-GB" sz="1600" dirty="0">
                <a:solidFill>
                  <a:srgbClr val="000000"/>
                </a:solidFill>
                <a:latin typeface="Arial" panose="020B0604020202020204" pitchFamily="34" charset="0"/>
                <a:cs typeface="Arial" panose="020B0604020202020204" pitchFamily="34" charset="0"/>
              </a:rPr>
              <a:t>We summarise the ability of a noisy spectrum to be identified by computing the Spectral Angle between the ‘noisy’ spectrum of unknown material ‘</a:t>
            </a:r>
            <a:r>
              <a:rPr lang="en-GB" sz="1600" dirty="0" err="1">
                <a:solidFill>
                  <a:srgbClr val="000000"/>
                </a:solidFill>
                <a:latin typeface="Arial" panose="020B0604020202020204" pitchFamily="34" charset="0"/>
                <a:cs typeface="Arial" panose="020B0604020202020204" pitchFamily="34" charset="0"/>
              </a:rPr>
              <a:t>i</a:t>
            </a:r>
            <a:r>
              <a:rPr lang="en-GB" sz="1600" dirty="0">
                <a:solidFill>
                  <a:srgbClr val="000000"/>
                </a:solidFill>
                <a:latin typeface="Arial" panose="020B0604020202020204" pitchFamily="34" charset="0"/>
                <a:cs typeface="Arial" panose="020B0604020202020204" pitchFamily="34" charset="0"/>
              </a:rPr>
              <a:t>’ and the ‘clean’ spectrum (Enfys sampled, pre-noise) of known material j.:</a:t>
            </a:r>
          </a:p>
        </p:txBody>
      </p:sp>
      <p:cxnSp>
        <p:nvCxnSpPr>
          <p:cNvPr id="11" name="Straight Arrow Connector 10">
            <a:extLst>
              <a:ext uri="{FF2B5EF4-FFF2-40B4-BE49-F238E27FC236}">
                <a16:creationId xmlns:a16="http://schemas.microsoft.com/office/drawing/2014/main" id="{58664D3F-5610-BB7C-1BB0-BD1F27BE4BCD}"/>
              </a:ext>
            </a:extLst>
          </p:cNvPr>
          <p:cNvCxnSpPr>
            <a:cxnSpLocks/>
          </p:cNvCxnSpPr>
          <p:nvPr/>
        </p:nvCxnSpPr>
        <p:spPr>
          <a:xfrm flipV="1">
            <a:off x="2808148" y="3411199"/>
            <a:ext cx="1252603" cy="2041742"/>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9" name="Straight Arrow Connector 18">
            <a:extLst>
              <a:ext uri="{FF2B5EF4-FFF2-40B4-BE49-F238E27FC236}">
                <a16:creationId xmlns:a16="http://schemas.microsoft.com/office/drawing/2014/main" id="{F483FE71-DAA3-7736-434D-DD88CE54BDDA}"/>
              </a:ext>
            </a:extLst>
          </p:cNvPr>
          <p:cNvCxnSpPr>
            <a:cxnSpLocks/>
          </p:cNvCxnSpPr>
          <p:nvPr/>
        </p:nvCxnSpPr>
        <p:spPr>
          <a:xfrm flipV="1">
            <a:off x="2808148" y="4159629"/>
            <a:ext cx="2467628" cy="1293312"/>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pic>
        <p:nvPicPr>
          <p:cNvPr id="29" name="Picture 28">
            <a:extLst>
              <a:ext uri="{FF2B5EF4-FFF2-40B4-BE49-F238E27FC236}">
                <a16:creationId xmlns:a16="http://schemas.microsoft.com/office/drawing/2014/main" id="{15E6EE72-D3C1-C316-EA7C-1F75943F76F1}"/>
              </a:ext>
            </a:extLst>
          </p:cNvPr>
          <p:cNvPicPr>
            <a:picLocks noChangeAspect="1"/>
          </p:cNvPicPr>
          <p:nvPr/>
        </p:nvPicPr>
        <p:blipFill>
          <a:blip r:embed="rId3"/>
          <a:stretch>
            <a:fillRect/>
          </a:stretch>
        </p:blipFill>
        <p:spPr>
          <a:xfrm>
            <a:off x="4067187" y="3016629"/>
            <a:ext cx="378912" cy="378912"/>
          </a:xfrm>
          <a:prstGeom prst="rect">
            <a:avLst/>
          </a:prstGeom>
        </p:spPr>
      </p:pic>
      <p:pic>
        <p:nvPicPr>
          <p:cNvPr id="30" name="Picture 29">
            <a:extLst>
              <a:ext uri="{FF2B5EF4-FFF2-40B4-BE49-F238E27FC236}">
                <a16:creationId xmlns:a16="http://schemas.microsoft.com/office/drawing/2014/main" id="{F9703DA2-73FF-E60C-880E-F1BBAD68FF36}"/>
              </a:ext>
            </a:extLst>
          </p:cNvPr>
          <p:cNvPicPr>
            <a:picLocks noChangeAspect="1"/>
          </p:cNvPicPr>
          <p:nvPr/>
        </p:nvPicPr>
        <p:blipFill>
          <a:blip r:embed="rId4"/>
          <a:stretch>
            <a:fillRect/>
          </a:stretch>
        </p:blipFill>
        <p:spPr>
          <a:xfrm>
            <a:off x="5358005" y="3921947"/>
            <a:ext cx="372145" cy="326761"/>
          </a:xfrm>
          <a:prstGeom prst="rect">
            <a:avLst/>
          </a:prstGeom>
        </p:spPr>
      </p:pic>
      <p:pic>
        <p:nvPicPr>
          <p:cNvPr id="31" name="Picture 30">
            <a:extLst>
              <a:ext uri="{FF2B5EF4-FFF2-40B4-BE49-F238E27FC236}">
                <a16:creationId xmlns:a16="http://schemas.microsoft.com/office/drawing/2014/main" id="{1BD44503-5640-7E9F-A2D0-B5D33B0F4832}"/>
              </a:ext>
            </a:extLst>
          </p:cNvPr>
          <p:cNvPicPr>
            <a:picLocks noChangeAspect="1"/>
          </p:cNvPicPr>
          <p:nvPr/>
        </p:nvPicPr>
        <p:blipFill>
          <a:blip r:embed="rId5"/>
          <a:stretch>
            <a:fillRect/>
          </a:stretch>
        </p:blipFill>
        <p:spPr>
          <a:xfrm>
            <a:off x="3530980" y="4509972"/>
            <a:ext cx="358696" cy="288516"/>
          </a:xfrm>
          <a:prstGeom prst="rect">
            <a:avLst/>
          </a:prstGeom>
        </p:spPr>
      </p:pic>
      <p:pic>
        <p:nvPicPr>
          <p:cNvPr id="32" name="Picture 31">
            <a:extLst>
              <a:ext uri="{FF2B5EF4-FFF2-40B4-BE49-F238E27FC236}">
                <a16:creationId xmlns:a16="http://schemas.microsoft.com/office/drawing/2014/main" id="{F364330C-676E-DACE-F2F7-985F9F06D7CF}"/>
              </a:ext>
            </a:extLst>
          </p:cNvPr>
          <p:cNvPicPr>
            <a:picLocks noChangeAspect="1"/>
          </p:cNvPicPr>
          <p:nvPr/>
        </p:nvPicPr>
        <p:blipFill>
          <a:blip r:embed="rId6"/>
          <a:stretch>
            <a:fillRect/>
          </a:stretch>
        </p:blipFill>
        <p:spPr>
          <a:xfrm>
            <a:off x="956982" y="2009259"/>
            <a:ext cx="4718964" cy="933027"/>
          </a:xfrm>
          <a:prstGeom prst="rect">
            <a:avLst/>
          </a:prstGeom>
        </p:spPr>
      </p:pic>
      <p:pic>
        <p:nvPicPr>
          <p:cNvPr id="33" name="Picture 32">
            <a:extLst>
              <a:ext uri="{FF2B5EF4-FFF2-40B4-BE49-F238E27FC236}">
                <a16:creationId xmlns:a16="http://schemas.microsoft.com/office/drawing/2014/main" id="{E188321E-203F-3052-272D-41FE32B94878}"/>
              </a:ext>
            </a:extLst>
          </p:cNvPr>
          <p:cNvPicPr>
            <a:picLocks noChangeAspect="1"/>
          </p:cNvPicPr>
          <p:nvPr/>
        </p:nvPicPr>
        <p:blipFill>
          <a:blip r:embed="rId7"/>
          <a:stretch>
            <a:fillRect/>
          </a:stretch>
        </p:blipFill>
        <p:spPr>
          <a:xfrm>
            <a:off x="3530980" y="4897277"/>
            <a:ext cx="2467628" cy="848517"/>
          </a:xfrm>
          <a:prstGeom prst="rect">
            <a:avLst/>
          </a:prstGeom>
        </p:spPr>
      </p:pic>
      <p:sp>
        <p:nvSpPr>
          <p:cNvPr id="34" name="Arc 33">
            <a:extLst>
              <a:ext uri="{FF2B5EF4-FFF2-40B4-BE49-F238E27FC236}">
                <a16:creationId xmlns:a16="http://schemas.microsoft.com/office/drawing/2014/main" id="{AAD1D2DE-C8D1-7191-6528-52B8CEE1D64F}"/>
              </a:ext>
            </a:extLst>
          </p:cNvPr>
          <p:cNvSpPr/>
          <p:nvPr/>
        </p:nvSpPr>
        <p:spPr>
          <a:xfrm>
            <a:off x="1970288" y="4654230"/>
            <a:ext cx="1748313" cy="1748313"/>
          </a:xfrm>
          <a:prstGeom prst="arc">
            <a:avLst>
              <a:gd name="adj1" fmla="val 17885930"/>
              <a:gd name="adj2" fmla="val 19655183"/>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n-GB"/>
          </a:p>
        </p:txBody>
      </p:sp>
      <p:sp>
        <p:nvSpPr>
          <p:cNvPr id="36" name="TextBox 35">
            <a:extLst>
              <a:ext uri="{FF2B5EF4-FFF2-40B4-BE49-F238E27FC236}">
                <a16:creationId xmlns:a16="http://schemas.microsoft.com/office/drawing/2014/main" id="{A4549BC0-F927-0D1A-25FA-BED3A48DB6A5}"/>
              </a:ext>
            </a:extLst>
          </p:cNvPr>
          <p:cNvSpPr txBox="1"/>
          <p:nvPr/>
        </p:nvSpPr>
        <p:spPr>
          <a:xfrm>
            <a:off x="556908" y="3060558"/>
            <a:ext cx="2613358" cy="1815882"/>
          </a:xfrm>
          <a:prstGeom prst="rect">
            <a:avLst/>
          </a:prstGeom>
          <a:noFill/>
        </p:spPr>
        <p:txBody>
          <a:bodyPr wrap="square">
            <a:spAutoFit/>
          </a:bodyPr>
          <a:lstStyle/>
          <a:p>
            <a:r>
              <a:rPr lang="en-GB" sz="1600" dirty="0">
                <a:solidFill>
                  <a:srgbClr val="000000"/>
                </a:solidFill>
                <a:latin typeface="Arial" panose="020B0604020202020204" pitchFamily="34" charset="0"/>
                <a:cs typeface="Arial" panose="020B0604020202020204" pitchFamily="34" charset="0"/>
              </a:rPr>
              <a:t>This is just the familiar vector dot product, where our reflectance spectra are treated as n-dimensional vectors, where n is the number of Enfys spectral channels:</a:t>
            </a:r>
            <a:endParaRPr lang="en-GB" sz="1600" dirty="0"/>
          </a:p>
        </p:txBody>
      </p:sp>
      <p:sp>
        <p:nvSpPr>
          <p:cNvPr id="38" name="TextBox 37">
            <a:extLst>
              <a:ext uri="{FF2B5EF4-FFF2-40B4-BE49-F238E27FC236}">
                <a16:creationId xmlns:a16="http://schemas.microsoft.com/office/drawing/2014/main" id="{4F1A7A9B-D77D-89C1-50C6-5D5D284794AF}"/>
              </a:ext>
            </a:extLst>
          </p:cNvPr>
          <p:cNvSpPr txBox="1"/>
          <p:nvPr/>
        </p:nvSpPr>
        <p:spPr>
          <a:xfrm>
            <a:off x="6566431" y="784469"/>
            <a:ext cx="4847804" cy="584775"/>
          </a:xfrm>
          <a:prstGeom prst="rect">
            <a:avLst/>
          </a:prstGeom>
          <a:noFill/>
        </p:spPr>
        <p:txBody>
          <a:bodyPr wrap="square">
            <a:spAutoFit/>
          </a:bodyPr>
          <a:lstStyle/>
          <a:p>
            <a:r>
              <a:rPr lang="en-GB" sz="1600" dirty="0">
                <a:solidFill>
                  <a:srgbClr val="000000"/>
                </a:solidFill>
                <a:latin typeface="Arial" panose="020B0604020202020204" pitchFamily="34" charset="0"/>
                <a:cs typeface="Arial" panose="020B0604020202020204" pitchFamily="34" charset="0"/>
              </a:rPr>
              <a:t>When </a:t>
            </a:r>
            <a:r>
              <a:rPr lang="en-GB" sz="1600" dirty="0" err="1">
                <a:solidFill>
                  <a:srgbClr val="000000"/>
                </a:solidFill>
                <a:latin typeface="Arial" panose="020B0604020202020204" pitchFamily="34" charset="0"/>
                <a:cs typeface="Arial" panose="020B0604020202020204" pitchFamily="34" charset="0"/>
              </a:rPr>
              <a:t>i</a:t>
            </a:r>
            <a:r>
              <a:rPr lang="en-GB" sz="1600" dirty="0">
                <a:solidFill>
                  <a:srgbClr val="000000"/>
                </a:solidFill>
                <a:latin typeface="Arial" panose="020B0604020202020204" pitchFamily="34" charset="0"/>
                <a:cs typeface="Arial" panose="020B0604020202020204" pitchFamily="34" charset="0"/>
              </a:rPr>
              <a:t>=j, the Spectral Angle will be near 0, but it will be perturbed by the noise of the noisy spectrum</a:t>
            </a:r>
            <a:endParaRPr lang="en-GB" sz="1600" dirty="0"/>
          </a:p>
        </p:txBody>
      </p:sp>
      <p:sp>
        <p:nvSpPr>
          <p:cNvPr id="39" name="TextBox 38">
            <a:extLst>
              <a:ext uri="{FF2B5EF4-FFF2-40B4-BE49-F238E27FC236}">
                <a16:creationId xmlns:a16="http://schemas.microsoft.com/office/drawing/2014/main" id="{A350012B-9662-0E3E-5326-48E172FDDBB1}"/>
              </a:ext>
            </a:extLst>
          </p:cNvPr>
          <p:cNvSpPr txBox="1"/>
          <p:nvPr/>
        </p:nvSpPr>
        <p:spPr>
          <a:xfrm>
            <a:off x="6530252" y="4042206"/>
            <a:ext cx="5283376" cy="1569660"/>
          </a:xfrm>
          <a:prstGeom prst="rect">
            <a:avLst/>
          </a:prstGeom>
          <a:noFill/>
        </p:spPr>
        <p:txBody>
          <a:bodyPr wrap="square">
            <a:spAutoFit/>
          </a:bodyPr>
          <a:lstStyle/>
          <a:p>
            <a:r>
              <a:rPr lang="en-GB" sz="1600" dirty="0">
                <a:solidFill>
                  <a:srgbClr val="000000"/>
                </a:solidFill>
                <a:latin typeface="Arial" panose="020B0604020202020204" pitchFamily="34" charset="0"/>
                <a:cs typeface="Arial" panose="020B0604020202020204" pitchFamily="34" charset="0"/>
              </a:rPr>
              <a:t>The noise propagates to the Spectral Angle.</a:t>
            </a:r>
          </a:p>
          <a:p>
            <a:endParaRPr lang="en-GB" sz="1600" dirty="0">
              <a:solidFill>
                <a:srgbClr val="000000"/>
              </a:solidFill>
              <a:latin typeface="Arial" panose="020B0604020202020204" pitchFamily="34" charset="0"/>
              <a:cs typeface="Arial" panose="020B0604020202020204" pitchFamily="34" charset="0"/>
            </a:endParaRPr>
          </a:p>
          <a:p>
            <a:r>
              <a:rPr lang="en-GB" sz="1600" dirty="0">
                <a:solidFill>
                  <a:srgbClr val="000000"/>
                </a:solidFill>
                <a:latin typeface="Arial" panose="020B0604020202020204" pitchFamily="34" charset="0"/>
                <a:cs typeface="Arial" panose="020B0604020202020204" pitchFamily="34" charset="0"/>
              </a:rPr>
              <a:t>We can Monte Carlo approximate the Spectral Angle uncertainty by repeatedly drawing noisy spectra from the same clean spectrum, and evaluating the Spectral Angle mean and std. dev.</a:t>
            </a:r>
          </a:p>
        </p:txBody>
      </p:sp>
      <p:sp>
        <p:nvSpPr>
          <p:cNvPr id="45" name="Pie 44">
            <a:extLst>
              <a:ext uri="{FF2B5EF4-FFF2-40B4-BE49-F238E27FC236}">
                <a16:creationId xmlns:a16="http://schemas.microsoft.com/office/drawing/2014/main" id="{E6C4E3BF-DB98-C096-37E8-C5F6E6C4E864}"/>
              </a:ext>
            </a:extLst>
          </p:cNvPr>
          <p:cNvSpPr/>
          <p:nvPr/>
        </p:nvSpPr>
        <p:spPr>
          <a:xfrm rot="1934214">
            <a:off x="7623759" y="1736522"/>
            <a:ext cx="1587949" cy="4423218"/>
          </a:xfrm>
          <a:prstGeom prst="pie">
            <a:avLst>
              <a:gd name="adj1" fmla="val 15856823"/>
              <a:gd name="adj2" fmla="val 16463190"/>
            </a:avLst>
          </a:prstGeom>
          <a:solidFill>
            <a:srgbClr val="156082">
              <a:alpha val="50980"/>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grpSp>
        <p:nvGrpSpPr>
          <p:cNvPr id="53" name="Group 52">
            <a:extLst>
              <a:ext uri="{FF2B5EF4-FFF2-40B4-BE49-F238E27FC236}">
                <a16:creationId xmlns:a16="http://schemas.microsoft.com/office/drawing/2014/main" id="{4E6E2763-D61A-2049-9A37-D688AF3690EE}"/>
              </a:ext>
            </a:extLst>
          </p:cNvPr>
          <p:cNvGrpSpPr/>
          <p:nvPr/>
        </p:nvGrpSpPr>
        <p:grpSpPr>
          <a:xfrm>
            <a:off x="7561585" y="1521302"/>
            <a:ext cx="3774481" cy="3379046"/>
            <a:chOff x="7561585" y="1521302"/>
            <a:chExt cx="3774481" cy="3379046"/>
          </a:xfrm>
        </p:grpSpPr>
        <p:cxnSp>
          <p:nvCxnSpPr>
            <p:cNvPr id="40" name="Straight Arrow Connector 39">
              <a:extLst>
                <a:ext uri="{FF2B5EF4-FFF2-40B4-BE49-F238E27FC236}">
                  <a16:creationId xmlns:a16="http://schemas.microsoft.com/office/drawing/2014/main" id="{E4D216B1-027B-98BF-22A4-9AADF990F60C}"/>
                </a:ext>
              </a:extLst>
            </p:cNvPr>
            <p:cNvCxnSpPr>
              <a:cxnSpLocks/>
            </p:cNvCxnSpPr>
            <p:nvPr/>
          </p:nvCxnSpPr>
          <p:spPr>
            <a:xfrm flipV="1">
              <a:off x="8414064" y="1915872"/>
              <a:ext cx="1252603" cy="2041742"/>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41" name="Straight Arrow Connector 40">
              <a:extLst>
                <a:ext uri="{FF2B5EF4-FFF2-40B4-BE49-F238E27FC236}">
                  <a16:creationId xmlns:a16="http://schemas.microsoft.com/office/drawing/2014/main" id="{FAEA8C70-20FD-4E3C-7162-2B48CA10B3EF}"/>
                </a:ext>
              </a:extLst>
            </p:cNvPr>
            <p:cNvCxnSpPr>
              <a:cxnSpLocks/>
            </p:cNvCxnSpPr>
            <p:nvPr/>
          </p:nvCxnSpPr>
          <p:spPr>
            <a:xfrm flipV="1">
              <a:off x="8414064" y="2664302"/>
              <a:ext cx="2467628" cy="1293312"/>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pic>
          <p:nvPicPr>
            <p:cNvPr id="42" name="Picture 41">
              <a:extLst>
                <a:ext uri="{FF2B5EF4-FFF2-40B4-BE49-F238E27FC236}">
                  <a16:creationId xmlns:a16="http://schemas.microsoft.com/office/drawing/2014/main" id="{6A1F513F-6D49-5EFC-CCAB-13948B4C8BF5}"/>
                </a:ext>
              </a:extLst>
            </p:cNvPr>
            <p:cNvPicPr>
              <a:picLocks noChangeAspect="1"/>
            </p:cNvPicPr>
            <p:nvPr/>
          </p:nvPicPr>
          <p:blipFill>
            <a:blip r:embed="rId3"/>
            <a:stretch>
              <a:fillRect/>
            </a:stretch>
          </p:blipFill>
          <p:spPr>
            <a:xfrm>
              <a:off x="9673103" y="1521302"/>
              <a:ext cx="378912" cy="378912"/>
            </a:xfrm>
            <a:prstGeom prst="rect">
              <a:avLst/>
            </a:prstGeom>
          </p:spPr>
        </p:pic>
        <p:pic>
          <p:nvPicPr>
            <p:cNvPr id="43" name="Picture 42">
              <a:extLst>
                <a:ext uri="{FF2B5EF4-FFF2-40B4-BE49-F238E27FC236}">
                  <a16:creationId xmlns:a16="http://schemas.microsoft.com/office/drawing/2014/main" id="{F53B582B-A3E6-16F4-4038-8841C32C098C}"/>
                </a:ext>
              </a:extLst>
            </p:cNvPr>
            <p:cNvPicPr>
              <a:picLocks noChangeAspect="1"/>
            </p:cNvPicPr>
            <p:nvPr/>
          </p:nvPicPr>
          <p:blipFill>
            <a:blip r:embed="rId4"/>
            <a:stretch>
              <a:fillRect/>
            </a:stretch>
          </p:blipFill>
          <p:spPr>
            <a:xfrm>
              <a:off x="10963921" y="2426620"/>
              <a:ext cx="372145" cy="326761"/>
            </a:xfrm>
            <a:prstGeom prst="rect">
              <a:avLst/>
            </a:prstGeom>
          </p:spPr>
        </p:pic>
        <p:sp>
          <p:nvSpPr>
            <p:cNvPr id="46" name="Arc 45">
              <a:extLst>
                <a:ext uri="{FF2B5EF4-FFF2-40B4-BE49-F238E27FC236}">
                  <a16:creationId xmlns:a16="http://schemas.microsoft.com/office/drawing/2014/main" id="{F10BC187-645E-87E6-E829-F7E281430BB1}"/>
                </a:ext>
              </a:extLst>
            </p:cNvPr>
            <p:cNvSpPr/>
            <p:nvPr/>
          </p:nvSpPr>
          <p:spPr>
            <a:xfrm>
              <a:off x="7561585" y="3152035"/>
              <a:ext cx="1748313" cy="1748313"/>
            </a:xfrm>
            <a:prstGeom prst="arc">
              <a:avLst>
                <a:gd name="adj1" fmla="val 17885930"/>
                <a:gd name="adj2" fmla="val 19655183"/>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n-GB"/>
            </a:p>
          </p:txBody>
        </p:sp>
        <p:sp>
          <p:nvSpPr>
            <p:cNvPr id="47" name="Arc 46">
              <a:extLst>
                <a:ext uri="{FF2B5EF4-FFF2-40B4-BE49-F238E27FC236}">
                  <a16:creationId xmlns:a16="http://schemas.microsoft.com/office/drawing/2014/main" id="{40960741-067E-CEA6-27E9-7A89BFFC296F}"/>
                </a:ext>
              </a:extLst>
            </p:cNvPr>
            <p:cNvSpPr/>
            <p:nvPr/>
          </p:nvSpPr>
          <p:spPr>
            <a:xfrm>
              <a:off x="8799015" y="1940925"/>
              <a:ext cx="1098937" cy="1293312"/>
            </a:xfrm>
            <a:prstGeom prst="arc">
              <a:avLst>
                <a:gd name="adj1" fmla="val 16331757"/>
                <a:gd name="adj2" fmla="val 18943298"/>
              </a:avLst>
            </a:prstGeom>
            <a:ln>
              <a:headEnd type="triangle" w="med" len="med"/>
              <a:tailEnd type="triangle" w="med" len="med"/>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GB"/>
            </a:p>
          </p:txBody>
        </p:sp>
        <p:pic>
          <p:nvPicPr>
            <p:cNvPr id="48" name="Picture 47">
              <a:extLst>
                <a:ext uri="{FF2B5EF4-FFF2-40B4-BE49-F238E27FC236}">
                  <a16:creationId xmlns:a16="http://schemas.microsoft.com/office/drawing/2014/main" id="{B4D1F610-5861-D863-32B5-ACBD8366509F}"/>
                </a:ext>
              </a:extLst>
            </p:cNvPr>
            <p:cNvPicPr>
              <a:picLocks noChangeAspect="1"/>
            </p:cNvPicPr>
            <p:nvPr/>
          </p:nvPicPr>
          <p:blipFill>
            <a:blip r:embed="rId8"/>
            <a:stretch>
              <a:fillRect/>
            </a:stretch>
          </p:blipFill>
          <p:spPr>
            <a:xfrm>
              <a:off x="9819860" y="2121277"/>
              <a:ext cx="137518" cy="110014"/>
            </a:xfrm>
            <a:prstGeom prst="rect">
              <a:avLst/>
            </a:prstGeom>
          </p:spPr>
        </p:pic>
        <p:pic>
          <p:nvPicPr>
            <p:cNvPr id="49" name="Picture 48">
              <a:extLst>
                <a:ext uri="{FF2B5EF4-FFF2-40B4-BE49-F238E27FC236}">
                  <a16:creationId xmlns:a16="http://schemas.microsoft.com/office/drawing/2014/main" id="{ECD04652-39AE-79DE-5670-43E645289777}"/>
                </a:ext>
              </a:extLst>
            </p:cNvPr>
            <p:cNvPicPr>
              <a:picLocks noChangeAspect="1"/>
            </p:cNvPicPr>
            <p:nvPr/>
          </p:nvPicPr>
          <p:blipFill>
            <a:blip r:embed="rId9"/>
            <a:stretch>
              <a:fillRect/>
            </a:stretch>
          </p:blipFill>
          <p:spPr>
            <a:xfrm rot="19800000">
              <a:off x="9040879" y="2949117"/>
              <a:ext cx="1029812" cy="297680"/>
            </a:xfrm>
            <a:prstGeom prst="rect">
              <a:avLst/>
            </a:prstGeom>
          </p:spPr>
        </p:pic>
      </p:grpSp>
      <p:sp>
        <p:nvSpPr>
          <p:cNvPr id="50" name="TextBox 49">
            <a:extLst>
              <a:ext uri="{FF2B5EF4-FFF2-40B4-BE49-F238E27FC236}">
                <a16:creationId xmlns:a16="http://schemas.microsoft.com/office/drawing/2014/main" id="{74226EF7-44B7-C9B4-0F9F-6AA1A8080D08}"/>
              </a:ext>
            </a:extLst>
          </p:cNvPr>
          <p:cNvSpPr txBox="1"/>
          <p:nvPr/>
        </p:nvSpPr>
        <p:spPr>
          <a:xfrm>
            <a:off x="6576191" y="370106"/>
            <a:ext cx="6762374" cy="646331"/>
          </a:xfrm>
          <a:prstGeom prst="rect">
            <a:avLst/>
          </a:prstGeom>
          <a:noFill/>
        </p:spPr>
        <p:txBody>
          <a:bodyPr wrap="square">
            <a:spAutoFit/>
          </a:bodyPr>
          <a:lstStyle/>
          <a:p>
            <a:r>
              <a:rPr lang="en-GB" b="1" dirty="0">
                <a:latin typeface="Arial" panose="020B0604020202020204" pitchFamily="34" charset="0"/>
                <a:cs typeface="Arial" panose="020B0604020202020204" pitchFamily="34" charset="0"/>
              </a:rPr>
              <a:t>Spectral Angle Uncertainty</a:t>
            </a:r>
          </a:p>
          <a:p>
            <a:endParaRPr lang="en-GB" b="1" dirty="0">
              <a:solidFill>
                <a:srgbClr val="000000"/>
              </a:solidFill>
              <a:latin typeface="Arial" panose="020B0604020202020204" pitchFamily="34" charset="0"/>
              <a:cs typeface="Arial" panose="020B0604020202020204" pitchFamily="34" charset="0"/>
            </a:endParaRPr>
          </a:p>
        </p:txBody>
      </p:sp>
      <p:sp>
        <p:nvSpPr>
          <p:cNvPr id="52" name="TextBox 51">
            <a:extLst>
              <a:ext uri="{FF2B5EF4-FFF2-40B4-BE49-F238E27FC236}">
                <a16:creationId xmlns:a16="http://schemas.microsoft.com/office/drawing/2014/main" id="{EA5B06C1-BC32-ADE0-6531-9C300A2FAFC8}"/>
              </a:ext>
            </a:extLst>
          </p:cNvPr>
          <p:cNvSpPr txBox="1"/>
          <p:nvPr/>
        </p:nvSpPr>
        <p:spPr>
          <a:xfrm>
            <a:off x="450453" y="5898950"/>
            <a:ext cx="5834733" cy="1107996"/>
          </a:xfrm>
          <a:prstGeom prst="rect">
            <a:avLst/>
          </a:prstGeom>
          <a:noFill/>
        </p:spPr>
        <p:txBody>
          <a:bodyPr wrap="square">
            <a:spAutoFit/>
          </a:bodyPr>
          <a:lstStyle/>
          <a:p>
            <a:r>
              <a:rPr lang="en-GB" sz="1600" dirty="0">
                <a:solidFill>
                  <a:srgbClr val="000000"/>
                </a:solidFill>
                <a:latin typeface="Arial" panose="020B0604020202020204" pitchFamily="34" charset="0"/>
                <a:cs typeface="Arial" panose="020B0604020202020204" pitchFamily="34" charset="0"/>
              </a:rPr>
              <a:t>After computing 𝜃(</a:t>
            </a:r>
            <a:r>
              <a:rPr lang="en-GB" sz="1600" i="1" dirty="0" err="1">
                <a:solidFill>
                  <a:srgbClr val="000000"/>
                </a:solidFill>
                <a:latin typeface="Arial" panose="020B0604020202020204" pitchFamily="34" charset="0"/>
                <a:cs typeface="Arial" panose="020B0604020202020204" pitchFamily="34" charset="0"/>
              </a:rPr>
              <a:t>i,j</a:t>
            </a:r>
            <a:r>
              <a:rPr lang="en-GB" sz="1600" dirty="0">
                <a:solidFill>
                  <a:srgbClr val="000000"/>
                </a:solidFill>
                <a:latin typeface="Arial" panose="020B0604020202020204" pitchFamily="34" charset="0"/>
                <a:cs typeface="Arial" panose="020B0604020202020204" pitchFamily="34" charset="0"/>
              </a:rPr>
              <a:t>) for each mineral </a:t>
            </a:r>
            <a:r>
              <a:rPr lang="en-GB" sz="1600" i="1" dirty="0">
                <a:solidFill>
                  <a:srgbClr val="000000"/>
                </a:solidFill>
                <a:latin typeface="Arial" panose="020B0604020202020204" pitchFamily="34" charset="0"/>
                <a:cs typeface="Arial" panose="020B0604020202020204" pitchFamily="34" charset="0"/>
              </a:rPr>
              <a:t>j</a:t>
            </a:r>
            <a:r>
              <a:rPr lang="en-GB" sz="1600" dirty="0">
                <a:solidFill>
                  <a:srgbClr val="000000"/>
                </a:solidFill>
                <a:latin typeface="Arial" panose="020B0604020202020204" pitchFamily="34" charset="0"/>
                <a:cs typeface="Arial" panose="020B0604020202020204" pitchFamily="34" charset="0"/>
              </a:rPr>
              <a:t> in the MICA set,</a:t>
            </a:r>
          </a:p>
          <a:p>
            <a:r>
              <a:rPr lang="en-GB" sz="1600" i="1" dirty="0" err="1">
                <a:solidFill>
                  <a:srgbClr val="000000"/>
                </a:solidFill>
                <a:latin typeface="Arial" panose="020B0604020202020204" pitchFamily="34" charset="0"/>
                <a:cs typeface="Arial" panose="020B0604020202020204" pitchFamily="34" charset="0"/>
              </a:rPr>
              <a:t>i</a:t>
            </a:r>
            <a:r>
              <a:rPr lang="en-GB" sz="1600" i="1" dirty="0">
                <a:solidFill>
                  <a:srgbClr val="000000"/>
                </a:solidFill>
                <a:latin typeface="Arial" panose="020B0604020202020204" pitchFamily="34" charset="0"/>
                <a:cs typeface="Arial" panose="020B0604020202020204" pitchFamily="34" charset="0"/>
              </a:rPr>
              <a:t> </a:t>
            </a:r>
            <a:r>
              <a:rPr lang="en-GB" sz="1600" dirty="0">
                <a:solidFill>
                  <a:srgbClr val="000000"/>
                </a:solidFill>
                <a:latin typeface="Arial" panose="020B0604020202020204" pitchFamily="34" charset="0"/>
                <a:cs typeface="Arial" panose="020B0604020202020204" pitchFamily="34" charset="0"/>
              </a:rPr>
              <a:t>is identified as the mineral </a:t>
            </a:r>
            <a:r>
              <a:rPr lang="en-GB" sz="1600" i="1" dirty="0">
                <a:solidFill>
                  <a:srgbClr val="000000"/>
                </a:solidFill>
                <a:latin typeface="Arial" panose="020B0604020202020204" pitchFamily="34" charset="0"/>
                <a:cs typeface="Arial" panose="020B0604020202020204" pitchFamily="34" charset="0"/>
              </a:rPr>
              <a:t>j</a:t>
            </a:r>
            <a:r>
              <a:rPr lang="en-GB" sz="1600" dirty="0">
                <a:solidFill>
                  <a:srgbClr val="000000"/>
                </a:solidFill>
                <a:latin typeface="Arial" panose="020B0604020202020204" pitchFamily="34" charset="0"/>
                <a:cs typeface="Arial" panose="020B0604020202020204" pitchFamily="34" charset="0"/>
              </a:rPr>
              <a:t> for which 𝜃(</a:t>
            </a:r>
            <a:r>
              <a:rPr lang="en-GB" sz="1600" i="1" dirty="0" err="1">
                <a:solidFill>
                  <a:srgbClr val="000000"/>
                </a:solidFill>
                <a:latin typeface="Arial" panose="020B0604020202020204" pitchFamily="34" charset="0"/>
                <a:cs typeface="Arial" panose="020B0604020202020204" pitchFamily="34" charset="0"/>
              </a:rPr>
              <a:t>i,j</a:t>
            </a:r>
            <a:r>
              <a:rPr lang="en-GB" sz="1600" dirty="0">
                <a:solidFill>
                  <a:srgbClr val="000000"/>
                </a:solidFill>
                <a:latin typeface="Arial" panose="020B0604020202020204" pitchFamily="34" charset="0"/>
                <a:cs typeface="Arial" panose="020B0604020202020204" pitchFamily="34" charset="0"/>
              </a:rPr>
              <a:t>) has the lowest value.</a:t>
            </a:r>
            <a:endParaRPr lang="en-GB" sz="1600" i="1" dirty="0">
              <a:solidFill>
                <a:srgbClr val="000000"/>
              </a:solidFill>
              <a:latin typeface="Arial" panose="020B0604020202020204" pitchFamily="34" charset="0"/>
              <a:cs typeface="Arial" panose="020B0604020202020204" pitchFamily="34" charset="0"/>
            </a:endParaRPr>
          </a:p>
          <a:p>
            <a:endParaRPr lang="en-GB" sz="1600" dirty="0"/>
          </a:p>
        </p:txBody>
      </p:sp>
    </p:spTree>
    <p:extLst>
      <p:ext uri="{BB962C8B-B14F-4D97-AF65-F5344CB8AC3E}">
        <p14:creationId xmlns:p14="http://schemas.microsoft.com/office/powerpoint/2010/main" val="339865170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8CCC4C-F08D-195D-B600-A813AF601ACB}"/>
            </a:ext>
          </a:extLst>
        </p:cNvPr>
        <p:cNvGrpSpPr/>
        <p:nvPr/>
      </p:nvGrpSpPr>
      <p:grpSpPr>
        <a:xfrm>
          <a:off x="0" y="0"/>
          <a:ext cx="0" cy="0"/>
          <a:chOff x="0" y="0"/>
          <a:chExt cx="0" cy="0"/>
        </a:xfrm>
      </p:grpSpPr>
      <p:sp>
        <p:nvSpPr>
          <p:cNvPr id="17" name="TextBox 16">
            <a:extLst>
              <a:ext uri="{FF2B5EF4-FFF2-40B4-BE49-F238E27FC236}">
                <a16:creationId xmlns:a16="http://schemas.microsoft.com/office/drawing/2014/main" id="{2A2611EE-D44D-D363-AFDE-6C358309DC3D}"/>
              </a:ext>
            </a:extLst>
          </p:cNvPr>
          <p:cNvSpPr txBox="1"/>
          <p:nvPr/>
        </p:nvSpPr>
        <p:spPr>
          <a:xfrm>
            <a:off x="566591" y="259711"/>
            <a:ext cx="6762374" cy="646331"/>
          </a:xfrm>
          <a:prstGeom prst="rect">
            <a:avLst/>
          </a:prstGeom>
          <a:noFill/>
        </p:spPr>
        <p:txBody>
          <a:bodyPr wrap="square">
            <a:spAutoFit/>
          </a:bodyPr>
          <a:lstStyle/>
          <a:p>
            <a:r>
              <a:rPr lang="en-GB" b="1" dirty="0">
                <a:latin typeface="Arial" panose="020B0604020202020204" pitchFamily="34" charset="0"/>
                <a:cs typeface="Arial" panose="020B0604020202020204" pitchFamily="34" charset="0"/>
              </a:rPr>
              <a:t>Uncertainty on Mineral ID by Spectral Angle &amp; Fisher Ratio</a:t>
            </a:r>
          </a:p>
          <a:p>
            <a:endParaRPr lang="en-GB" b="1" dirty="0">
              <a:solidFill>
                <a:srgbClr val="000000"/>
              </a:solidFill>
              <a:latin typeface="Arial" panose="020B0604020202020204" pitchFamily="34" charset="0"/>
              <a:cs typeface="Arial" panose="020B0604020202020204" pitchFamily="34" charset="0"/>
            </a:endParaRPr>
          </a:p>
        </p:txBody>
      </p:sp>
      <p:sp>
        <p:nvSpPr>
          <p:cNvPr id="8" name="TextBox 7">
            <a:extLst>
              <a:ext uri="{FF2B5EF4-FFF2-40B4-BE49-F238E27FC236}">
                <a16:creationId xmlns:a16="http://schemas.microsoft.com/office/drawing/2014/main" id="{365695C6-53F2-2E5B-1089-5727B5E2C8B4}"/>
              </a:ext>
            </a:extLst>
          </p:cNvPr>
          <p:cNvSpPr txBox="1"/>
          <p:nvPr/>
        </p:nvSpPr>
        <p:spPr>
          <a:xfrm>
            <a:off x="564916" y="723582"/>
            <a:ext cx="3073874" cy="4688463"/>
          </a:xfrm>
          <a:prstGeom prst="rect">
            <a:avLst/>
          </a:prstGeom>
          <a:noFill/>
        </p:spPr>
        <p:txBody>
          <a:bodyPr wrap="square">
            <a:spAutoFit/>
          </a:bodyPr>
          <a:lstStyle/>
          <a:p>
            <a:r>
              <a:rPr lang="en-GB" sz="1600" dirty="0">
                <a:solidFill>
                  <a:srgbClr val="000000"/>
                </a:solidFill>
                <a:latin typeface="Arial" panose="020B0604020202020204" pitchFamily="34" charset="0"/>
                <a:cs typeface="Arial" panose="020B0604020202020204" pitchFamily="34" charset="0"/>
              </a:rPr>
              <a:t>For a noisy reflectance spectrum to be uniquely identifiable, it must have a Spectral Angle that is not only small, but observably small</a:t>
            </a:r>
            <a:r>
              <a:rPr lang="en-GB" sz="1600" b="1" i="1" dirty="0">
                <a:solidFill>
                  <a:srgbClr val="000000"/>
                </a:solidFill>
                <a:latin typeface="Arial" panose="020B0604020202020204" pitchFamily="34" charset="0"/>
                <a:cs typeface="Arial" panose="020B0604020202020204" pitchFamily="34" charset="0"/>
              </a:rPr>
              <a:t>er </a:t>
            </a:r>
            <a:r>
              <a:rPr lang="en-GB" sz="1600" dirty="0">
                <a:solidFill>
                  <a:srgbClr val="000000"/>
                </a:solidFill>
                <a:latin typeface="Arial" panose="020B0604020202020204" pitchFamily="34" charset="0"/>
                <a:cs typeface="Arial" panose="020B0604020202020204" pitchFamily="34" charset="0"/>
              </a:rPr>
              <a:t>than the next nearest match.</a:t>
            </a:r>
          </a:p>
          <a:p>
            <a:endParaRPr lang="en-GB" sz="1600" dirty="0">
              <a:solidFill>
                <a:srgbClr val="000000"/>
              </a:solidFill>
              <a:latin typeface="Arial" panose="020B0604020202020204" pitchFamily="34" charset="0"/>
              <a:cs typeface="Arial" panose="020B0604020202020204" pitchFamily="34" charset="0"/>
            </a:endParaRPr>
          </a:p>
          <a:p>
            <a:r>
              <a:rPr lang="en-GB" sz="1600" dirty="0">
                <a:solidFill>
                  <a:srgbClr val="000000"/>
                </a:solidFill>
                <a:latin typeface="Arial" panose="020B0604020202020204" pitchFamily="34" charset="0"/>
                <a:cs typeface="Arial" panose="020B0604020202020204" pitchFamily="34" charset="0"/>
              </a:rPr>
              <a:t>To evaluate this, we need to consider:</a:t>
            </a:r>
          </a:p>
          <a:p>
            <a:pPr marL="285750" indent="-285750">
              <a:buFontTx/>
              <a:buChar char="-"/>
            </a:pPr>
            <a:r>
              <a:rPr lang="en-GB" sz="1600" dirty="0">
                <a:solidFill>
                  <a:srgbClr val="000000"/>
                </a:solidFill>
                <a:latin typeface="Arial" panose="020B0604020202020204" pitchFamily="34" charset="0"/>
                <a:cs typeface="Arial" panose="020B0604020202020204" pitchFamily="34" charset="0"/>
              </a:rPr>
              <a:t>distance between smallest (rank 1) and next smallest (rank 2) values of 𝜃(</a:t>
            </a:r>
            <a:r>
              <a:rPr lang="en-GB" sz="1600" i="1" dirty="0" err="1">
                <a:solidFill>
                  <a:srgbClr val="000000"/>
                </a:solidFill>
                <a:latin typeface="Arial" panose="020B0604020202020204" pitchFamily="34" charset="0"/>
                <a:cs typeface="Arial" panose="020B0604020202020204" pitchFamily="34" charset="0"/>
              </a:rPr>
              <a:t>i,j</a:t>
            </a:r>
            <a:r>
              <a:rPr lang="en-GB" sz="1600" dirty="0">
                <a:solidFill>
                  <a:srgbClr val="000000"/>
                </a:solidFill>
                <a:latin typeface="Arial" panose="020B0604020202020204" pitchFamily="34" charset="0"/>
                <a:cs typeface="Arial" panose="020B0604020202020204" pitchFamily="34" charset="0"/>
              </a:rPr>
              <a:t>):</a:t>
            </a:r>
          </a:p>
          <a:p>
            <a:pPr algn="ctr"/>
            <a:r>
              <a:rPr lang="en-GB" sz="1600" dirty="0">
                <a:solidFill>
                  <a:srgbClr val="000000"/>
                </a:solidFill>
                <a:latin typeface="Arial" panose="020B0604020202020204" pitchFamily="34" charset="0"/>
                <a:cs typeface="Arial" panose="020B0604020202020204" pitchFamily="34" charset="0"/>
              </a:rPr>
              <a:t>∆𝜃</a:t>
            </a:r>
            <a:r>
              <a:rPr lang="en-GB" sz="1600" baseline="-25000" dirty="0">
                <a:solidFill>
                  <a:srgbClr val="000000"/>
                </a:solidFill>
                <a:latin typeface="Arial" panose="020B0604020202020204" pitchFamily="34" charset="0"/>
                <a:cs typeface="Arial" panose="020B0604020202020204" pitchFamily="34" charset="0"/>
              </a:rPr>
              <a:t>12</a:t>
            </a:r>
            <a:r>
              <a:rPr lang="en-GB" sz="1600" dirty="0">
                <a:solidFill>
                  <a:srgbClr val="000000"/>
                </a:solidFill>
                <a:latin typeface="Arial" panose="020B0604020202020204" pitchFamily="34" charset="0"/>
                <a:cs typeface="Arial" panose="020B0604020202020204" pitchFamily="34" charset="0"/>
              </a:rPr>
              <a:t>= 𝜃</a:t>
            </a:r>
            <a:r>
              <a:rPr lang="en-GB" sz="1600" baseline="-25000" dirty="0">
                <a:solidFill>
                  <a:srgbClr val="000000"/>
                </a:solidFill>
                <a:latin typeface="Arial" panose="020B0604020202020204" pitchFamily="34" charset="0"/>
                <a:cs typeface="Arial" panose="020B0604020202020204" pitchFamily="34" charset="0"/>
              </a:rPr>
              <a:t>1</a:t>
            </a:r>
            <a:r>
              <a:rPr lang="en-GB" sz="1600" dirty="0">
                <a:solidFill>
                  <a:srgbClr val="000000"/>
                </a:solidFill>
                <a:latin typeface="Arial" panose="020B0604020202020204" pitchFamily="34" charset="0"/>
                <a:cs typeface="Arial" panose="020B0604020202020204" pitchFamily="34" charset="0"/>
              </a:rPr>
              <a:t>-𝜃</a:t>
            </a:r>
            <a:r>
              <a:rPr lang="en-GB" sz="1600" baseline="-25000" dirty="0">
                <a:solidFill>
                  <a:srgbClr val="000000"/>
                </a:solidFill>
                <a:latin typeface="Arial" panose="020B0604020202020204" pitchFamily="34" charset="0"/>
                <a:cs typeface="Arial" panose="020B0604020202020204" pitchFamily="34" charset="0"/>
              </a:rPr>
              <a:t>2</a:t>
            </a:r>
            <a:r>
              <a:rPr lang="en-GB" sz="1600" dirty="0"/>
              <a:t> </a:t>
            </a:r>
          </a:p>
          <a:p>
            <a:pPr algn="ctr"/>
            <a:endParaRPr lang="en-GB" sz="1600" dirty="0"/>
          </a:p>
          <a:p>
            <a:r>
              <a:rPr lang="en-GB" sz="1600" dirty="0"/>
              <a:t>- and the uncertainty on </a:t>
            </a:r>
            <a:r>
              <a:rPr lang="en-GB" sz="1600" dirty="0">
                <a:solidFill>
                  <a:srgbClr val="000000"/>
                </a:solidFill>
                <a:latin typeface="Arial" panose="020B0604020202020204" pitchFamily="34" charset="0"/>
                <a:cs typeface="Arial" panose="020B0604020202020204" pitchFamily="34" charset="0"/>
              </a:rPr>
              <a:t>𝜃</a:t>
            </a:r>
            <a:r>
              <a:rPr lang="en-GB" sz="1600" baseline="-25000" dirty="0">
                <a:solidFill>
                  <a:srgbClr val="000000"/>
                </a:solidFill>
                <a:latin typeface="Arial" panose="020B0604020202020204" pitchFamily="34" charset="0"/>
                <a:cs typeface="Arial" panose="020B0604020202020204" pitchFamily="34" charset="0"/>
              </a:rPr>
              <a:t>1</a:t>
            </a:r>
            <a:r>
              <a:rPr lang="en-GB" sz="1600" dirty="0">
                <a:solidFill>
                  <a:srgbClr val="000000"/>
                </a:solidFill>
                <a:latin typeface="Arial" panose="020B0604020202020204" pitchFamily="34" charset="0"/>
                <a:cs typeface="Arial" panose="020B0604020202020204" pitchFamily="34" charset="0"/>
              </a:rPr>
              <a:t> &amp; 𝜃</a:t>
            </a:r>
            <a:r>
              <a:rPr lang="en-GB" sz="1600" baseline="-25000" dirty="0">
                <a:solidFill>
                  <a:srgbClr val="000000"/>
                </a:solidFill>
                <a:latin typeface="Arial" panose="020B0604020202020204" pitchFamily="34" charset="0"/>
                <a:cs typeface="Arial" panose="020B0604020202020204" pitchFamily="34" charset="0"/>
              </a:rPr>
              <a:t>2</a:t>
            </a:r>
            <a:r>
              <a:rPr lang="en-GB" sz="1600" dirty="0">
                <a:solidFill>
                  <a:srgbClr val="000000"/>
                </a:solidFill>
                <a:latin typeface="Arial" panose="020B0604020202020204" pitchFamily="34" charset="0"/>
                <a:cs typeface="Arial" panose="020B0604020202020204" pitchFamily="34" charset="0"/>
              </a:rPr>
              <a:t>:</a:t>
            </a:r>
            <a:endParaRPr lang="en-GB" sz="1600" dirty="0"/>
          </a:p>
          <a:p>
            <a:pPr algn="ctr"/>
            <a:r>
              <a:rPr lang="en-GB" sz="1600" dirty="0"/>
              <a:t>𝜎</a:t>
            </a:r>
            <a:r>
              <a:rPr lang="en-GB" sz="1600" baseline="-25000" dirty="0"/>
              <a:t>𝜃1</a:t>
            </a:r>
            <a:r>
              <a:rPr lang="en-GB" sz="1600" dirty="0"/>
              <a:t>,</a:t>
            </a:r>
            <a:r>
              <a:rPr lang="en-GB" sz="1600" baseline="-25000" dirty="0"/>
              <a:t> </a:t>
            </a:r>
            <a:r>
              <a:rPr lang="en-GB" sz="1600" dirty="0"/>
              <a:t>𝜎</a:t>
            </a:r>
            <a:r>
              <a:rPr lang="en-GB" sz="1600" baseline="-25000" dirty="0"/>
              <a:t>𝜃2</a:t>
            </a:r>
          </a:p>
          <a:p>
            <a:pPr algn="ctr"/>
            <a:endParaRPr lang="en-GB" sz="1600" baseline="-25000" dirty="0"/>
          </a:p>
          <a:p>
            <a:r>
              <a:rPr lang="en-GB" sz="1600" dirty="0"/>
              <a:t>We summarise this with the Fisher Ratio:</a:t>
            </a:r>
          </a:p>
        </p:txBody>
      </p:sp>
      <p:pic>
        <p:nvPicPr>
          <p:cNvPr id="12" name="Picture 11">
            <a:extLst>
              <a:ext uri="{FF2B5EF4-FFF2-40B4-BE49-F238E27FC236}">
                <a16:creationId xmlns:a16="http://schemas.microsoft.com/office/drawing/2014/main" id="{E34E6B81-2AC0-DA4B-4BC6-9BBD25174810}"/>
              </a:ext>
            </a:extLst>
          </p:cNvPr>
          <p:cNvPicPr>
            <a:picLocks noChangeAspect="1"/>
          </p:cNvPicPr>
          <p:nvPr/>
        </p:nvPicPr>
        <p:blipFill>
          <a:blip r:embed="rId3"/>
          <a:srcRect l="34492" t="7210" r="-434"/>
          <a:stretch>
            <a:fillRect/>
          </a:stretch>
        </p:blipFill>
        <p:spPr>
          <a:xfrm>
            <a:off x="7587162" y="3355142"/>
            <a:ext cx="4366541" cy="3061464"/>
          </a:xfrm>
          <a:prstGeom prst="rect">
            <a:avLst/>
          </a:prstGeom>
        </p:spPr>
      </p:pic>
      <p:grpSp>
        <p:nvGrpSpPr>
          <p:cNvPr id="57" name="Group 56">
            <a:extLst>
              <a:ext uri="{FF2B5EF4-FFF2-40B4-BE49-F238E27FC236}">
                <a16:creationId xmlns:a16="http://schemas.microsoft.com/office/drawing/2014/main" id="{E64466E0-96B4-3D3D-3C8B-C06A4FED47F9}"/>
              </a:ext>
            </a:extLst>
          </p:cNvPr>
          <p:cNvGrpSpPr/>
          <p:nvPr/>
        </p:nvGrpSpPr>
        <p:grpSpPr>
          <a:xfrm>
            <a:off x="4331763" y="1339716"/>
            <a:ext cx="2380945" cy="1472041"/>
            <a:chOff x="4346453" y="2660572"/>
            <a:chExt cx="2380945" cy="1472041"/>
          </a:xfrm>
        </p:grpSpPr>
        <p:cxnSp>
          <p:nvCxnSpPr>
            <p:cNvPr id="15" name="Straight Arrow Connector 14">
              <a:extLst>
                <a:ext uri="{FF2B5EF4-FFF2-40B4-BE49-F238E27FC236}">
                  <a16:creationId xmlns:a16="http://schemas.microsoft.com/office/drawing/2014/main" id="{15D2CF3C-35AB-26C7-90E5-66C55F18C48B}"/>
                </a:ext>
              </a:extLst>
            </p:cNvPr>
            <p:cNvCxnSpPr>
              <a:cxnSpLocks/>
            </p:cNvCxnSpPr>
            <p:nvPr/>
          </p:nvCxnSpPr>
          <p:spPr>
            <a:xfrm>
              <a:off x="5464914" y="3095873"/>
              <a:ext cx="0" cy="612624"/>
            </a:xfrm>
            <a:prstGeom prst="straightConnector1">
              <a:avLst/>
            </a:prstGeom>
            <a:ln>
              <a:headEnd type="triangle" w="med" len="med"/>
              <a:tailEnd type="triangle" w="med" len="med"/>
            </a:ln>
          </p:spPr>
          <p:style>
            <a:lnRef idx="2">
              <a:schemeClr val="accent1"/>
            </a:lnRef>
            <a:fillRef idx="0">
              <a:schemeClr val="accent1"/>
            </a:fillRef>
            <a:effectRef idx="1">
              <a:schemeClr val="accent1"/>
            </a:effectRef>
            <a:fontRef idx="minor">
              <a:schemeClr val="tx1"/>
            </a:fontRef>
          </p:style>
        </p:cxnSp>
        <p:cxnSp>
          <p:nvCxnSpPr>
            <p:cNvPr id="20" name="Straight Arrow Connector 19">
              <a:extLst>
                <a:ext uri="{FF2B5EF4-FFF2-40B4-BE49-F238E27FC236}">
                  <a16:creationId xmlns:a16="http://schemas.microsoft.com/office/drawing/2014/main" id="{35114B84-78C9-7288-3A25-5355002F2A7E}"/>
                </a:ext>
              </a:extLst>
            </p:cNvPr>
            <p:cNvCxnSpPr>
              <a:cxnSpLocks/>
            </p:cNvCxnSpPr>
            <p:nvPr/>
          </p:nvCxnSpPr>
          <p:spPr>
            <a:xfrm flipV="1">
              <a:off x="4838838" y="2660572"/>
              <a:ext cx="0" cy="1472041"/>
            </a:xfrm>
            <a:prstGeom prst="straightConnector1">
              <a:avLst/>
            </a:prstGeom>
            <a:ln>
              <a:solidFill>
                <a:schemeClr val="tx1"/>
              </a:solidFill>
              <a:headEnd type="none" w="med" len="med"/>
              <a:tailEnd type="triangle" w="med" len="med"/>
            </a:ln>
          </p:spPr>
          <p:style>
            <a:lnRef idx="2">
              <a:schemeClr val="accent1"/>
            </a:lnRef>
            <a:fillRef idx="0">
              <a:schemeClr val="accent1"/>
            </a:fillRef>
            <a:effectRef idx="1">
              <a:schemeClr val="accent1"/>
            </a:effectRef>
            <a:fontRef idx="minor">
              <a:schemeClr val="tx1"/>
            </a:fontRef>
          </p:style>
        </p:cxnSp>
        <p:pic>
          <p:nvPicPr>
            <p:cNvPr id="24" name="Picture 23">
              <a:extLst>
                <a:ext uri="{FF2B5EF4-FFF2-40B4-BE49-F238E27FC236}">
                  <a16:creationId xmlns:a16="http://schemas.microsoft.com/office/drawing/2014/main" id="{12E20A31-1E0C-8CB4-B44B-22D05EFCA0B8}"/>
                </a:ext>
              </a:extLst>
            </p:cNvPr>
            <p:cNvPicPr>
              <a:picLocks noChangeAspect="1"/>
            </p:cNvPicPr>
            <p:nvPr/>
          </p:nvPicPr>
          <p:blipFill>
            <a:blip r:embed="rId4"/>
            <a:stretch>
              <a:fillRect/>
            </a:stretch>
          </p:blipFill>
          <p:spPr>
            <a:xfrm>
              <a:off x="4346453" y="3279082"/>
              <a:ext cx="358696" cy="288516"/>
            </a:xfrm>
            <a:prstGeom prst="rect">
              <a:avLst/>
            </a:prstGeom>
          </p:spPr>
        </p:pic>
        <p:grpSp>
          <p:nvGrpSpPr>
            <p:cNvPr id="28" name="Group 27">
              <a:extLst>
                <a:ext uri="{FF2B5EF4-FFF2-40B4-BE49-F238E27FC236}">
                  <a16:creationId xmlns:a16="http://schemas.microsoft.com/office/drawing/2014/main" id="{CA0D86E3-11AC-DAD7-68ED-34F4837F3371}"/>
                </a:ext>
              </a:extLst>
            </p:cNvPr>
            <p:cNvGrpSpPr/>
            <p:nvPr/>
          </p:nvGrpSpPr>
          <p:grpSpPr>
            <a:xfrm>
              <a:off x="5536148" y="2955369"/>
              <a:ext cx="259711" cy="265022"/>
              <a:chOff x="6095999" y="2077376"/>
              <a:chExt cx="374090" cy="381740"/>
            </a:xfrm>
          </p:grpSpPr>
          <p:sp>
            <p:nvSpPr>
              <p:cNvPr id="26" name="Right Bracket 25">
                <a:extLst>
                  <a:ext uri="{FF2B5EF4-FFF2-40B4-BE49-F238E27FC236}">
                    <a16:creationId xmlns:a16="http://schemas.microsoft.com/office/drawing/2014/main" id="{302EA5D9-6FEB-F7D7-D0A0-C5F8C706FF99}"/>
                  </a:ext>
                </a:extLst>
              </p:cNvPr>
              <p:cNvSpPr/>
              <p:nvPr/>
            </p:nvSpPr>
            <p:spPr>
              <a:xfrm>
                <a:off x="6095999" y="2077376"/>
                <a:ext cx="185351" cy="381740"/>
              </a:xfrm>
              <a:prstGeom prst="rightBracket">
                <a:avLst>
                  <a:gd name="adj" fmla="val 0"/>
                </a:avLst>
              </a:prstGeom>
              <a:ln w="19050">
                <a:solidFill>
                  <a:schemeClr val="tx1"/>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GB"/>
              </a:p>
            </p:txBody>
          </p:sp>
          <p:sp>
            <p:nvSpPr>
              <p:cNvPr id="27" name="Right Bracket 26">
                <a:extLst>
                  <a:ext uri="{FF2B5EF4-FFF2-40B4-BE49-F238E27FC236}">
                    <a16:creationId xmlns:a16="http://schemas.microsoft.com/office/drawing/2014/main" id="{F02F56F9-4BB4-B2E2-7E35-4317F6B855C3}"/>
                  </a:ext>
                </a:extLst>
              </p:cNvPr>
              <p:cNvSpPr/>
              <p:nvPr/>
            </p:nvSpPr>
            <p:spPr>
              <a:xfrm rot="10800000">
                <a:off x="6284738" y="2080073"/>
                <a:ext cx="185351" cy="379043"/>
              </a:xfrm>
              <a:prstGeom prst="rightBracket">
                <a:avLst>
                  <a:gd name="adj" fmla="val 0"/>
                </a:avLst>
              </a:prstGeom>
              <a:ln w="19050">
                <a:solidFill>
                  <a:schemeClr val="tx1"/>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GB"/>
              </a:p>
            </p:txBody>
          </p:sp>
          <p:sp>
            <p:nvSpPr>
              <p:cNvPr id="25" name="Oval 24">
                <a:extLst>
                  <a:ext uri="{FF2B5EF4-FFF2-40B4-BE49-F238E27FC236}">
                    <a16:creationId xmlns:a16="http://schemas.microsoft.com/office/drawing/2014/main" id="{1F5F9EDB-3E01-8918-5578-B8E9422B6B5F}"/>
                  </a:ext>
                </a:extLst>
              </p:cNvPr>
              <p:cNvSpPr/>
              <p:nvPr/>
            </p:nvSpPr>
            <p:spPr>
              <a:xfrm>
                <a:off x="6190735" y="2187146"/>
                <a:ext cx="185351" cy="185351"/>
              </a:xfrm>
              <a:prstGeom prst="ellipse">
                <a:avLst/>
              </a:prstGeom>
              <a:solidFill>
                <a:schemeClr val="accent6"/>
              </a:solidFill>
              <a:ln w="190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35" name="Group 34">
              <a:extLst>
                <a:ext uri="{FF2B5EF4-FFF2-40B4-BE49-F238E27FC236}">
                  <a16:creationId xmlns:a16="http://schemas.microsoft.com/office/drawing/2014/main" id="{4837BD06-59A6-CCF1-76D2-D1A6A69DC82F}"/>
                </a:ext>
              </a:extLst>
            </p:cNvPr>
            <p:cNvGrpSpPr/>
            <p:nvPr/>
          </p:nvGrpSpPr>
          <p:grpSpPr>
            <a:xfrm>
              <a:off x="5133970" y="3575986"/>
              <a:ext cx="259711" cy="265022"/>
              <a:chOff x="6095999" y="2077376"/>
              <a:chExt cx="374090" cy="381740"/>
            </a:xfrm>
          </p:grpSpPr>
          <p:sp>
            <p:nvSpPr>
              <p:cNvPr id="37" name="Right Bracket 36">
                <a:extLst>
                  <a:ext uri="{FF2B5EF4-FFF2-40B4-BE49-F238E27FC236}">
                    <a16:creationId xmlns:a16="http://schemas.microsoft.com/office/drawing/2014/main" id="{F2C014EC-3300-256D-9114-1B7FAFB95784}"/>
                  </a:ext>
                </a:extLst>
              </p:cNvPr>
              <p:cNvSpPr/>
              <p:nvPr/>
            </p:nvSpPr>
            <p:spPr>
              <a:xfrm>
                <a:off x="6095999" y="2077376"/>
                <a:ext cx="185351" cy="381740"/>
              </a:xfrm>
              <a:prstGeom prst="rightBracket">
                <a:avLst>
                  <a:gd name="adj" fmla="val 0"/>
                </a:avLst>
              </a:prstGeom>
              <a:ln w="19050">
                <a:solidFill>
                  <a:schemeClr val="tx1"/>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GB"/>
              </a:p>
            </p:txBody>
          </p:sp>
          <p:sp>
            <p:nvSpPr>
              <p:cNvPr id="44" name="Right Bracket 43">
                <a:extLst>
                  <a:ext uri="{FF2B5EF4-FFF2-40B4-BE49-F238E27FC236}">
                    <a16:creationId xmlns:a16="http://schemas.microsoft.com/office/drawing/2014/main" id="{5C75573E-24F4-BD2C-9DBC-EC8EB7B9A9E0}"/>
                  </a:ext>
                </a:extLst>
              </p:cNvPr>
              <p:cNvSpPr/>
              <p:nvPr/>
            </p:nvSpPr>
            <p:spPr>
              <a:xfrm rot="10800000">
                <a:off x="6284738" y="2080073"/>
                <a:ext cx="185351" cy="379043"/>
              </a:xfrm>
              <a:prstGeom prst="rightBracket">
                <a:avLst>
                  <a:gd name="adj" fmla="val 0"/>
                </a:avLst>
              </a:prstGeom>
              <a:ln w="19050">
                <a:solidFill>
                  <a:schemeClr val="tx1"/>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GB"/>
              </a:p>
            </p:txBody>
          </p:sp>
          <p:sp>
            <p:nvSpPr>
              <p:cNvPr id="51" name="Oval 50">
                <a:extLst>
                  <a:ext uri="{FF2B5EF4-FFF2-40B4-BE49-F238E27FC236}">
                    <a16:creationId xmlns:a16="http://schemas.microsoft.com/office/drawing/2014/main" id="{3D827E3C-DD0B-2ED8-59AE-1FC4FBBFEA93}"/>
                  </a:ext>
                </a:extLst>
              </p:cNvPr>
              <p:cNvSpPr/>
              <p:nvPr/>
            </p:nvSpPr>
            <p:spPr>
              <a:xfrm>
                <a:off x="6190735" y="2187146"/>
                <a:ext cx="185351" cy="185351"/>
              </a:xfrm>
              <a:prstGeom prst="ellipse">
                <a:avLst/>
              </a:prstGeom>
              <a:solidFill>
                <a:schemeClr val="accent6"/>
              </a:solidFill>
              <a:ln w="190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pic>
          <p:nvPicPr>
            <p:cNvPr id="52" name="Picture 51">
              <a:extLst>
                <a:ext uri="{FF2B5EF4-FFF2-40B4-BE49-F238E27FC236}">
                  <a16:creationId xmlns:a16="http://schemas.microsoft.com/office/drawing/2014/main" id="{A211B963-FD6D-4C56-065D-B197B780D003}"/>
                </a:ext>
              </a:extLst>
            </p:cNvPr>
            <p:cNvPicPr>
              <a:picLocks noChangeAspect="1"/>
            </p:cNvPicPr>
            <p:nvPr/>
          </p:nvPicPr>
          <p:blipFill>
            <a:blip r:embed="rId5"/>
            <a:stretch>
              <a:fillRect/>
            </a:stretch>
          </p:blipFill>
          <p:spPr>
            <a:xfrm>
              <a:off x="5601359" y="3606706"/>
              <a:ext cx="800975" cy="208384"/>
            </a:xfrm>
            <a:prstGeom prst="rect">
              <a:avLst/>
            </a:prstGeom>
          </p:spPr>
        </p:pic>
        <p:pic>
          <p:nvPicPr>
            <p:cNvPr id="53" name="Picture 52">
              <a:extLst>
                <a:ext uri="{FF2B5EF4-FFF2-40B4-BE49-F238E27FC236}">
                  <a16:creationId xmlns:a16="http://schemas.microsoft.com/office/drawing/2014/main" id="{71A480FE-B86D-65F8-418B-49D1447D2864}"/>
                </a:ext>
              </a:extLst>
            </p:cNvPr>
            <p:cNvPicPr>
              <a:picLocks noChangeAspect="1"/>
            </p:cNvPicPr>
            <p:nvPr/>
          </p:nvPicPr>
          <p:blipFill>
            <a:blip r:embed="rId6"/>
            <a:stretch>
              <a:fillRect/>
            </a:stretch>
          </p:blipFill>
          <p:spPr>
            <a:xfrm>
              <a:off x="5912282" y="2935785"/>
              <a:ext cx="815116" cy="212062"/>
            </a:xfrm>
            <a:prstGeom prst="rect">
              <a:avLst/>
            </a:prstGeom>
          </p:spPr>
        </p:pic>
      </p:grpSp>
      <p:pic>
        <p:nvPicPr>
          <p:cNvPr id="58" name="Picture 57">
            <a:extLst>
              <a:ext uri="{FF2B5EF4-FFF2-40B4-BE49-F238E27FC236}">
                <a16:creationId xmlns:a16="http://schemas.microsoft.com/office/drawing/2014/main" id="{73971EE7-E108-B691-BD9A-86DD72B3EF8A}"/>
              </a:ext>
            </a:extLst>
          </p:cNvPr>
          <p:cNvPicPr>
            <a:picLocks noChangeAspect="1"/>
          </p:cNvPicPr>
          <p:nvPr/>
        </p:nvPicPr>
        <p:blipFill>
          <a:blip r:embed="rId7"/>
          <a:stretch>
            <a:fillRect/>
          </a:stretch>
        </p:blipFill>
        <p:spPr>
          <a:xfrm>
            <a:off x="3852972" y="2934246"/>
            <a:ext cx="2085450" cy="326349"/>
          </a:xfrm>
          <a:prstGeom prst="rect">
            <a:avLst/>
          </a:prstGeom>
        </p:spPr>
      </p:pic>
      <p:sp>
        <p:nvSpPr>
          <p:cNvPr id="60" name="TextBox 59">
            <a:extLst>
              <a:ext uri="{FF2B5EF4-FFF2-40B4-BE49-F238E27FC236}">
                <a16:creationId xmlns:a16="http://schemas.microsoft.com/office/drawing/2014/main" id="{0077231A-1CE4-03F4-5FAA-4C474B5FEF38}"/>
              </a:ext>
            </a:extLst>
          </p:cNvPr>
          <p:cNvSpPr txBox="1"/>
          <p:nvPr/>
        </p:nvSpPr>
        <p:spPr>
          <a:xfrm>
            <a:off x="3822488" y="738110"/>
            <a:ext cx="3201047" cy="523220"/>
          </a:xfrm>
          <a:prstGeom prst="rect">
            <a:avLst/>
          </a:prstGeom>
          <a:noFill/>
        </p:spPr>
        <p:txBody>
          <a:bodyPr wrap="square">
            <a:spAutoFit/>
          </a:bodyPr>
          <a:lstStyle/>
          <a:p>
            <a:r>
              <a:rPr lang="en-GB" sz="1400" b="1" dirty="0">
                <a:solidFill>
                  <a:srgbClr val="000000"/>
                </a:solidFill>
                <a:latin typeface="Arial" panose="020B0604020202020204" pitchFamily="34" charset="0"/>
                <a:cs typeface="Arial" panose="020B0604020202020204" pitchFamily="34" charset="0"/>
              </a:rPr>
              <a:t>Good separation, </a:t>
            </a:r>
          </a:p>
          <a:p>
            <a:r>
              <a:rPr lang="en-GB" sz="1400" b="1" dirty="0">
                <a:solidFill>
                  <a:srgbClr val="000000"/>
                </a:solidFill>
                <a:latin typeface="Arial" panose="020B0604020202020204" pitchFamily="34" charset="0"/>
                <a:cs typeface="Arial" panose="020B0604020202020204" pitchFamily="34" charset="0"/>
              </a:rPr>
              <a:t>good identification</a:t>
            </a:r>
            <a:endParaRPr lang="en-GB" sz="1400" b="1" dirty="0"/>
          </a:p>
        </p:txBody>
      </p:sp>
      <p:grpSp>
        <p:nvGrpSpPr>
          <p:cNvPr id="61" name="Group 60">
            <a:extLst>
              <a:ext uri="{FF2B5EF4-FFF2-40B4-BE49-F238E27FC236}">
                <a16:creationId xmlns:a16="http://schemas.microsoft.com/office/drawing/2014/main" id="{B3CA753E-04A8-9141-F490-7453590377A7}"/>
              </a:ext>
            </a:extLst>
          </p:cNvPr>
          <p:cNvGrpSpPr/>
          <p:nvPr/>
        </p:nvGrpSpPr>
        <p:grpSpPr>
          <a:xfrm>
            <a:off x="4382235" y="4257527"/>
            <a:ext cx="2380945" cy="1472041"/>
            <a:chOff x="4346453" y="2660572"/>
            <a:chExt cx="2380945" cy="1472041"/>
          </a:xfrm>
        </p:grpSpPr>
        <p:cxnSp>
          <p:nvCxnSpPr>
            <p:cNvPr id="62" name="Straight Arrow Connector 61">
              <a:extLst>
                <a:ext uri="{FF2B5EF4-FFF2-40B4-BE49-F238E27FC236}">
                  <a16:creationId xmlns:a16="http://schemas.microsoft.com/office/drawing/2014/main" id="{BC050C61-4BC8-E650-6DEB-CC5D6D1001C3}"/>
                </a:ext>
              </a:extLst>
            </p:cNvPr>
            <p:cNvCxnSpPr>
              <a:cxnSpLocks/>
            </p:cNvCxnSpPr>
            <p:nvPr/>
          </p:nvCxnSpPr>
          <p:spPr>
            <a:xfrm>
              <a:off x="5464914" y="3095873"/>
              <a:ext cx="0" cy="612624"/>
            </a:xfrm>
            <a:prstGeom prst="straightConnector1">
              <a:avLst/>
            </a:prstGeom>
            <a:ln>
              <a:headEnd type="triangle" w="med" len="med"/>
              <a:tailEnd type="triangle" w="med" len="med"/>
            </a:ln>
          </p:spPr>
          <p:style>
            <a:lnRef idx="2">
              <a:schemeClr val="accent1"/>
            </a:lnRef>
            <a:fillRef idx="0">
              <a:schemeClr val="accent1"/>
            </a:fillRef>
            <a:effectRef idx="1">
              <a:schemeClr val="accent1"/>
            </a:effectRef>
            <a:fontRef idx="minor">
              <a:schemeClr val="tx1"/>
            </a:fontRef>
          </p:style>
        </p:cxnSp>
        <p:cxnSp>
          <p:nvCxnSpPr>
            <p:cNvPr id="63" name="Straight Arrow Connector 62">
              <a:extLst>
                <a:ext uri="{FF2B5EF4-FFF2-40B4-BE49-F238E27FC236}">
                  <a16:creationId xmlns:a16="http://schemas.microsoft.com/office/drawing/2014/main" id="{A7FFE462-6A84-1FE5-56C6-458A6A478636}"/>
                </a:ext>
              </a:extLst>
            </p:cNvPr>
            <p:cNvCxnSpPr>
              <a:cxnSpLocks/>
            </p:cNvCxnSpPr>
            <p:nvPr/>
          </p:nvCxnSpPr>
          <p:spPr>
            <a:xfrm flipV="1">
              <a:off x="4838838" y="2660572"/>
              <a:ext cx="0" cy="1472041"/>
            </a:xfrm>
            <a:prstGeom prst="straightConnector1">
              <a:avLst/>
            </a:prstGeom>
            <a:ln>
              <a:solidFill>
                <a:schemeClr val="tx1"/>
              </a:solidFill>
              <a:headEnd type="none" w="med" len="med"/>
              <a:tailEnd type="triangle" w="med" len="med"/>
            </a:ln>
          </p:spPr>
          <p:style>
            <a:lnRef idx="2">
              <a:schemeClr val="accent1"/>
            </a:lnRef>
            <a:fillRef idx="0">
              <a:schemeClr val="accent1"/>
            </a:fillRef>
            <a:effectRef idx="1">
              <a:schemeClr val="accent1"/>
            </a:effectRef>
            <a:fontRef idx="minor">
              <a:schemeClr val="tx1"/>
            </a:fontRef>
          </p:style>
        </p:cxnSp>
        <p:pic>
          <p:nvPicPr>
            <p:cNvPr id="64" name="Picture 63">
              <a:extLst>
                <a:ext uri="{FF2B5EF4-FFF2-40B4-BE49-F238E27FC236}">
                  <a16:creationId xmlns:a16="http://schemas.microsoft.com/office/drawing/2014/main" id="{449F834D-6561-A456-033C-E62323900037}"/>
                </a:ext>
              </a:extLst>
            </p:cNvPr>
            <p:cNvPicPr>
              <a:picLocks noChangeAspect="1"/>
            </p:cNvPicPr>
            <p:nvPr/>
          </p:nvPicPr>
          <p:blipFill>
            <a:blip r:embed="rId4"/>
            <a:stretch>
              <a:fillRect/>
            </a:stretch>
          </p:blipFill>
          <p:spPr>
            <a:xfrm>
              <a:off x="4346453" y="3279082"/>
              <a:ext cx="358696" cy="288516"/>
            </a:xfrm>
            <a:prstGeom prst="rect">
              <a:avLst/>
            </a:prstGeom>
          </p:spPr>
        </p:pic>
        <p:grpSp>
          <p:nvGrpSpPr>
            <p:cNvPr id="65" name="Group 64">
              <a:extLst>
                <a:ext uri="{FF2B5EF4-FFF2-40B4-BE49-F238E27FC236}">
                  <a16:creationId xmlns:a16="http://schemas.microsoft.com/office/drawing/2014/main" id="{8D05C3E6-271B-29B6-66AE-A5A21014E254}"/>
                </a:ext>
              </a:extLst>
            </p:cNvPr>
            <p:cNvGrpSpPr/>
            <p:nvPr/>
          </p:nvGrpSpPr>
          <p:grpSpPr>
            <a:xfrm>
              <a:off x="5541994" y="2706396"/>
              <a:ext cx="259260" cy="764109"/>
              <a:chOff x="6104432" y="1718754"/>
              <a:chExt cx="373441" cy="1100629"/>
            </a:xfrm>
          </p:grpSpPr>
          <p:sp>
            <p:nvSpPr>
              <p:cNvPr id="72" name="Right Bracket 71">
                <a:extLst>
                  <a:ext uri="{FF2B5EF4-FFF2-40B4-BE49-F238E27FC236}">
                    <a16:creationId xmlns:a16="http://schemas.microsoft.com/office/drawing/2014/main" id="{2E68BB4A-90CB-C44E-6AE0-1BE17A616545}"/>
                  </a:ext>
                </a:extLst>
              </p:cNvPr>
              <p:cNvSpPr/>
              <p:nvPr/>
            </p:nvSpPr>
            <p:spPr>
              <a:xfrm>
                <a:off x="6104432" y="1727713"/>
                <a:ext cx="176911" cy="1091670"/>
              </a:xfrm>
              <a:prstGeom prst="rightBracket">
                <a:avLst>
                  <a:gd name="adj" fmla="val 0"/>
                </a:avLst>
              </a:prstGeom>
              <a:ln w="19050">
                <a:solidFill>
                  <a:schemeClr val="tx1"/>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GB"/>
              </a:p>
            </p:txBody>
          </p:sp>
          <p:sp>
            <p:nvSpPr>
              <p:cNvPr id="73" name="Right Bracket 72">
                <a:extLst>
                  <a:ext uri="{FF2B5EF4-FFF2-40B4-BE49-F238E27FC236}">
                    <a16:creationId xmlns:a16="http://schemas.microsoft.com/office/drawing/2014/main" id="{49E6180F-FAFF-4C94-0594-B71685FA5236}"/>
                  </a:ext>
                </a:extLst>
              </p:cNvPr>
              <p:cNvSpPr/>
              <p:nvPr/>
            </p:nvSpPr>
            <p:spPr>
              <a:xfrm rot="10800000">
                <a:off x="6284740" y="1718754"/>
                <a:ext cx="193133" cy="1100627"/>
              </a:xfrm>
              <a:prstGeom prst="rightBracket">
                <a:avLst>
                  <a:gd name="adj" fmla="val 0"/>
                </a:avLst>
              </a:prstGeom>
              <a:ln w="19050">
                <a:solidFill>
                  <a:schemeClr val="tx1"/>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GB"/>
              </a:p>
            </p:txBody>
          </p:sp>
          <p:sp>
            <p:nvSpPr>
              <p:cNvPr id="74" name="Oval 73">
                <a:extLst>
                  <a:ext uri="{FF2B5EF4-FFF2-40B4-BE49-F238E27FC236}">
                    <a16:creationId xmlns:a16="http://schemas.microsoft.com/office/drawing/2014/main" id="{E24A20AA-4B4A-CE93-3E53-C9CC0E7E30B7}"/>
                  </a:ext>
                </a:extLst>
              </p:cNvPr>
              <p:cNvSpPr/>
              <p:nvPr/>
            </p:nvSpPr>
            <p:spPr>
              <a:xfrm>
                <a:off x="6190735" y="2187146"/>
                <a:ext cx="185351" cy="185351"/>
              </a:xfrm>
              <a:prstGeom prst="ellipse">
                <a:avLst/>
              </a:prstGeom>
              <a:solidFill>
                <a:schemeClr val="accent6"/>
              </a:solidFill>
              <a:ln w="190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66" name="Group 65">
              <a:extLst>
                <a:ext uri="{FF2B5EF4-FFF2-40B4-BE49-F238E27FC236}">
                  <a16:creationId xmlns:a16="http://schemas.microsoft.com/office/drawing/2014/main" id="{2736C32D-89A2-B4C1-9D06-C4A35248DF81}"/>
                </a:ext>
              </a:extLst>
            </p:cNvPr>
            <p:cNvGrpSpPr/>
            <p:nvPr/>
          </p:nvGrpSpPr>
          <p:grpSpPr>
            <a:xfrm>
              <a:off x="5131324" y="3360003"/>
              <a:ext cx="265548" cy="707588"/>
              <a:chOff x="6092162" y="1766266"/>
              <a:chExt cx="382496" cy="1019214"/>
            </a:xfrm>
          </p:grpSpPr>
          <p:sp>
            <p:nvSpPr>
              <p:cNvPr id="69" name="Right Bracket 68">
                <a:extLst>
                  <a:ext uri="{FF2B5EF4-FFF2-40B4-BE49-F238E27FC236}">
                    <a16:creationId xmlns:a16="http://schemas.microsoft.com/office/drawing/2014/main" id="{78CEF083-2965-7B16-A3BD-3ED7F5E27AC3}"/>
                  </a:ext>
                </a:extLst>
              </p:cNvPr>
              <p:cNvSpPr/>
              <p:nvPr/>
            </p:nvSpPr>
            <p:spPr>
              <a:xfrm>
                <a:off x="6092162" y="1766266"/>
                <a:ext cx="189192" cy="1019214"/>
              </a:xfrm>
              <a:prstGeom prst="rightBracket">
                <a:avLst>
                  <a:gd name="adj" fmla="val 0"/>
                </a:avLst>
              </a:prstGeom>
              <a:ln w="19050">
                <a:solidFill>
                  <a:schemeClr val="tx1"/>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GB"/>
              </a:p>
            </p:txBody>
          </p:sp>
          <p:sp>
            <p:nvSpPr>
              <p:cNvPr id="70" name="Right Bracket 69">
                <a:extLst>
                  <a:ext uri="{FF2B5EF4-FFF2-40B4-BE49-F238E27FC236}">
                    <a16:creationId xmlns:a16="http://schemas.microsoft.com/office/drawing/2014/main" id="{65F24481-FD05-6A77-DFCB-D2F87A01ED9B}"/>
                  </a:ext>
                </a:extLst>
              </p:cNvPr>
              <p:cNvSpPr/>
              <p:nvPr/>
            </p:nvSpPr>
            <p:spPr>
              <a:xfrm rot="10800000">
                <a:off x="6273075" y="1766266"/>
                <a:ext cx="201583" cy="1019211"/>
              </a:xfrm>
              <a:prstGeom prst="rightBracket">
                <a:avLst>
                  <a:gd name="adj" fmla="val 0"/>
                </a:avLst>
              </a:prstGeom>
              <a:ln w="19050">
                <a:solidFill>
                  <a:schemeClr val="tx1"/>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GB"/>
              </a:p>
            </p:txBody>
          </p:sp>
          <p:sp>
            <p:nvSpPr>
              <p:cNvPr id="71" name="Oval 70">
                <a:extLst>
                  <a:ext uri="{FF2B5EF4-FFF2-40B4-BE49-F238E27FC236}">
                    <a16:creationId xmlns:a16="http://schemas.microsoft.com/office/drawing/2014/main" id="{3ADEBDB9-0451-E286-5629-AEE0F5AA8D1D}"/>
                  </a:ext>
                </a:extLst>
              </p:cNvPr>
              <p:cNvSpPr/>
              <p:nvPr/>
            </p:nvSpPr>
            <p:spPr>
              <a:xfrm>
                <a:off x="6190735" y="2187146"/>
                <a:ext cx="185351" cy="185351"/>
              </a:xfrm>
              <a:prstGeom prst="ellipse">
                <a:avLst/>
              </a:prstGeom>
              <a:solidFill>
                <a:schemeClr val="accent6"/>
              </a:solidFill>
              <a:ln w="190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pic>
          <p:nvPicPr>
            <p:cNvPr id="67" name="Picture 66">
              <a:extLst>
                <a:ext uri="{FF2B5EF4-FFF2-40B4-BE49-F238E27FC236}">
                  <a16:creationId xmlns:a16="http://schemas.microsoft.com/office/drawing/2014/main" id="{7822654B-C08A-0BAE-DCC4-DD213C5F87FE}"/>
                </a:ext>
              </a:extLst>
            </p:cNvPr>
            <p:cNvPicPr>
              <a:picLocks noChangeAspect="1"/>
            </p:cNvPicPr>
            <p:nvPr/>
          </p:nvPicPr>
          <p:blipFill>
            <a:blip r:embed="rId5"/>
            <a:stretch>
              <a:fillRect/>
            </a:stretch>
          </p:blipFill>
          <p:spPr>
            <a:xfrm>
              <a:off x="5601359" y="3606706"/>
              <a:ext cx="800975" cy="208384"/>
            </a:xfrm>
            <a:prstGeom prst="rect">
              <a:avLst/>
            </a:prstGeom>
          </p:spPr>
        </p:pic>
        <p:pic>
          <p:nvPicPr>
            <p:cNvPr id="68" name="Picture 67">
              <a:extLst>
                <a:ext uri="{FF2B5EF4-FFF2-40B4-BE49-F238E27FC236}">
                  <a16:creationId xmlns:a16="http://schemas.microsoft.com/office/drawing/2014/main" id="{72A28280-FC95-2D89-41A6-15D1A142FE1D}"/>
                </a:ext>
              </a:extLst>
            </p:cNvPr>
            <p:cNvPicPr>
              <a:picLocks noChangeAspect="1"/>
            </p:cNvPicPr>
            <p:nvPr/>
          </p:nvPicPr>
          <p:blipFill>
            <a:blip r:embed="rId6"/>
            <a:stretch>
              <a:fillRect/>
            </a:stretch>
          </p:blipFill>
          <p:spPr>
            <a:xfrm>
              <a:off x="5912282" y="2935785"/>
              <a:ext cx="815116" cy="212062"/>
            </a:xfrm>
            <a:prstGeom prst="rect">
              <a:avLst/>
            </a:prstGeom>
          </p:spPr>
        </p:pic>
      </p:grpSp>
      <p:sp>
        <p:nvSpPr>
          <p:cNvPr id="76" name="TextBox 75">
            <a:extLst>
              <a:ext uri="{FF2B5EF4-FFF2-40B4-BE49-F238E27FC236}">
                <a16:creationId xmlns:a16="http://schemas.microsoft.com/office/drawing/2014/main" id="{BACDD865-9485-E1A9-703E-34180B3DE743}"/>
              </a:ext>
            </a:extLst>
          </p:cNvPr>
          <p:cNvSpPr txBox="1"/>
          <p:nvPr/>
        </p:nvSpPr>
        <p:spPr>
          <a:xfrm>
            <a:off x="3699267" y="3731397"/>
            <a:ext cx="2770760" cy="523220"/>
          </a:xfrm>
          <a:prstGeom prst="rect">
            <a:avLst/>
          </a:prstGeom>
          <a:noFill/>
        </p:spPr>
        <p:txBody>
          <a:bodyPr wrap="square">
            <a:spAutoFit/>
          </a:bodyPr>
          <a:lstStyle/>
          <a:p>
            <a:r>
              <a:rPr lang="en-GB" sz="1400" b="1" dirty="0">
                <a:solidFill>
                  <a:srgbClr val="000000"/>
                </a:solidFill>
                <a:latin typeface="Arial" panose="020B0604020202020204" pitchFamily="34" charset="0"/>
                <a:cs typeface="Arial" panose="020B0604020202020204" pitchFamily="34" charset="0"/>
              </a:rPr>
              <a:t>Poor separation, </a:t>
            </a:r>
          </a:p>
          <a:p>
            <a:r>
              <a:rPr lang="en-GB" sz="1400" b="1" dirty="0">
                <a:solidFill>
                  <a:srgbClr val="000000"/>
                </a:solidFill>
                <a:latin typeface="Arial" panose="020B0604020202020204" pitchFamily="34" charset="0"/>
                <a:cs typeface="Arial" panose="020B0604020202020204" pitchFamily="34" charset="0"/>
              </a:rPr>
              <a:t>poor identification</a:t>
            </a:r>
            <a:endParaRPr lang="en-GB" sz="1400" b="1" dirty="0"/>
          </a:p>
        </p:txBody>
      </p:sp>
      <p:pic>
        <p:nvPicPr>
          <p:cNvPr id="77" name="Picture 76">
            <a:extLst>
              <a:ext uri="{FF2B5EF4-FFF2-40B4-BE49-F238E27FC236}">
                <a16:creationId xmlns:a16="http://schemas.microsoft.com/office/drawing/2014/main" id="{365D93E5-8CBC-0DDD-9B08-1175DDFEDCCE}"/>
              </a:ext>
            </a:extLst>
          </p:cNvPr>
          <p:cNvPicPr>
            <a:picLocks noChangeAspect="1"/>
          </p:cNvPicPr>
          <p:nvPr/>
        </p:nvPicPr>
        <p:blipFill>
          <a:blip r:embed="rId8"/>
          <a:stretch>
            <a:fillRect/>
          </a:stretch>
        </p:blipFill>
        <p:spPr>
          <a:xfrm>
            <a:off x="3829649" y="5784522"/>
            <a:ext cx="2230846" cy="361521"/>
          </a:xfrm>
          <a:prstGeom prst="rect">
            <a:avLst/>
          </a:prstGeom>
        </p:spPr>
      </p:pic>
      <p:pic>
        <p:nvPicPr>
          <p:cNvPr id="80" name="Picture 79">
            <a:extLst>
              <a:ext uri="{FF2B5EF4-FFF2-40B4-BE49-F238E27FC236}">
                <a16:creationId xmlns:a16="http://schemas.microsoft.com/office/drawing/2014/main" id="{5250F487-A2C0-609E-F9BE-B673E2089E13}"/>
              </a:ext>
            </a:extLst>
          </p:cNvPr>
          <p:cNvPicPr>
            <a:picLocks noChangeAspect="1"/>
          </p:cNvPicPr>
          <p:nvPr/>
        </p:nvPicPr>
        <p:blipFill>
          <a:blip r:embed="rId9"/>
          <a:stretch>
            <a:fillRect/>
          </a:stretch>
        </p:blipFill>
        <p:spPr>
          <a:xfrm>
            <a:off x="986344" y="5513666"/>
            <a:ext cx="1941423" cy="673409"/>
          </a:xfrm>
          <a:prstGeom prst="rect">
            <a:avLst/>
          </a:prstGeom>
        </p:spPr>
      </p:pic>
      <p:pic>
        <p:nvPicPr>
          <p:cNvPr id="82" name="Picture 81">
            <a:extLst>
              <a:ext uri="{FF2B5EF4-FFF2-40B4-BE49-F238E27FC236}">
                <a16:creationId xmlns:a16="http://schemas.microsoft.com/office/drawing/2014/main" id="{0DE0C46A-E0C5-34D5-2864-C0EA86A3551B}"/>
              </a:ext>
            </a:extLst>
          </p:cNvPr>
          <p:cNvPicPr>
            <a:picLocks noChangeAspect="1"/>
          </p:cNvPicPr>
          <p:nvPr/>
        </p:nvPicPr>
        <p:blipFill>
          <a:blip r:embed="rId10"/>
          <a:srcRect l="33763"/>
          <a:stretch>
            <a:fillRect/>
          </a:stretch>
        </p:blipFill>
        <p:spPr>
          <a:xfrm>
            <a:off x="7634394" y="70478"/>
            <a:ext cx="4366546" cy="3284664"/>
          </a:xfrm>
          <a:prstGeom prst="rect">
            <a:avLst/>
          </a:prstGeom>
        </p:spPr>
      </p:pic>
      <p:sp>
        <p:nvSpPr>
          <p:cNvPr id="83" name="TextBox 82">
            <a:extLst>
              <a:ext uri="{FF2B5EF4-FFF2-40B4-BE49-F238E27FC236}">
                <a16:creationId xmlns:a16="http://schemas.microsoft.com/office/drawing/2014/main" id="{06FB0B9B-EECE-72E7-3FE8-D50BCF49D126}"/>
              </a:ext>
            </a:extLst>
          </p:cNvPr>
          <p:cNvSpPr txBox="1"/>
          <p:nvPr/>
        </p:nvSpPr>
        <p:spPr>
          <a:xfrm rot="18000000">
            <a:off x="7459123" y="661544"/>
            <a:ext cx="3201047" cy="307777"/>
          </a:xfrm>
          <a:prstGeom prst="rect">
            <a:avLst/>
          </a:prstGeom>
          <a:noFill/>
        </p:spPr>
        <p:txBody>
          <a:bodyPr wrap="square">
            <a:spAutoFit/>
          </a:bodyPr>
          <a:lstStyle/>
          <a:p>
            <a:r>
              <a:rPr lang="en-GB" sz="1400" b="1" dirty="0">
                <a:solidFill>
                  <a:srgbClr val="000000"/>
                </a:solidFill>
                <a:latin typeface="Arial" panose="020B0604020202020204" pitchFamily="34" charset="0"/>
                <a:cs typeface="Arial" panose="020B0604020202020204" pitchFamily="34" charset="0"/>
              </a:rPr>
              <a:t>Good separation</a:t>
            </a:r>
          </a:p>
        </p:txBody>
      </p:sp>
      <p:sp>
        <p:nvSpPr>
          <p:cNvPr id="84" name="TextBox 83">
            <a:extLst>
              <a:ext uri="{FF2B5EF4-FFF2-40B4-BE49-F238E27FC236}">
                <a16:creationId xmlns:a16="http://schemas.microsoft.com/office/drawing/2014/main" id="{623CB9C5-B2CA-FA10-A623-BE2D2C83C8DA}"/>
              </a:ext>
            </a:extLst>
          </p:cNvPr>
          <p:cNvSpPr txBox="1"/>
          <p:nvPr/>
        </p:nvSpPr>
        <p:spPr>
          <a:xfrm rot="19118202">
            <a:off x="7722588" y="4151289"/>
            <a:ext cx="3201047" cy="307777"/>
          </a:xfrm>
          <a:prstGeom prst="rect">
            <a:avLst/>
          </a:prstGeom>
          <a:noFill/>
        </p:spPr>
        <p:txBody>
          <a:bodyPr wrap="square">
            <a:spAutoFit/>
          </a:bodyPr>
          <a:lstStyle/>
          <a:p>
            <a:r>
              <a:rPr lang="en-GB" sz="1400" b="1" dirty="0">
                <a:solidFill>
                  <a:srgbClr val="000000"/>
                </a:solidFill>
                <a:latin typeface="Arial" panose="020B0604020202020204" pitchFamily="34" charset="0"/>
                <a:cs typeface="Arial" panose="020B0604020202020204" pitchFamily="34" charset="0"/>
              </a:rPr>
              <a:t>Poor separation</a:t>
            </a:r>
          </a:p>
        </p:txBody>
      </p:sp>
      <p:cxnSp>
        <p:nvCxnSpPr>
          <p:cNvPr id="85" name="Straight Arrow Connector 84">
            <a:extLst>
              <a:ext uri="{FF2B5EF4-FFF2-40B4-BE49-F238E27FC236}">
                <a16:creationId xmlns:a16="http://schemas.microsoft.com/office/drawing/2014/main" id="{AE3E701F-E65B-AD12-CC0C-D3FAE8648F26}"/>
              </a:ext>
            </a:extLst>
          </p:cNvPr>
          <p:cNvCxnSpPr>
            <a:cxnSpLocks/>
          </p:cNvCxnSpPr>
          <p:nvPr/>
        </p:nvCxnSpPr>
        <p:spPr>
          <a:xfrm>
            <a:off x="8232277" y="4901496"/>
            <a:ext cx="0" cy="214734"/>
          </a:xfrm>
          <a:prstGeom prst="straightConnector1">
            <a:avLst/>
          </a:prstGeom>
          <a:ln>
            <a:headEnd type="triangle" w="med" len="med"/>
            <a:tailEnd type="triangle" w="med" len="med"/>
          </a:ln>
        </p:spPr>
        <p:style>
          <a:lnRef idx="2">
            <a:schemeClr val="accent1"/>
          </a:lnRef>
          <a:fillRef idx="0">
            <a:schemeClr val="accent1"/>
          </a:fillRef>
          <a:effectRef idx="1">
            <a:schemeClr val="accent1"/>
          </a:effectRef>
          <a:fontRef idx="minor">
            <a:schemeClr val="tx1"/>
          </a:fontRef>
        </p:style>
      </p:cxnSp>
      <p:cxnSp>
        <p:nvCxnSpPr>
          <p:cNvPr id="87" name="Straight Arrow Connector 86">
            <a:extLst>
              <a:ext uri="{FF2B5EF4-FFF2-40B4-BE49-F238E27FC236}">
                <a16:creationId xmlns:a16="http://schemas.microsoft.com/office/drawing/2014/main" id="{366F3C31-56FC-04EA-ABC5-F0E3C467B1AE}"/>
              </a:ext>
            </a:extLst>
          </p:cNvPr>
          <p:cNvCxnSpPr>
            <a:cxnSpLocks/>
          </p:cNvCxnSpPr>
          <p:nvPr/>
        </p:nvCxnSpPr>
        <p:spPr>
          <a:xfrm>
            <a:off x="8168153" y="1115741"/>
            <a:ext cx="0" cy="1173240"/>
          </a:xfrm>
          <a:prstGeom prst="straightConnector1">
            <a:avLst/>
          </a:prstGeom>
          <a:ln>
            <a:headEnd type="triangle" w="med" len="med"/>
            <a:tailEnd type="triangle" w="med" len="med"/>
          </a:ln>
        </p:spPr>
        <p:style>
          <a:lnRef idx="2">
            <a:schemeClr val="accent1"/>
          </a:lnRef>
          <a:fillRef idx="0">
            <a:schemeClr val="accent1"/>
          </a:fillRef>
          <a:effectRef idx="1">
            <a:schemeClr val="accent1"/>
          </a:effectRef>
          <a:fontRef idx="minor">
            <a:schemeClr val="tx1"/>
          </a:fontRef>
        </p:style>
      </p:cxnSp>
      <p:pic>
        <p:nvPicPr>
          <p:cNvPr id="92" name="Picture 91">
            <a:extLst>
              <a:ext uri="{FF2B5EF4-FFF2-40B4-BE49-F238E27FC236}">
                <a16:creationId xmlns:a16="http://schemas.microsoft.com/office/drawing/2014/main" id="{99E9C5DF-BDEC-6F6C-8438-8453FA0E0866}"/>
              </a:ext>
            </a:extLst>
          </p:cNvPr>
          <p:cNvPicPr>
            <a:picLocks noChangeAspect="1"/>
          </p:cNvPicPr>
          <p:nvPr/>
        </p:nvPicPr>
        <p:blipFill>
          <a:blip r:embed="rId11"/>
          <a:stretch>
            <a:fillRect/>
          </a:stretch>
        </p:blipFill>
        <p:spPr>
          <a:xfrm>
            <a:off x="4486611" y="3365364"/>
            <a:ext cx="963613" cy="214136"/>
          </a:xfrm>
          <a:prstGeom prst="rect">
            <a:avLst/>
          </a:prstGeom>
        </p:spPr>
      </p:pic>
      <p:pic>
        <p:nvPicPr>
          <p:cNvPr id="93" name="Picture 92">
            <a:extLst>
              <a:ext uri="{FF2B5EF4-FFF2-40B4-BE49-F238E27FC236}">
                <a16:creationId xmlns:a16="http://schemas.microsoft.com/office/drawing/2014/main" id="{86BD3754-3FA0-21CC-CA31-45A518D0BF40}"/>
              </a:ext>
            </a:extLst>
          </p:cNvPr>
          <p:cNvPicPr>
            <a:picLocks noChangeAspect="1"/>
          </p:cNvPicPr>
          <p:nvPr/>
        </p:nvPicPr>
        <p:blipFill>
          <a:blip r:embed="rId12"/>
          <a:stretch>
            <a:fillRect/>
          </a:stretch>
        </p:blipFill>
        <p:spPr>
          <a:xfrm>
            <a:off x="4341405" y="6287078"/>
            <a:ext cx="1011486" cy="231442"/>
          </a:xfrm>
          <a:prstGeom prst="rect">
            <a:avLst/>
          </a:prstGeom>
        </p:spPr>
      </p:pic>
    </p:spTree>
    <p:extLst>
      <p:ext uri="{BB962C8B-B14F-4D97-AF65-F5344CB8AC3E}">
        <p14:creationId xmlns:p14="http://schemas.microsoft.com/office/powerpoint/2010/main" val="170051690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5E7607-4103-0145-7467-9E66CA73E08A}"/>
            </a:ext>
          </a:extLst>
        </p:cNvPr>
        <p:cNvGrpSpPr/>
        <p:nvPr/>
      </p:nvGrpSpPr>
      <p:grpSpPr>
        <a:xfrm>
          <a:off x="0" y="0"/>
          <a:ext cx="0" cy="0"/>
          <a:chOff x="0" y="0"/>
          <a:chExt cx="0" cy="0"/>
        </a:xfrm>
      </p:grpSpPr>
      <p:sp>
        <p:nvSpPr>
          <p:cNvPr id="17" name="TextBox 16">
            <a:extLst>
              <a:ext uri="{FF2B5EF4-FFF2-40B4-BE49-F238E27FC236}">
                <a16:creationId xmlns:a16="http://schemas.microsoft.com/office/drawing/2014/main" id="{759963FA-D49B-D83B-5620-D1F9AE4B03E9}"/>
              </a:ext>
            </a:extLst>
          </p:cNvPr>
          <p:cNvSpPr txBox="1"/>
          <p:nvPr/>
        </p:nvSpPr>
        <p:spPr>
          <a:xfrm>
            <a:off x="576889" y="322804"/>
            <a:ext cx="6762374" cy="646331"/>
          </a:xfrm>
          <a:prstGeom prst="rect">
            <a:avLst/>
          </a:prstGeom>
          <a:noFill/>
        </p:spPr>
        <p:txBody>
          <a:bodyPr wrap="square">
            <a:spAutoFit/>
          </a:bodyPr>
          <a:lstStyle/>
          <a:p>
            <a:r>
              <a:rPr lang="en-GB" b="1" dirty="0">
                <a:latin typeface="Arial" panose="020B0604020202020204" pitchFamily="34" charset="0"/>
                <a:cs typeface="Arial" panose="020B0604020202020204" pitchFamily="34" charset="0"/>
              </a:rPr>
              <a:t>Fisher Ratio Instrument Performance Summary</a:t>
            </a:r>
          </a:p>
          <a:p>
            <a:endParaRPr lang="en-GB" b="1" dirty="0">
              <a:solidFill>
                <a:srgbClr val="000000"/>
              </a:solidFill>
              <a:latin typeface="Arial" panose="020B0604020202020204" pitchFamily="34" charset="0"/>
              <a:cs typeface="Arial" panose="020B0604020202020204" pitchFamily="34" charset="0"/>
            </a:endParaRPr>
          </a:p>
        </p:txBody>
      </p:sp>
      <p:sp>
        <p:nvSpPr>
          <p:cNvPr id="3" name="TextBox 2">
            <a:extLst>
              <a:ext uri="{FF2B5EF4-FFF2-40B4-BE49-F238E27FC236}">
                <a16:creationId xmlns:a16="http://schemas.microsoft.com/office/drawing/2014/main" id="{655012BA-A41C-C0F6-97BF-AF32860C55B2}"/>
              </a:ext>
            </a:extLst>
          </p:cNvPr>
          <p:cNvSpPr txBox="1"/>
          <p:nvPr/>
        </p:nvSpPr>
        <p:spPr>
          <a:xfrm>
            <a:off x="676737" y="838227"/>
            <a:ext cx="3595719" cy="1754326"/>
          </a:xfrm>
          <a:prstGeom prst="rect">
            <a:avLst/>
          </a:prstGeom>
          <a:noFill/>
        </p:spPr>
        <p:txBody>
          <a:bodyPr wrap="square">
            <a:spAutoFit/>
          </a:bodyPr>
          <a:lstStyle/>
          <a:p>
            <a:r>
              <a:rPr lang="en-GB" sz="1800" dirty="0">
                <a:solidFill>
                  <a:srgbClr val="000000"/>
                </a:solidFill>
                <a:latin typeface="Arial" panose="020B0604020202020204" pitchFamily="34" charset="0"/>
                <a:cs typeface="Arial" panose="020B0604020202020204" pitchFamily="34" charset="0"/>
              </a:rPr>
              <a:t>We can summarise the success of the instrument configuration (i.e. MWIR sensor spectral range and SNR) for discriminating the minerals of the MICA Files with a Fisher Ratio </a:t>
            </a:r>
            <a:r>
              <a:rPr lang="en-GB" sz="1800" dirty="0" err="1">
                <a:solidFill>
                  <a:srgbClr val="000000"/>
                </a:solidFill>
                <a:latin typeface="Arial" panose="020B0604020202020204" pitchFamily="34" charset="0"/>
                <a:cs typeface="Arial" panose="020B0604020202020204" pitchFamily="34" charset="0"/>
              </a:rPr>
              <a:t>barplot</a:t>
            </a:r>
            <a:r>
              <a:rPr lang="en-GB" sz="1800" dirty="0">
                <a:solidFill>
                  <a:srgbClr val="000000"/>
                </a:solidFill>
                <a:latin typeface="Arial" panose="020B0604020202020204" pitchFamily="34" charset="0"/>
                <a:cs typeface="Arial" panose="020B0604020202020204" pitchFamily="34" charset="0"/>
              </a:rPr>
              <a:t>.</a:t>
            </a:r>
            <a:endParaRPr lang="en-GB" dirty="0"/>
          </a:p>
        </p:txBody>
      </p:sp>
      <p:pic>
        <p:nvPicPr>
          <p:cNvPr id="13" name="Picture 12">
            <a:extLst>
              <a:ext uri="{FF2B5EF4-FFF2-40B4-BE49-F238E27FC236}">
                <a16:creationId xmlns:a16="http://schemas.microsoft.com/office/drawing/2014/main" id="{24BC498D-B075-A798-73EB-AADFAE1D365A}"/>
              </a:ext>
            </a:extLst>
          </p:cNvPr>
          <p:cNvPicPr>
            <a:picLocks noChangeAspect="1"/>
          </p:cNvPicPr>
          <p:nvPr/>
        </p:nvPicPr>
        <p:blipFill>
          <a:blip r:embed="rId3"/>
          <a:srcRect b="38353"/>
          <a:stretch>
            <a:fillRect/>
          </a:stretch>
        </p:blipFill>
        <p:spPr>
          <a:xfrm>
            <a:off x="4372303" y="712103"/>
            <a:ext cx="7561799" cy="6032698"/>
          </a:xfrm>
          <a:prstGeom prst="rect">
            <a:avLst/>
          </a:prstGeom>
        </p:spPr>
      </p:pic>
      <p:grpSp>
        <p:nvGrpSpPr>
          <p:cNvPr id="14" name="Group 13">
            <a:extLst>
              <a:ext uri="{FF2B5EF4-FFF2-40B4-BE49-F238E27FC236}">
                <a16:creationId xmlns:a16="http://schemas.microsoft.com/office/drawing/2014/main" id="{93DA8C53-5823-9B6D-738C-AC8B6C65BAC4}"/>
              </a:ext>
            </a:extLst>
          </p:cNvPr>
          <p:cNvGrpSpPr/>
          <p:nvPr/>
        </p:nvGrpSpPr>
        <p:grpSpPr>
          <a:xfrm>
            <a:off x="1312136" y="3721563"/>
            <a:ext cx="2380945" cy="1472041"/>
            <a:chOff x="4346453" y="2660572"/>
            <a:chExt cx="2380945" cy="1472041"/>
          </a:xfrm>
        </p:grpSpPr>
        <p:cxnSp>
          <p:nvCxnSpPr>
            <p:cNvPr id="16" name="Straight Arrow Connector 15">
              <a:extLst>
                <a:ext uri="{FF2B5EF4-FFF2-40B4-BE49-F238E27FC236}">
                  <a16:creationId xmlns:a16="http://schemas.microsoft.com/office/drawing/2014/main" id="{333F4DA7-87B3-246D-CF28-A7742A6F1397}"/>
                </a:ext>
              </a:extLst>
            </p:cNvPr>
            <p:cNvCxnSpPr>
              <a:cxnSpLocks/>
            </p:cNvCxnSpPr>
            <p:nvPr/>
          </p:nvCxnSpPr>
          <p:spPr>
            <a:xfrm>
              <a:off x="5464914" y="3095873"/>
              <a:ext cx="0" cy="612624"/>
            </a:xfrm>
            <a:prstGeom prst="straightConnector1">
              <a:avLst/>
            </a:prstGeom>
            <a:ln>
              <a:headEnd type="triangle" w="med" len="med"/>
              <a:tailEnd type="triangle" w="med" len="med"/>
            </a:ln>
          </p:spPr>
          <p:style>
            <a:lnRef idx="2">
              <a:schemeClr val="accent1"/>
            </a:lnRef>
            <a:fillRef idx="0">
              <a:schemeClr val="accent1"/>
            </a:fillRef>
            <a:effectRef idx="1">
              <a:schemeClr val="accent1"/>
            </a:effectRef>
            <a:fontRef idx="minor">
              <a:schemeClr val="tx1"/>
            </a:fontRef>
          </p:style>
        </p:cxnSp>
        <p:cxnSp>
          <p:nvCxnSpPr>
            <p:cNvPr id="18" name="Straight Arrow Connector 17">
              <a:extLst>
                <a:ext uri="{FF2B5EF4-FFF2-40B4-BE49-F238E27FC236}">
                  <a16:creationId xmlns:a16="http://schemas.microsoft.com/office/drawing/2014/main" id="{3FEB24E4-A0D7-BDCF-5F03-C965DF8634FB}"/>
                </a:ext>
              </a:extLst>
            </p:cNvPr>
            <p:cNvCxnSpPr>
              <a:cxnSpLocks/>
            </p:cNvCxnSpPr>
            <p:nvPr/>
          </p:nvCxnSpPr>
          <p:spPr>
            <a:xfrm flipV="1">
              <a:off x="4838838" y="2660572"/>
              <a:ext cx="0" cy="1472041"/>
            </a:xfrm>
            <a:prstGeom prst="straightConnector1">
              <a:avLst/>
            </a:prstGeom>
            <a:ln>
              <a:solidFill>
                <a:schemeClr val="tx1"/>
              </a:solidFill>
              <a:headEnd type="none" w="med" len="med"/>
              <a:tailEnd type="triangle" w="med" len="med"/>
            </a:ln>
          </p:spPr>
          <p:style>
            <a:lnRef idx="2">
              <a:schemeClr val="accent1"/>
            </a:lnRef>
            <a:fillRef idx="0">
              <a:schemeClr val="accent1"/>
            </a:fillRef>
            <a:effectRef idx="1">
              <a:schemeClr val="accent1"/>
            </a:effectRef>
            <a:fontRef idx="minor">
              <a:schemeClr val="tx1"/>
            </a:fontRef>
          </p:style>
        </p:cxnSp>
        <p:pic>
          <p:nvPicPr>
            <p:cNvPr id="19" name="Picture 18">
              <a:extLst>
                <a:ext uri="{FF2B5EF4-FFF2-40B4-BE49-F238E27FC236}">
                  <a16:creationId xmlns:a16="http://schemas.microsoft.com/office/drawing/2014/main" id="{7EAAAE5D-F8D9-7F4E-8DF1-40D8515762C3}"/>
                </a:ext>
              </a:extLst>
            </p:cNvPr>
            <p:cNvPicPr>
              <a:picLocks noChangeAspect="1"/>
            </p:cNvPicPr>
            <p:nvPr/>
          </p:nvPicPr>
          <p:blipFill>
            <a:blip r:embed="rId4"/>
            <a:stretch>
              <a:fillRect/>
            </a:stretch>
          </p:blipFill>
          <p:spPr>
            <a:xfrm>
              <a:off x="4346453" y="3279082"/>
              <a:ext cx="358696" cy="288516"/>
            </a:xfrm>
            <a:prstGeom prst="rect">
              <a:avLst/>
            </a:prstGeom>
          </p:spPr>
        </p:pic>
        <p:grpSp>
          <p:nvGrpSpPr>
            <p:cNvPr id="21" name="Group 20">
              <a:extLst>
                <a:ext uri="{FF2B5EF4-FFF2-40B4-BE49-F238E27FC236}">
                  <a16:creationId xmlns:a16="http://schemas.microsoft.com/office/drawing/2014/main" id="{F2BD0740-37A1-693F-19D4-2050579EA3EE}"/>
                </a:ext>
              </a:extLst>
            </p:cNvPr>
            <p:cNvGrpSpPr/>
            <p:nvPr/>
          </p:nvGrpSpPr>
          <p:grpSpPr>
            <a:xfrm>
              <a:off x="5536148" y="2955369"/>
              <a:ext cx="259711" cy="265022"/>
              <a:chOff x="6095999" y="2077376"/>
              <a:chExt cx="374090" cy="381740"/>
            </a:xfrm>
          </p:grpSpPr>
          <p:sp>
            <p:nvSpPr>
              <p:cNvPr id="33" name="Right Bracket 32">
                <a:extLst>
                  <a:ext uri="{FF2B5EF4-FFF2-40B4-BE49-F238E27FC236}">
                    <a16:creationId xmlns:a16="http://schemas.microsoft.com/office/drawing/2014/main" id="{2D62EE47-7F45-3EC8-B42D-1419EFE81C8C}"/>
                  </a:ext>
                </a:extLst>
              </p:cNvPr>
              <p:cNvSpPr/>
              <p:nvPr/>
            </p:nvSpPr>
            <p:spPr>
              <a:xfrm>
                <a:off x="6095999" y="2077376"/>
                <a:ext cx="185351" cy="381740"/>
              </a:xfrm>
              <a:prstGeom prst="rightBracket">
                <a:avLst>
                  <a:gd name="adj" fmla="val 0"/>
                </a:avLst>
              </a:prstGeom>
              <a:ln w="19050">
                <a:solidFill>
                  <a:schemeClr val="tx1"/>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GB"/>
              </a:p>
            </p:txBody>
          </p:sp>
          <p:sp>
            <p:nvSpPr>
              <p:cNvPr id="34" name="Right Bracket 33">
                <a:extLst>
                  <a:ext uri="{FF2B5EF4-FFF2-40B4-BE49-F238E27FC236}">
                    <a16:creationId xmlns:a16="http://schemas.microsoft.com/office/drawing/2014/main" id="{1C5232BB-FDE7-D643-10F1-09B5E371F954}"/>
                  </a:ext>
                </a:extLst>
              </p:cNvPr>
              <p:cNvSpPr/>
              <p:nvPr/>
            </p:nvSpPr>
            <p:spPr>
              <a:xfrm rot="10800000">
                <a:off x="6284738" y="2080073"/>
                <a:ext cx="185351" cy="379043"/>
              </a:xfrm>
              <a:prstGeom prst="rightBracket">
                <a:avLst>
                  <a:gd name="adj" fmla="val 0"/>
                </a:avLst>
              </a:prstGeom>
              <a:ln w="19050">
                <a:solidFill>
                  <a:schemeClr val="tx1"/>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GB"/>
              </a:p>
            </p:txBody>
          </p:sp>
          <p:sp>
            <p:nvSpPr>
              <p:cNvPr id="36" name="Oval 35">
                <a:extLst>
                  <a:ext uri="{FF2B5EF4-FFF2-40B4-BE49-F238E27FC236}">
                    <a16:creationId xmlns:a16="http://schemas.microsoft.com/office/drawing/2014/main" id="{31795246-690C-9A0D-3D91-0B96497CF1B2}"/>
                  </a:ext>
                </a:extLst>
              </p:cNvPr>
              <p:cNvSpPr/>
              <p:nvPr/>
            </p:nvSpPr>
            <p:spPr>
              <a:xfrm>
                <a:off x="6190735" y="2187146"/>
                <a:ext cx="185351" cy="185351"/>
              </a:xfrm>
              <a:prstGeom prst="ellipse">
                <a:avLst/>
              </a:prstGeom>
              <a:solidFill>
                <a:schemeClr val="accent6"/>
              </a:solidFill>
              <a:ln w="190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22" name="Group 21">
              <a:extLst>
                <a:ext uri="{FF2B5EF4-FFF2-40B4-BE49-F238E27FC236}">
                  <a16:creationId xmlns:a16="http://schemas.microsoft.com/office/drawing/2014/main" id="{4809FC17-BEBC-32B6-A3FD-E0B65FEC87CA}"/>
                </a:ext>
              </a:extLst>
            </p:cNvPr>
            <p:cNvGrpSpPr/>
            <p:nvPr/>
          </p:nvGrpSpPr>
          <p:grpSpPr>
            <a:xfrm>
              <a:off x="5133970" y="3575986"/>
              <a:ext cx="259711" cy="265022"/>
              <a:chOff x="6095999" y="2077376"/>
              <a:chExt cx="374090" cy="381740"/>
            </a:xfrm>
          </p:grpSpPr>
          <p:sp>
            <p:nvSpPr>
              <p:cNvPr id="30" name="Right Bracket 29">
                <a:extLst>
                  <a:ext uri="{FF2B5EF4-FFF2-40B4-BE49-F238E27FC236}">
                    <a16:creationId xmlns:a16="http://schemas.microsoft.com/office/drawing/2014/main" id="{FA70418E-6315-80B1-9B76-9BA3CC2ACBAE}"/>
                  </a:ext>
                </a:extLst>
              </p:cNvPr>
              <p:cNvSpPr/>
              <p:nvPr/>
            </p:nvSpPr>
            <p:spPr>
              <a:xfrm>
                <a:off x="6095999" y="2077376"/>
                <a:ext cx="185351" cy="381740"/>
              </a:xfrm>
              <a:prstGeom prst="rightBracket">
                <a:avLst>
                  <a:gd name="adj" fmla="val 0"/>
                </a:avLst>
              </a:prstGeom>
              <a:ln w="19050">
                <a:solidFill>
                  <a:schemeClr val="tx1"/>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GB"/>
              </a:p>
            </p:txBody>
          </p:sp>
          <p:sp>
            <p:nvSpPr>
              <p:cNvPr id="31" name="Right Bracket 30">
                <a:extLst>
                  <a:ext uri="{FF2B5EF4-FFF2-40B4-BE49-F238E27FC236}">
                    <a16:creationId xmlns:a16="http://schemas.microsoft.com/office/drawing/2014/main" id="{25C7FF5B-3897-EE57-EBDA-E00F5B25A087}"/>
                  </a:ext>
                </a:extLst>
              </p:cNvPr>
              <p:cNvSpPr/>
              <p:nvPr/>
            </p:nvSpPr>
            <p:spPr>
              <a:xfrm rot="10800000">
                <a:off x="6284738" y="2080073"/>
                <a:ext cx="185351" cy="379043"/>
              </a:xfrm>
              <a:prstGeom prst="rightBracket">
                <a:avLst>
                  <a:gd name="adj" fmla="val 0"/>
                </a:avLst>
              </a:prstGeom>
              <a:ln w="19050">
                <a:solidFill>
                  <a:schemeClr val="tx1"/>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GB"/>
              </a:p>
            </p:txBody>
          </p:sp>
          <p:sp>
            <p:nvSpPr>
              <p:cNvPr id="32" name="Oval 31">
                <a:extLst>
                  <a:ext uri="{FF2B5EF4-FFF2-40B4-BE49-F238E27FC236}">
                    <a16:creationId xmlns:a16="http://schemas.microsoft.com/office/drawing/2014/main" id="{D6DC9890-D797-939A-7B7F-862D6F85C68E}"/>
                  </a:ext>
                </a:extLst>
              </p:cNvPr>
              <p:cNvSpPr/>
              <p:nvPr/>
            </p:nvSpPr>
            <p:spPr>
              <a:xfrm>
                <a:off x="6190735" y="2187146"/>
                <a:ext cx="185351" cy="185351"/>
              </a:xfrm>
              <a:prstGeom prst="ellipse">
                <a:avLst/>
              </a:prstGeom>
              <a:solidFill>
                <a:schemeClr val="accent6"/>
              </a:solidFill>
              <a:ln w="190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pic>
          <p:nvPicPr>
            <p:cNvPr id="23" name="Picture 22">
              <a:extLst>
                <a:ext uri="{FF2B5EF4-FFF2-40B4-BE49-F238E27FC236}">
                  <a16:creationId xmlns:a16="http://schemas.microsoft.com/office/drawing/2014/main" id="{FD2900E8-7D1C-CB68-E576-28F289E8C6BC}"/>
                </a:ext>
              </a:extLst>
            </p:cNvPr>
            <p:cNvPicPr>
              <a:picLocks noChangeAspect="1"/>
            </p:cNvPicPr>
            <p:nvPr/>
          </p:nvPicPr>
          <p:blipFill>
            <a:blip r:embed="rId5"/>
            <a:stretch>
              <a:fillRect/>
            </a:stretch>
          </p:blipFill>
          <p:spPr>
            <a:xfrm>
              <a:off x="5601359" y="3606706"/>
              <a:ext cx="800975" cy="208384"/>
            </a:xfrm>
            <a:prstGeom prst="rect">
              <a:avLst/>
            </a:prstGeom>
          </p:spPr>
        </p:pic>
        <p:pic>
          <p:nvPicPr>
            <p:cNvPr id="29" name="Picture 28">
              <a:extLst>
                <a:ext uri="{FF2B5EF4-FFF2-40B4-BE49-F238E27FC236}">
                  <a16:creationId xmlns:a16="http://schemas.microsoft.com/office/drawing/2014/main" id="{C3C889B7-0857-37F6-6AA7-55C9EF7F10D7}"/>
                </a:ext>
              </a:extLst>
            </p:cNvPr>
            <p:cNvPicPr>
              <a:picLocks noChangeAspect="1"/>
            </p:cNvPicPr>
            <p:nvPr/>
          </p:nvPicPr>
          <p:blipFill>
            <a:blip r:embed="rId6"/>
            <a:stretch>
              <a:fillRect/>
            </a:stretch>
          </p:blipFill>
          <p:spPr>
            <a:xfrm>
              <a:off x="5912282" y="2935785"/>
              <a:ext cx="815116" cy="212062"/>
            </a:xfrm>
            <a:prstGeom prst="rect">
              <a:avLst/>
            </a:prstGeom>
          </p:spPr>
        </p:pic>
      </p:grpSp>
      <p:pic>
        <p:nvPicPr>
          <p:cNvPr id="38" name="Picture 37">
            <a:extLst>
              <a:ext uri="{FF2B5EF4-FFF2-40B4-BE49-F238E27FC236}">
                <a16:creationId xmlns:a16="http://schemas.microsoft.com/office/drawing/2014/main" id="{84267EC0-9C5E-2A1B-92D9-447DD83F73E8}"/>
              </a:ext>
            </a:extLst>
          </p:cNvPr>
          <p:cNvPicPr>
            <a:picLocks noChangeAspect="1"/>
          </p:cNvPicPr>
          <p:nvPr/>
        </p:nvPicPr>
        <p:blipFill>
          <a:blip r:embed="rId7"/>
          <a:stretch>
            <a:fillRect/>
          </a:stretch>
        </p:blipFill>
        <p:spPr>
          <a:xfrm>
            <a:off x="833345" y="5316093"/>
            <a:ext cx="2085450" cy="326349"/>
          </a:xfrm>
          <a:prstGeom prst="rect">
            <a:avLst/>
          </a:prstGeom>
        </p:spPr>
      </p:pic>
      <p:sp>
        <p:nvSpPr>
          <p:cNvPr id="39" name="TextBox 38">
            <a:extLst>
              <a:ext uri="{FF2B5EF4-FFF2-40B4-BE49-F238E27FC236}">
                <a16:creationId xmlns:a16="http://schemas.microsoft.com/office/drawing/2014/main" id="{8B7DFDBD-6AE8-40A4-ECB1-9CFD964C4E46}"/>
              </a:ext>
            </a:extLst>
          </p:cNvPr>
          <p:cNvSpPr txBox="1"/>
          <p:nvPr/>
        </p:nvSpPr>
        <p:spPr>
          <a:xfrm>
            <a:off x="627808" y="3331731"/>
            <a:ext cx="3201047" cy="307777"/>
          </a:xfrm>
          <a:prstGeom prst="rect">
            <a:avLst/>
          </a:prstGeom>
          <a:noFill/>
        </p:spPr>
        <p:txBody>
          <a:bodyPr wrap="square">
            <a:spAutoFit/>
          </a:bodyPr>
          <a:lstStyle/>
          <a:p>
            <a:r>
              <a:rPr lang="en-GB" sz="1400" b="1" dirty="0">
                <a:solidFill>
                  <a:srgbClr val="000000"/>
                </a:solidFill>
                <a:latin typeface="Arial" panose="020B0604020202020204" pitchFamily="34" charset="0"/>
                <a:cs typeface="Arial" panose="020B0604020202020204" pitchFamily="34" charset="0"/>
              </a:rPr>
              <a:t>Fisher Ratio of the Spectral Angle</a:t>
            </a:r>
            <a:endParaRPr lang="en-GB" sz="1400" b="1" dirty="0"/>
          </a:p>
        </p:txBody>
      </p:sp>
      <p:pic>
        <p:nvPicPr>
          <p:cNvPr id="40" name="Picture 39">
            <a:extLst>
              <a:ext uri="{FF2B5EF4-FFF2-40B4-BE49-F238E27FC236}">
                <a16:creationId xmlns:a16="http://schemas.microsoft.com/office/drawing/2014/main" id="{D19896D0-A2EE-1C60-4B06-1E85ED32AD50}"/>
              </a:ext>
            </a:extLst>
          </p:cNvPr>
          <p:cNvPicPr>
            <a:picLocks noChangeAspect="1"/>
          </p:cNvPicPr>
          <p:nvPr/>
        </p:nvPicPr>
        <p:blipFill>
          <a:blip r:embed="rId8"/>
          <a:stretch>
            <a:fillRect/>
          </a:stretch>
        </p:blipFill>
        <p:spPr>
          <a:xfrm>
            <a:off x="1466984" y="5747211"/>
            <a:ext cx="963613" cy="214136"/>
          </a:xfrm>
          <a:prstGeom prst="rect">
            <a:avLst/>
          </a:prstGeom>
        </p:spPr>
      </p:pic>
    </p:spTree>
    <p:extLst>
      <p:ext uri="{BB962C8B-B14F-4D97-AF65-F5344CB8AC3E}">
        <p14:creationId xmlns:p14="http://schemas.microsoft.com/office/powerpoint/2010/main" val="251889111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638</TotalTime>
  <Words>1169</Words>
  <Application>Microsoft Macintosh PowerPoint</Application>
  <PresentationFormat>Widescreen</PresentationFormat>
  <Paragraphs>118</Paragraphs>
  <Slides>10</Slides>
  <Notes>7</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10</vt:i4>
      </vt:variant>
    </vt:vector>
  </HeadingPairs>
  <TitlesOfParts>
    <vt:vector size="14" baseType="lpstr">
      <vt:lpstr>Aptos</vt:lpstr>
      <vt:lpstr>Aptos Display</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Roger Stabbins</dc:creator>
  <cp:lastModifiedBy>Roger Stabbins</cp:lastModifiedBy>
  <cp:revision>13</cp:revision>
  <dcterms:created xsi:type="dcterms:W3CDTF">2025-09-01T14:53:04Z</dcterms:created>
  <dcterms:modified xsi:type="dcterms:W3CDTF">2025-09-02T18:40:18Z</dcterms:modified>
</cp:coreProperties>
</file>